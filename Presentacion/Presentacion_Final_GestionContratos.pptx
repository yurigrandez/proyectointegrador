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icio" id="{D4AE1DC2-4E95-20E4-D1CB-A0EC864D8E02}">
          <p14:sldIdLst>
            <p14:sldId id="256"/>
          </p14:sldIdLst>
        </p14:section>
        <p14:section name="Problema y solución" id="{2832DC17-AFC0-B549-04FB-9636024762F5}">
          <p14:sldIdLst>
            <p14:sldId id="257"/>
            <p14:sldId id="258"/>
          </p14:sldIdLst>
        </p14:section>
        <p14:section name="Especificación y arquitectura" id="{2514305B-B788-BD30-8274-8C61C792C3E1}">
          <p14:sldIdLst>
            <p14:sldId id="259"/>
            <p14:sldId id="260"/>
            <p14:sldId id="261"/>
          </p14:sldIdLst>
        </p14:section>
        <p14:section name="IA y pruebas" id="{758526C8-5950-E97A-BD18-2963B5CAF11B}">
          <p14:sldIdLst>
            <p14:sldId id="262"/>
            <p14:sldId id="263"/>
            <p14:sldId id="264"/>
          </p14:sldIdLst>
        </p14:section>
        <p14:section name="Demostración y cierre" id="{60CB5358-9BEA-12E9-370B-BB666115955C}">
          <p14:sldIdLst>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9" d="100"/>
          <a:sy n="109" d="100"/>
        </p:scale>
        <p:origin x="706"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184525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Yuri Grandez y voy a presentar GestionContratos, el sistema que desarrollé para la empresa familiar DA Soluciones e Inversiones como proyecto integrador del curso de Galaxy Training. El profesor es Manuel Moyano. En los próximos minutos contaré qué problema resuelve, cómo lo especifiqué y construí, cómo usé la inteligencia artificial y cómo se ve funcionando.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dueño de los locales tiene tres preguntas de todos los días: qué locales están ocupados, cuánto le deben y qué contratos vencen pronto. Responderlas sin un sistema obliga a revisar papeles y hojas sueltas. La propuesta de valor es contestar las tres en una sola pantalla.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flujo es sencillo. Un operador registra el contrato como borrador. Un administrador distinto lo autoriza, y esa doble revisión es una regla del negocio. Al autorizarlo, el sistema calcula las cuotas mensuales. Luego se registran los pagos, aunque sean parciales, y el panel muestra en todo momento quién debe y qué vence.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programar escribí qué debía hacer el sistema. Son 22 requisitos funcionales, 15 reglas del negocio y 8 condiciones de calidad. Cada una tiene un código y un criterio para saber si se cumple. Así evité programar a partir de pedidos sueltos, que es lo que el curso llama vibe coding. Además, una tabla de trazabilidad une cada requisito con la parte del sistema que lo cumple y la prueba automática que lo comprueba; por ejemplo, la regla de que quien autoriza un contrato debe ser otra persona tiene su prueba.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Usamos una arquitectura en capas, como los pisos de un edificio. Arriba están las pantallas; luego la puerta de entrada, que recibe los pedidos; después las reglas del negocio; el acceso a los datos; y abajo la base de datos. La elegimos porque cada parte tiene una sola tarea y porque el curso pide separar responsabilidades. Los beneficios: se puede probar cada capa por separado, un cambio en una parte no rompe las demás, y el sistema está listo para crecer; por ejemplo, la facturación electrónica ya tiene un proyecto reservado donde conectarse sin tocar el resto.</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Además de las capas, tomamos cuatro decisiones importantes. Primero, la base de datos: es la fuente de verdad y el código se generó a partir de ella. Segundo, las claves y contraseñas nunca se suben al repositorio. Tercero, nada se borra de verdad: los registros se desactivan para conservar el historial. Y cuarto, la web y el sistema se instalan juntos como un solo sitio en IIS.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Usé Claude Code como asistente. Yo definí el problema, las reglas y las restricciones; la IA propuso la arquitectura y escribió el código, las pruebas y la documentación; y todo se verificó con pruebas automáticas y manuales. La participación de la IA es visible: los 15 commits la indican como coautora y los prompts están guardados en el repositorio.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solo los aciertos no sería honesto. En el historial del proyecto hay siete fallos documentados. El más importante: el botón de anular pago recargaba la página, algo que las pruebas automáticas no detectaron y que solo apareció al probar en un IIS real. Revisar lo que genera la IA es parte del trabajo y la responsabilidad final es de quien desarrolla.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 el programa compile no significa que funcione. Por eso hay 176 pruebas del servidor y 154 de las pantallas. Incluyen casos difíciles, como cinco pagos simultáneos sobre la misma cuota, donde solo uno debe aceptarse. Los resultados del panel se compararon con las consultas de la base de datos y todo se probó también en un IIS real, donde encontramos fallos que las pruebas automáticas no veían.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pasamos al sistema funcionando. Siguiendo este guion: entro como operador, creo un cliente y registro un contrato; luego entro como administrador y lo autorizo; vemos las cuotas que se generaron; registro un pago y vuelvo al panel para ver cómo cambian los indicadores.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aprendí: especificar primero evita correcciones, probar en un entorno real revela fallos que no se ven en las pruebas automáticas, la IA acelera pero todo se debe revisar, y lo que no está documentado es como si no existiera. Lo que sigue: facturación electrónica, adendas, garantías, pagos que cubran varias cuotas, avisos por correo y reportes exportables. Dejé el alcance acotado a propósito: es mejor un módulo bien hecho que muchos incompletos.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cerrar: se construyó un sistema completo que responde las preguntas del negocio; especificar primero permitió seguir cada regla hasta su prueba; la IA aceleró el trabajo pero las decisiones y la responsabilidad fueron mías; y más de 300 pruebas junto con la instalación en IIS respaldan que funciona. La IA no reemplaza al desarrollador, lo ayuda a construir mejor y más rápido. Muchas gracias.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2"/>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ARO">
    <p:bg>
      <p:bgPr>
        <a:solidFill>
          <a:schemeClr val="bg1"/>
        </a:solidFill>
        <a:effectLst/>
      </p:bgPr>
    </p:bg>
    <p:spTree>
      <p:nvGrpSpPr>
        <p:cNvPr id="1" name=""/>
        <p:cNvGrpSpPr/>
        <p:nvPr/>
      </p:nvGrpSpPr>
      <p:grpSpPr>
        <a:xfrm>
          <a:off x="0" y="0"/>
          <a:ext cx="0" cy="0"/>
          <a:chOff x="0" y="0"/>
          <a:chExt cx="0" cy="0"/>
        </a:xfrm>
      </p:grpSpPr>
      <p:pic>
        <p:nvPicPr>
          <p:cNvPr id="2" name="Image 0" descr="C:\Users\yurig\AppData\Local\Temp\claude\D--Proyectos-GalaxyTraining-AgenticSoftwareDevelopmentWithNet-ProyectoIntegrador\d77d0b62-8352-4ef1-b3c9-7a768d7a68eb\scratchpad\logo_corto.png"/>
          <p:cNvPicPr>
            <a:picLocks noChangeAspect="1"/>
          </p:cNvPicPr>
          <p:nvPr/>
        </p:nvPicPr>
        <p:blipFill>
          <a:blip r:embed="rId2"/>
          <a:stretch>
            <a:fillRect/>
          </a:stretch>
        </p:blipFill>
        <p:spPr>
          <a:xfrm>
            <a:off x="8183880" y="256032"/>
            <a:ext cx="512064" cy="493776"/>
          </a:xfrm>
          <a:prstGeom prst="rect">
            <a:avLst/>
          </a:prstGeom>
        </p:spPr>
      </p:pic>
      <p:sp>
        <p:nvSpPr>
          <p:cNvPr id="3" name="Text 0"/>
          <p:cNvSpPr txBox="1"/>
          <p:nvPr/>
        </p:nvSpPr>
        <p:spPr>
          <a:xfrm>
            <a:off x="457200" y="4754880"/>
            <a:ext cx="4572000" cy="228600"/>
          </a:xfrm>
          <a:prstGeom prst="rect">
            <a:avLst/>
          </a:prstGeom>
          <a:noFill/>
          <a:ln/>
        </p:spPr>
        <p:txBody>
          <a:bodyPr wrap="square" lIns="0" tIns="0" rIns="0" bIns="0" rtlCol="0" anchor="ctr"/>
          <a:lstStyle/>
          <a:p>
            <a:pPr marL="0" indent="0">
              <a:buNone/>
            </a:pPr>
            <a:r>
              <a:rPr lang="en-US" sz="1000" dirty="0">
                <a:solidFill>
                  <a:schemeClr val="tx2"/>
                </a:solidFill>
              </a:rPr>
              <a:t>GestionContratos · Galaxy Training</a:t>
            </a:r>
            <a:endParaRPr lang="en-US" sz="1000" dirty="0"/>
          </a:p>
        </p:txBody>
      </p:sp>
      <p:sp>
        <p:nvSpPr>
          <p:cNvPr id="4" name="Text 1"/>
          <p:cNvSpPr>
            <a:spLocks noGrp="1"/>
          </p:cNvSpPr>
          <p:nvPr>
            <p:ph type="title" idx="102" hasCustomPrompt="1"/>
          </p:nvPr>
        </p:nvSpPr>
        <p:spPr>
          <a:xfrm>
            <a:off x="457200" y="274320"/>
            <a:ext cx="7589520" cy="731520"/>
          </a:xfrm>
          <a:prstGeom prst="rect">
            <a:avLst/>
          </a:prstGeom>
          <a:noFill/>
          <a:ln/>
        </p:spPr>
        <p:txBody>
          <a:bodyPr wrap="square" rtlCol="0"/>
          <a:lstStyle>
            <a:lvl1pPr marL="0" indent="0" algn="l">
              <a:buNone/>
              <a:defRPr lang="en-US" sz="3000" b="1" dirty="0">
                <a:solidFill>
                  <a:schemeClr val="tx2"/>
                </a:solidFill>
                <a:latin typeface="Cambria" pitchFamily="34" charset="0"/>
                <a:ea typeface="Cambria" pitchFamily="34" charset="-122"/>
                <a:cs typeface="Cambria" pitchFamily="34" charset="-120"/>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‹Nº›</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SCURO">
    <p:bg>
      <p:bgPr>
        <a:solidFill>
          <a:schemeClr val="tx2"/>
        </a:solidFill>
        <a:effectLst/>
      </p:bgPr>
    </p:bg>
    <p:spTree>
      <p:nvGrpSpPr>
        <p:cNvPr id="1" name=""/>
        <p:cNvGrpSpPr/>
        <p:nvPr/>
      </p:nvGrpSpPr>
      <p:grpSpPr>
        <a:xfrm>
          <a:off x="0" y="0"/>
          <a:ext cx="0" cy="0"/>
          <a:chOff x="0" y="0"/>
          <a:chExt cx="0" cy="0"/>
        </a:xfrm>
      </p:grpSpPr>
      <p:sp>
        <p:nvSpPr>
          <p:cNvPr id="2" name="Text 0"/>
          <p:cNvSpPr txBox="1"/>
          <p:nvPr/>
        </p:nvSpPr>
        <p:spPr>
          <a:xfrm>
            <a:off x="457200" y="4754880"/>
            <a:ext cx="4572000" cy="228600"/>
          </a:xfrm>
          <a:prstGeom prst="rect">
            <a:avLst/>
          </a:prstGeom>
          <a:noFill/>
          <a:ln/>
        </p:spPr>
        <p:txBody>
          <a:bodyPr wrap="square" lIns="0" tIns="0" rIns="0" bIns="0" rtlCol="0" anchor="ctr"/>
          <a:lstStyle/>
          <a:p>
            <a:pPr marL="0" indent="0">
              <a:buNone/>
            </a:pPr>
            <a:r>
              <a:rPr lang="en-US" sz="1000" dirty="0">
                <a:solidFill>
                  <a:schemeClr val="accent6"/>
                </a:solidFill>
              </a:rPr>
              <a:t>GestionContratos · Galaxy Training</a:t>
            </a:r>
            <a:endParaRPr lang="en-US" sz="1000" dirty="0"/>
          </a:p>
        </p:txBody>
      </p:sp>
      <p:sp>
        <p:nvSpPr>
          <p:cNvPr id="3" name="Text 1"/>
          <p:cNvSpPr>
            <a:spLocks noGrp="1"/>
          </p:cNvSpPr>
          <p:nvPr>
            <p:ph type="title" idx="101" hasCustomPrompt="1"/>
          </p:nvPr>
        </p:nvSpPr>
        <p:spPr>
          <a:xfrm>
            <a:off x="457200" y="274320"/>
            <a:ext cx="8229600" cy="731520"/>
          </a:xfrm>
          <a:prstGeom prst="rect">
            <a:avLst/>
          </a:prstGeom>
          <a:noFill/>
          <a:ln/>
        </p:spPr>
        <p:txBody>
          <a:bodyPr wrap="square" rtlCol="0"/>
          <a:lstStyle>
            <a:lvl1pPr marL="0" indent="0" algn="l">
              <a:buNone/>
              <a:defRPr lang="en-US" sz="3000" b="1" dirty="0">
                <a:solidFill>
                  <a:schemeClr val="bg1"/>
                </a:solidFill>
                <a:latin typeface="Cambria" pitchFamily="34" charset="0"/>
                <a:ea typeface="Cambria" pitchFamily="34" charset="-122"/>
                <a:cs typeface="Cambria" pitchFamily="34" charset="-120"/>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image" Target="../media/image17.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3.xml"/><Relationship Id="rId5" Type="http://schemas.openxmlformats.org/officeDocument/2006/relationships/image" Target="../media/image14.png"/><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Institución"/>
          <p:cNvSpPr txBox="1"/>
          <p:nvPr/>
        </p:nvSpPr>
        <p:spPr>
          <a:xfrm>
            <a:off x="457200" y="411480"/>
            <a:ext cx="5486400" cy="320040"/>
          </a:xfrm>
          <a:prstGeom prst="rect">
            <a:avLst/>
          </a:prstGeom>
          <a:noFill/>
          <a:ln/>
        </p:spPr>
        <p:txBody>
          <a:bodyPr wrap="square" lIns="0" tIns="0" rIns="0" bIns="0" rtlCol="0" anchor="ctr"/>
          <a:lstStyle/>
          <a:p>
            <a:pPr marL="0" indent="0">
              <a:buNone/>
            </a:pPr>
            <a:r>
              <a:rPr lang="en-US" sz="1800" b="1" kern="0" spc="400" dirty="0">
                <a:solidFill>
                  <a:schemeClr val="accent5"/>
                </a:solidFill>
                <a:latin typeface="Calibri" pitchFamily="34" charset="0"/>
                <a:ea typeface="Calibri" pitchFamily="34" charset="-122"/>
                <a:cs typeface="Calibri" pitchFamily="34" charset="-120"/>
              </a:rPr>
              <a:t>GALAXY TRAINING</a:t>
            </a:r>
            <a:endParaRPr lang="en-US" sz="1800" dirty="0"/>
          </a:p>
        </p:txBody>
      </p:sp>
      <p:sp>
        <p:nvSpPr>
          <p:cNvPr id="3" name="Curso"/>
          <p:cNvSpPr txBox="1"/>
          <p:nvPr/>
        </p:nvSpPr>
        <p:spPr>
          <a:xfrm>
            <a:off x="457200" y="777240"/>
            <a:ext cx="5669280" cy="274320"/>
          </a:xfrm>
          <a:prstGeom prst="rect">
            <a:avLst/>
          </a:prstGeom>
          <a:noFill/>
          <a:ln/>
        </p:spPr>
        <p:txBody>
          <a:bodyPr wrap="square" lIns="0" tIns="0" rIns="0" bIns="0" rtlCol="0" anchor="ctr"/>
          <a:lstStyle/>
          <a:p>
            <a:pPr marL="0" indent="0">
              <a:buNone/>
            </a:pPr>
            <a:r>
              <a:rPr lang="en-US" sz="1200" dirty="0">
                <a:solidFill>
                  <a:schemeClr val="accent6"/>
                </a:solidFill>
                <a:latin typeface="Calibri" pitchFamily="34" charset="0"/>
                <a:ea typeface="Calibri" pitchFamily="34" charset="-122"/>
                <a:cs typeface="Calibri" pitchFamily="34" charset="-120"/>
              </a:rPr>
              <a:t>Curso Agentic Software Development · .NET 10 · Proyecto Integrador</a:t>
            </a:r>
            <a:endParaRPr lang="en-US" sz="1200" dirty="0"/>
          </a:p>
        </p:txBody>
      </p:sp>
      <p:sp>
        <p:nvSpPr>
          <p:cNvPr id="4" name="Título"/>
          <p:cNvSpPr txBox="1"/>
          <p:nvPr/>
        </p:nvSpPr>
        <p:spPr>
          <a:xfrm>
            <a:off x="457200" y="1371600"/>
            <a:ext cx="5669280" cy="822960"/>
          </a:xfrm>
          <a:prstGeom prst="rect">
            <a:avLst/>
          </a:prstGeom>
          <a:noFill/>
          <a:ln/>
        </p:spPr>
        <p:txBody>
          <a:bodyPr wrap="square" lIns="0" tIns="0" rIns="0" bIns="0" rtlCol="0" anchor="ctr"/>
          <a:lstStyle/>
          <a:p>
            <a:pPr marL="0" indent="0">
              <a:buNone/>
            </a:pPr>
            <a:r>
              <a:rPr lang="en-US" sz="4400" b="1" dirty="0">
                <a:solidFill>
                  <a:schemeClr val="bg1"/>
                </a:solidFill>
                <a:latin typeface="Cambria" pitchFamily="34" charset="0"/>
                <a:ea typeface="Cambria" pitchFamily="34" charset="-122"/>
                <a:cs typeface="Cambria" pitchFamily="34" charset="-120"/>
              </a:rPr>
              <a:t>GestionContratos</a:t>
            </a:r>
            <a:endParaRPr lang="en-US" sz="4400" dirty="0"/>
          </a:p>
        </p:txBody>
      </p:sp>
      <p:sp>
        <p:nvSpPr>
          <p:cNvPr id="5" name="Subtítulo"/>
          <p:cNvSpPr txBox="1"/>
          <p:nvPr/>
        </p:nvSpPr>
        <p:spPr>
          <a:xfrm>
            <a:off x="457200" y="2240280"/>
            <a:ext cx="5486400" cy="640080"/>
          </a:xfrm>
          <a:prstGeom prst="rect">
            <a:avLst/>
          </a:prstGeom>
          <a:noFill/>
          <a:ln/>
        </p:spPr>
        <p:txBody>
          <a:bodyPr wrap="square" lIns="0" tIns="0" rIns="0" bIns="0" rtlCol="0" anchor="ctr"/>
          <a:lstStyle/>
          <a:p>
            <a:pPr marL="0" indent="0">
              <a:buNone/>
            </a:pPr>
            <a:r>
              <a:rPr lang="en-US" sz="1600" dirty="0">
                <a:solidFill>
                  <a:schemeClr val="accent6"/>
                </a:solidFill>
                <a:latin typeface="Calibri" pitchFamily="34" charset="0"/>
                <a:ea typeface="Calibri" pitchFamily="34" charset="-122"/>
                <a:cs typeface="Calibri" pitchFamily="34" charset="-120"/>
              </a:rPr>
              <a:t>Control de alquileres de locales comerciales: contratos, cobros y deudas en un solo lugar</a:t>
            </a:r>
            <a:endParaRPr lang="en-US" sz="1600" dirty="0"/>
          </a:p>
        </p:txBody>
      </p:sp>
      <p:sp>
        <p:nvSpPr>
          <p:cNvPr id="6" name="Etiqueta Empresa"/>
          <p:cNvSpPr txBox="1"/>
          <p:nvPr/>
        </p:nvSpPr>
        <p:spPr>
          <a:xfrm>
            <a:off x="457200" y="3200400"/>
            <a:ext cx="1188720" cy="329184"/>
          </a:xfrm>
          <a:prstGeom prst="rect">
            <a:avLst/>
          </a:prstGeom>
          <a:noFill/>
          <a:ln/>
        </p:spPr>
        <p:txBody>
          <a:bodyPr wrap="square" lIns="0" tIns="0" rIns="0" bIns="0" rtlCol="0" anchor="ctr"/>
          <a:lstStyle/>
          <a:p>
            <a:pPr marL="0" indent="0">
              <a:buNone/>
            </a:pPr>
            <a:r>
              <a:rPr lang="en-US" sz="1200" b="1" dirty="0">
                <a:solidFill>
                  <a:schemeClr val="accent5"/>
                </a:solidFill>
                <a:latin typeface="Calibri" pitchFamily="34" charset="0"/>
                <a:ea typeface="Calibri" pitchFamily="34" charset="-122"/>
                <a:cs typeface="Calibri" pitchFamily="34" charset="-120"/>
              </a:rPr>
              <a:t>Empresa</a:t>
            </a:r>
            <a:endParaRPr lang="en-US" sz="1200" dirty="0"/>
          </a:p>
        </p:txBody>
      </p:sp>
      <p:sp>
        <p:nvSpPr>
          <p:cNvPr id="7" name="Valor Empresa"/>
          <p:cNvSpPr txBox="1"/>
          <p:nvPr/>
        </p:nvSpPr>
        <p:spPr>
          <a:xfrm>
            <a:off x="1691640" y="3200400"/>
            <a:ext cx="4389120" cy="329184"/>
          </a:xfrm>
          <a:prstGeom prst="rect">
            <a:avLst/>
          </a:prstGeom>
          <a:noFill/>
          <a:ln/>
        </p:spPr>
        <p:txBody>
          <a:bodyPr wrap="square" lIns="0" tIns="0" rIns="0" bIns="0" rtlCol="0" anchor="ctr"/>
          <a:lstStyle/>
          <a:p>
            <a:pPr marL="0" indent="0">
              <a:buNone/>
            </a:pPr>
            <a:r>
              <a:rPr lang="en-US" sz="1600" b="1" dirty="0">
                <a:solidFill>
                  <a:schemeClr val="bg1"/>
                </a:solidFill>
                <a:latin typeface="Calibri" pitchFamily="34" charset="0"/>
                <a:ea typeface="Calibri" pitchFamily="34" charset="-122"/>
                <a:cs typeface="Calibri" pitchFamily="34" charset="-120"/>
              </a:rPr>
              <a:t>DA Soluciones e Inversiones</a:t>
            </a:r>
            <a:endParaRPr lang="en-US" sz="1600" dirty="0"/>
          </a:p>
        </p:txBody>
      </p:sp>
      <p:sp>
        <p:nvSpPr>
          <p:cNvPr id="8" name="Etiqueta Autor"/>
          <p:cNvSpPr txBox="1"/>
          <p:nvPr/>
        </p:nvSpPr>
        <p:spPr>
          <a:xfrm>
            <a:off x="457200" y="3621024"/>
            <a:ext cx="1188720" cy="329184"/>
          </a:xfrm>
          <a:prstGeom prst="rect">
            <a:avLst/>
          </a:prstGeom>
          <a:noFill/>
          <a:ln/>
        </p:spPr>
        <p:txBody>
          <a:bodyPr wrap="square" lIns="0" tIns="0" rIns="0" bIns="0" rtlCol="0" anchor="ctr"/>
          <a:lstStyle/>
          <a:p>
            <a:pPr marL="0" indent="0">
              <a:buNone/>
            </a:pPr>
            <a:r>
              <a:rPr lang="en-US" sz="1200" b="1" dirty="0">
                <a:solidFill>
                  <a:schemeClr val="accent5"/>
                </a:solidFill>
                <a:latin typeface="Calibri" pitchFamily="34" charset="0"/>
                <a:ea typeface="Calibri" pitchFamily="34" charset="-122"/>
                <a:cs typeface="Calibri" pitchFamily="34" charset="-120"/>
              </a:rPr>
              <a:t>Autor</a:t>
            </a:r>
            <a:endParaRPr lang="en-US" sz="1200" dirty="0"/>
          </a:p>
        </p:txBody>
      </p:sp>
      <p:sp>
        <p:nvSpPr>
          <p:cNvPr id="9" name="Valor Autor"/>
          <p:cNvSpPr txBox="1"/>
          <p:nvPr/>
        </p:nvSpPr>
        <p:spPr>
          <a:xfrm>
            <a:off x="1691640" y="3621024"/>
            <a:ext cx="4389120" cy="329184"/>
          </a:xfrm>
          <a:prstGeom prst="rect">
            <a:avLst/>
          </a:prstGeom>
          <a:noFill/>
          <a:ln/>
        </p:spPr>
        <p:txBody>
          <a:bodyPr wrap="square" lIns="0" tIns="0" rIns="0" bIns="0" rtlCol="0" anchor="ctr"/>
          <a:lstStyle/>
          <a:p>
            <a:pPr marL="0" indent="0">
              <a:buNone/>
            </a:pPr>
            <a:r>
              <a:rPr lang="en-US" sz="1600" b="1" dirty="0">
                <a:solidFill>
                  <a:schemeClr val="bg1"/>
                </a:solidFill>
                <a:latin typeface="Calibri" pitchFamily="34" charset="0"/>
                <a:ea typeface="Calibri" pitchFamily="34" charset="-122"/>
                <a:cs typeface="Calibri" pitchFamily="34" charset="-120"/>
              </a:rPr>
              <a:t>Yuri Grandez Del Aguila</a:t>
            </a:r>
            <a:endParaRPr lang="en-US" sz="1600" dirty="0"/>
          </a:p>
        </p:txBody>
      </p:sp>
      <p:sp>
        <p:nvSpPr>
          <p:cNvPr id="10" name="Etiqueta Profesor"/>
          <p:cNvSpPr txBox="1"/>
          <p:nvPr/>
        </p:nvSpPr>
        <p:spPr>
          <a:xfrm>
            <a:off x="457200" y="4041648"/>
            <a:ext cx="1188720" cy="329184"/>
          </a:xfrm>
          <a:prstGeom prst="rect">
            <a:avLst/>
          </a:prstGeom>
          <a:noFill/>
          <a:ln/>
        </p:spPr>
        <p:txBody>
          <a:bodyPr wrap="square" lIns="0" tIns="0" rIns="0" bIns="0" rtlCol="0" anchor="ctr"/>
          <a:lstStyle/>
          <a:p>
            <a:pPr marL="0" indent="0">
              <a:buNone/>
            </a:pPr>
            <a:r>
              <a:rPr lang="en-US" sz="1200" b="1" dirty="0">
                <a:solidFill>
                  <a:schemeClr val="accent5"/>
                </a:solidFill>
                <a:latin typeface="Calibri" pitchFamily="34" charset="0"/>
                <a:ea typeface="Calibri" pitchFamily="34" charset="-122"/>
                <a:cs typeface="Calibri" pitchFamily="34" charset="-120"/>
              </a:rPr>
              <a:t>Profesor</a:t>
            </a:r>
            <a:endParaRPr lang="en-US" sz="1200" dirty="0"/>
          </a:p>
        </p:txBody>
      </p:sp>
      <p:sp>
        <p:nvSpPr>
          <p:cNvPr id="11" name="Valor Profesor"/>
          <p:cNvSpPr txBox="1"/>
          <p:nvPr/>
        </p:nvSpPr>
        <p:spPr>
          <a:xfrm>
            <a:off x="1691640" y="4041648"/>
            <a:ext cx="4389120" cy="329184"/>
          </a:xfrm>
          <a:prstGeom prst="rect">
            <a:avLst/>
          </a:prstGeom>
          <a:noFill/>
          <a:ln/>
        </p:spPr>
        <p:txBody>
          <a:bodyPr wrap="square" lIns="0" tIns="0" rIns="0" bIns="0" rtlCol="0" anchor="ctr"/>
          <a:lstStyle/>
          <a:p>
            <a:pPr marL="0" indent="0">
              <a:buNone/>
            </a:pPr>
            <a:r>
              <a:rPr lang="en-US" sz="1600" b="1" dirty="0">
                <a:solidFill>
                  <a:schemeClr val="bg1"/>
                </a:solidFill>
                <a:latin typeface="Calibri" pitchFamily="34" charset="0"/>
                <a:ea typeface="Calibri" pitchFamily="34" charset="-122"/>
                <a:cs typeface="Calibri" pitchFamily="34" charset="-120"/>
              </a:rPr>
              <a:t>Manuel Moyano</a:t>
            </a:r>
            <a:endParaRPr lang="en-US" sz="1600" dirty="0"/>
          </a:p>
        </p:txBody>
      </p:sp>
      <p:sp>
        <p:nvSpPr>
          <p:cNvPr id="12" name="Etiqueta Aplicación"/>
          <p:cNvSpPr txBox="1"/>
          <p:nvPr/>
        </p:nvSpPr>
        <p:spPr>
          <a:xfrm>
            <a:off x="457200" y="4462272"/>
            <a:ext cx="1188720" cy="329184"/>
          </a:xfrm>
          <a:prstGeom prst="rect">
            <a:avLst/>
          </a:prstGeom>
          <a:noFill/>
          <a:ln/>
        </p:spPr>
        <p:txBody>
          <a:bodyPr wrap="square" lIns="0" tIns="0" rIns="0" bIns="0" rtlCol="0" anchor="ctr"/>
          <a:lstStyle/>
          <a:p>
            <a:pPr marL="0" indent="0">
              <a:buNone/>
            </a:pPr>
            <a:r>
              <a:rPr lang="en-US" sz="1200" b="1" dirty="0">
                <a:solidFill>
                  <a:schemeClr val="accent5"/>
                </a:solidFill>
                <a:latin typeface="Calibri" pitchFamily="34" charset="0"/>
                <a:ea typeface="Calibri" pitchFamily="34" charset="-122"/>
                <a:cs typeface="Calibri" pitchFamily="34" charset="-120"/>
              </a:rPr>
              <a:t>Aplicación</a:t>
            </a:r>
            <a:endParaRPr lang="en-US" sz="1200" dirty="0"/>
          </a:p>
        </p:txBody>
      </p:sp>
      <p:sp>
        <p:nvSpPr>
          <p:cNvPr id="13" name="Valor Aplicación"/>
          <p:cNvSpPr txBox="1"/>
          <p:nvPr/>
        </p:nvSpPr>
        <p:spPr>
          <a:xfrm>
            <a:off x="1691640" y="4462272"/>
            <a:ext cx="4389120" cy="329184"/>
          </a:xfrm>
          <a:prstGeom prst="rect">
            <a:avLst/>
          </a:prstGeom>
          <a:noFill/>
          <a:ln/>
        </p:spPr>
        <p:txBody>
          <a:bodyPr wrap="square" lIns="0" tIns="0" rIns="0" bIns="0" rtlCol="0" anchor="ctr"/>
          <a:lstStyle/>
          <a:p>
            <a:pPr marL="0" indent="0">
              <a:buNone/>
            </a:pPr>
            <a:r>
              <a:rPr lang="en-US" sz="1600" b="1" dirty="0">
                <a:solidFill>
                  <a:schemeClr val="bg1"/>
                </a:solidFill>
                <a:latin typeface="Calibri" pitchFamily="34" charset="0"/>
                <a:ea typeface="Calibri" pitchFamily="34" charset="-122"/>
                <a:cs typeface="Calibri" pitchFamily="34" charset="-120"/>
              </a:rPr>
              <a:t>GestionContratos</a:t>
            </a:r>
            <a:endParaRPr lang="en-US" sz="1600" dirty="0"/>
          </a:p>
        </p:txBody>
      </p:sp>
      <p:sp>
        <p:nvSpPr>
          <p:cNvPr id="14" name="Panel del logo"/>
          <p:cNvSpPr/>
          <p:nvPr/>
        </p:nvSpPr>
        <p:spPr>
          <a:xfrm>
            <a:off x="6309360" y="1143000"/>
            <a:ext cx="2377440" cy="2377440"/>
          </a:xfrm>
          <a:prstGeom prst="roundRect">
            <a:avLst>
              <a:gd name="adj" fmla="val 4615"/>
            </a:avLst>
          </a:prstGeom>
          <a:solidFill>
            <a:schemeClr val="bg1"/>
          </a:solidFill>
          <a:ln/>
        </p:spPr>
        <p:txBody>
          <a:bodyPr/>
          <a:lstStyle/>
          <a:p>
            <a:endParaRPr lang="es-PE"/>
          </a:p>
        </p:txBody>
      </p:sp>
      <p:pic>
        <p:nvPicPr>
          <p:cNvPr id="15" name="Logo de la empresa" descr="Logo de DA Soluciones e Inversiones"/>
          <p:cNvPicPr>
            <a:picLocks noChangeAspect="1"/>
          </p:cNvPicPr>
          <p:nvPr/>
        </p:nvPicPr>
        <p:blipFill>
          <a:blip r:embed="rId3"/>
          <a:stretch>
            <a:fillRect/>
          </a:stretch>
        </p:blipFill>
        <p:spPr>
          <a:xfrm>
            <a:off x="6446520" y="1645920"/>
            <a:ext cx="2103120" cy="13716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74320"/>
            <a:ext cx="7589520" cy="731520"/>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El problema que resolvemos</a:t>
            </a:r>
            <a:endParaRPr lang="en-US" sz="3000" dirty="0"/>
          </a:p>
        </p:txBody>
      </p:sp>
      <p:sp>
        <p:nvSpPr>
          <p:cNvPr id="3" name="Planteamiento"/>
          <p:cNvSpPr txBox="1"/>
          <p:nvPr/>
        </p:nvSpPr>
        <p:spPr>
          <a:xfrm>
            <a:off x="457200" y="1143000"/>
            <a:ext cx="8229600" cy="64008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La empresa alquila locales comerciales y necesita llevar el control de los contratos, los cobros y las deudas.</a:t>
            </a:r>
            <a:endParaRPr lang="en-US" sz="1600" dirty="0"/>
          </a:p>
        </p:txBody>
      </p:sp>
      <p:sp>
        <p:nvSpPr>
          <p:cNvPr id="4" name="Tarjeta 1"/>
          <p:cNvSpPr/>
          <p:nvPr/>
        </p:nvSpPr>
        <p:spPr>
          <a:xfrm>
            <a:off x="457200" y="1828800"/>
            <a:ext cx="2560320" cy="2240280"/>
          </a:xfrm>
          <a:prstGeom prst="roundRect">
            <a:avLst>
              <a:gd name="adj" fmla="val 4082"/>
            </a:avLst>
          </a:prstGeom>
          <a:solidFill>
            <a:schemeClr val="bg2"/>
          </a:solidFill>
          <a:ln w="12700">
            <a:solidFill>
              <a:srgbClr val="DCE4EA"/>
            </a:solidFill>
            <a:prstDash val="solid"/>
          </a:ln>
        </p:spPr>
        <p:txBody>
          <a:bodyPr/>
          <a:lstStyle/>
          <a:p>
            <a:endParaRPr lang="es-PE"/>
          </a:p>
        </p:txBody>
      </p:sp>
      <p:sp>
        <p:nvSpPr>
          <p:cNvPr id="5" name="Icono ¿Qué locales están ocupados? (círculo)"/>
          <p:cNvSpPr/>
          <p:nvPr/>
        </p:nvSpPr>
        <p:spPr>
          <a:xfrm>
            <a:off x="685800" y="2011680"/>
            <a:ext cx="640080" cy="640080"/>
          </a:xfrm>
          <a:prstGeom prst="ellipse">
            <a:avLst/>
          </a:prstGeom>
          <a:solidFill>
            <a:srgbClr val="DCE9F1"/>
          </a:solidFill>
          <a:ln/>
        </p:spPr>
        <p:txBody>
          <a:bodyPr/>
          <a:lstStyle/>
          <a:p>
            <a:endParaRPr lang="es-PE"/>
          </a:p>
        </p:txBody>
      </p:sp>
      <p:pic>
        <p:nvPicPr>
          <p:cNvPr id="6" name="Icono ¿Qué locales están ocupados?" descr="Icono ¿Qué locales están ocupados?"/>
          <p:cNvPicPr>
            <a:picLocks noChangeAspect="1"/>
          </p:cNvPicPr>
          <p:nvPr/>
        </p:nvPicPr>
        <p:blipFill>
          <a:blip r:embed="rId3"/>
          <a:stretch>
            <a:fillRect/>
          </a:stretch>
        </p:blipFill>
        <p:spPr>
          <a:xfrm>
            <a:off x="845820" y="2171700"/>
            <a:ext cx="320040" cy="320040"/>
          </a:xfrm>
          <a:prstGeom prst="rect">
            <a:avLst/>
          </a:prstGeom>
        </p:spPr>
      </p:pic>
      <p:sp>
        <p:nvSpPr>
          <p:cNvPr id="7" name="Pregunta 1"/>
          <p:cNvSpPr txBox="1"/>
          <p:nvPr/>
        </p:nvSpPr>
        <p:spPr>
          <a:xfrm>
            <a:off x="685800" y="2743200"/>
            <a:ext cx="2148840" cy="594360"/>
          </a:xfrm>
          <a:prstGeom prst="rect">
            <a:avLst/>
          </a:prstGeom>
          <a:noFill/>
          <a:ln/>
        </p:spPr>
        <p:txBody>
          <a:bodyPr wrap="square" lIns="0" tIns="0" rIns="0" bIns="0" rtlCol="0" anchor="t"/>
          <a:lstStyle/>
          <a:p>
            <a:pPr marL="0" indent="0">
              <a:buNone/>
            </a:pPr>
            <a:r>
              <a:rPr lang="en-US" sz="1600" b="1" dirty="0">
                <a:solidFill>
                  <a:schemeClr val="tx2"/>
                </a:solidFill>
                <a:latin typeface="Calibri" pitchFamily="34" charset="0"/>
                <a:ea typeface="Calibri" pitchFamily="34" charset="-122"/>
                <a:cs typeface="Calibri" pitchFamily="34" charset="-120"/>
              </a:rPr>
              <a:t>¿Qué locales están ocupados?</a:t>
            </a:r>
            <a:endParaRPr lang="en-US" sz="1600" dirty="0"/>
          </a:p>
        </p:txBody>
      </p:sp>
      <p:sp>
        <p:nvSpPr>
          <p:cNvPr id="8" name="Respuesta 1"/>
          <p:cNvSpPr txBox="1"/>
          <p:nvPr/>
        </p:nvSpPr>
        <p:spPr>
          <a:xfrm>
            <a:off x="685800" y="3383280"/>
            <a:ext cx="2148840" cy="594360"/>
          </a:xfrm>
          <a:prstGeom prst="rect">
            <a:avLst/>
          </a:prstGeom>
          <a:noFill/>
          <a:ln/>
        </p:spPr>
        <p:txBody>
          <a:bodyPr wrap="square" lIns="0" tIns="0" rIns="0" bIns="0" rtlCol="0" anchor="t"/>
          <a:lstStyle/>
          <a:p>
            <a:pPr marL="0" indent="0">
              <a:buNone/>
            </a:pPr>
            <a:r>
              <a:rPr lang="en-US" sz="1400" dirty="0">
                <a:solidFill>
                  <a:schemeClr val="tx1"/>
                </a:solidFill>
                <a:latin typeface="Calibri" pitchFamily="34" charset="0"/>
                <a:ea typeface="Calibri" pitchFamily="34" charset="-122"/>
                <a:cs typeface="Calibri" pitchFamily="34" charset="-120"/>
              </a:rPr>
              <a:t>Ver cuáles están ocupados y cuáles libres.</a:t>
            </a:r>
            <a:endParaRPr lang="en-US" sz="1400" dirty="0"/>
          </a:p>
        </p:txBody>
      </p:sp>
      <p:sp>
        <p:nvSpPr>
          <p:cNvPr id="9" name="Tarjeta 2"/>
          <p:cNvSpPr/>
          <p:nvPr/>
        </p:nvSpPr>
        <p:spPr>
          <a:xfrm>
            <a:off x="3291840" y="1828800"/>
            <a:ext cx="2560320" cy="2240280"/>
          </a:xfrm>
          <a:prstGeom prst="roundRect">
            <a:avLst>
              <a:gd name="adj" fmla="val 4082"/>
            </a:avLst>
          </a:prstGeom>
          <a:solidFill>
            <a:schemeClr val="bg2"/>
          </a:solidFill>
          <a:ln w="12700">
            <a:solidFill>
              <a:srgbClr val="DCE4EA"/>
            </a:solidFill>
            <a:prstDash val="solid"/>
          </a:ln>
        </p:spPr>
        <p:txBody>
          <a:bodyPr/>
          <a:lstStyle/>
          <a:p>
            <a:endParaRPr lang="es-PE"/>
          </a:p>
        </p:txBody>
      </p:sp>
      <p:sp>
        <p:nvSpPr>
          <p:cNvPr id="10" name="Icono ¿Cuánto me deben? (círculo)"/>
          <p:cNvSpPr/>
          <p:nvPr/>
        </p:nvSpPr>
        <p:spPr>
          <a:xfrm>
            <a:off x="3520440" y="2011680"/>
            <a:ext cx="640080" cy="640080"/>
          </a:xfrm>
          <a:prstGeom prst="ellipse">
            <a:avLst/>
          </a:prstGeom>
          <a:solidFill>
            <a:srgbClr val="DCE9F1"/>
          </a:solidFill>
          <a:ln/>
        </p:spPr>
        <p:txBody>
          <a:bodyPr/>
          <a:lstStyle/>
          <a:p>
            <a:endParaRPr lang="es-PE"/>
          </a:p>
        </p:txBody>
      </p:sp>
      <p:pic>
        <p:nvPicPr>
          <p:cNvPr id="11" name="Icono ¿Cuánto me deben?" descr="Icono ¿Cuánto me deben?"/>
          <p:cNvPicPr>
            <a:picLocks noChangeAspect="1"/>
          </p:cNvPicPr>
          <p:nvPr/>
        </p:nvPicPr>
        <p:blipFill>
          <a:blip r:embed="rId4"/>
          <a:stretch>
            <a:fillRect/>
          </a:stretch>
        </p:blipFill>
        <p:spPr>
          <a:xfrm>
            <a:off x="3680460" y="2171700"/>
            <a:ext cx="320040" cy="320040"/>
          </a:xfrm>
          <a:prstGeom prst="rect">
            <a:avLst/>
          </a:prstGeom>
        </p:spPr>
      </p:pic>
      <p:sp>
        <p:nvSpPr>
          <p:cNvPr id="12" name="Pregunta 2"/>
          <p:cNvSpPr txBox="1"/>
          <p:nvPr/>
        </p:nvSpPr>
        <p:spPr>
          <a:xfrm>
            <a:off x="3520440" y="2743200"/>
            <a:ext cx="2148840" cy="594360"/>
          </a:xfrm>
          <a:prstGeom prst="rect">
            <a:avLst/>
          </a:prstGeom>
          <a:noFill/>
          <a:ln/>
        </p:spPr>
        <p:txBody>
          <a:bodyPr wrap="square" lIns="0" tIns="0" rIns="0" bIns="0" rtlCol="0" anchor="t"/>
          <a:lstStyle/>
          <a:p>
            <a:pPr marL="0" indent="0">
              <a:buNone/>
            </a:pPr>
            <a:r>
              <a:rPr lang="en-US" sz="1600" b="1" dirty="0">
                <a:solidFill>
                  <a:schemeClr val="tx2"/>
                </a:solidFill>
                <a:latin typeface="Calibri" pitchFamily="34" charset="0"/>
                <a:ea typeface="Calibri" pitchFamily="34" charset="-122"/>
                <a:cs typeface="Calibri" pitchFamily="34" charset="-120"/>
              </a:rPr>
              <a:t>¿Cuánto me deben?</a:t>
            </a:r>
            <a:endParaRPr lang="en-US" sz="1600" dirty="0"/>
          </a:p>
        </p:txBody>
      </p:sp>
      <p:sp>
        <p:nvSpPr>
          <p:cNvPr id="13" name="Respuesta 2"/>
          <p:cNvSpPr txBox="1"/>
          <p:nvPr/>
        </p:nvSpPr>
        <p:spPr>
          <a:xfrm>
            <a:off x="3520440" y="3383280"/>
            <a:ext cx="2148840" cy="594360"/>
          </a:xfrm>
          <a:prstGeom prst="rect">
            <a:avLst/>
          </a:prstGeom>
          <a:noFill/>
          <a:ln/>
        </p:spPr>
        <p:txBody>
          <a:bodyPr wrap="square" lIns="0" tIns="0" rIns="0" bIns="0" rtlCol="0" anchor="t"/>
          <a:lstStyle/>
          <a:p>
            <a:pPr marL="0" indent="0">
              <a:buNone/>
            </a:pPr>
            <a:r>
              <a:rPr lang="en-US" sz="1400" dirty="0">
                <a:solidFill>
                  <a:schemeClr val="tx1"/>
                </a:solidFill>
                <a:latin typeface="Calibri" pitchFamily="34" charset="0"/>
                <a:ea typeface="Calibri" pitchFamily="34" charset="-122"/>
                <a:cs typeface="Calibri" pitchFamily="34" charset="-120"/>
              </a:rPr>
              <a:t>Saber quién debe y desde hace cuántos días.</a:t>
            </a:r>
            <a:endParaRPr lang="en-US" sz="1400" dirty="0"/>
          </a:p>
        </p:txBody>
      </p:sp>
      <p:sp>
        <p:nvSpPr>
          <p:cNvPr id="14" name="Tarjeta 3"/>
          <p:cNvSpPr/>
          <p:nvPr/>
        </p:nvSpPr>
        <p:spPr>
          <a:xfrm>
            <a:off x="6126480" y="1828800"/>
            <a:ext cx="2560320" cy="2240280"/>
          </a:xfrm>
          <a:prstGeom prst="roundRect">
            <a:avLst>
              <a:gd name="adj" fmla="val 4082"/>
            </a:avLst>
          </a:prstGeom>
          <a:solidFill>
            <a:schemeClr val="bg2"/>
          </a:solidFill>
          <a:ln w="12700">
            <a:solidFill>
              <a:srgbClr val="DCE4EA"/>
            </a:solidFill>
            <a:prstDash val="solid"/>
          </a:ln>
        </p:spPr>
        <p:txBody>
          <a:bodyPr/>
          <a:lstStyle/>
          <a:p>
            <a:endParaRPr lang="es-PE"/>
          </a:p>
        </p:txBody>
      </p:sp>
      <p:sp>
        <p:nvSpPr>
          <p:cNvPr id="15" name="Icono ¿Qué contratos vencen pronto? (círculo)"/>
          <p:cNvSpPr/>
          <p:nvPr/>
        </p:nvSpPr>
        <p:spPr>
          <a:xfrm>
            <a:off x="6355080" y="2011680"/>
            <a:ext cx="640080" cy="640080"/>
          </a:xfrm>
          <a:prstGeom prst="ellipse">
            <a:avLst/>
          </a:prstGeom>
          <a:solidFill>
            <a:srgbClr val="DCE9F1"/>
          </a:solidFill>
          <a:ln/>
        </p:spPr>
        <p:txBody>
          <a:bodyPr/>
          <a:lstStyle/>
          <a:p>
            <a:endParaRPr lang="es-PE"/>
          </a:p>
        </p:txBody>
      </p:sp>
      <p:pic>
        <p:nvPicPr>
          <p:cNvPr id="16" name="Icono ¿Qué contratos vencen pronto?" descr="Icono ¿Qué contratos vencen pronto?"/>
          <p:cNvPicPr>
            <a:picLocks noChangeAspect="1"/>
          </p:cNvPicPr>
          <p:nvPr/>
        </p:nvPicPr>
        <p:blipFill>
          <a:blip r:embed="rId5"/>
          <a:stretch>
            <a:fillRect/>
          </a:stretch>
        </p:blipFill>
        <p:spPr>
          <a:xfrm>
            <a:off x="6515100" y="2171700"/>
            <a:ext cx="320040" cy="320040"/>
          </a:xfrm>
          <a:prstGeom prst="rect">
            <a:avLst/>
          </a:prstGeom>
        </p:spPr>
      </p:pic>
      <p:sp>
        <p:nvSpPr>
          <p:cNvPr id="17" name="Pregunta 3"/>
          <p:cNvSpPr txBox="1"/>
          <p:nvPr/>
        </p:nvSpPr>
        <p:spPr>
          <a:xfrm>
            <a:off x="6355080" y="2743200"/>
            <a:ext cx="2148840" cy="594360"/>
          </a:xfrm>
          <a:prstGeom prst="rect">
            <a:avLst/>
          </a:prstGeom>
          <a:noFill/>
          <a:ln/>
        </p:spPr>
        <p:txBody>
          <a:bodyPr wrap="square" lIns="0" tIns="0" rIns="0" bIns="0" rtlCol="0" anchor="t"/>
          <a:lstStyle/>
          <a:p>
            <a:pPr marL="0" indent="0">
              <a:buNone/>
            </a:pPr>
            <a:r>
              <a:rPr lang="en-US" sz="1600" b="1" dirty="0">
                <a:solidFill>
                  <a:schemeClr val="tx2"/>
                </a:solidFill>
                <a:latin typeface="Calibri" pitchFamily="34" charset="0"/>
                <a:ea typeface="Calibri" pitchFamily="34" charset="-122"/>
                <a:cs typeface="Calibri" pitchFamily="34" charset="-120"/>
              </a:rPr>
              <a:t>¿Qué contratos vencen pronto?</a:t>
            </a:r>
            <a:endParaRPr lang="en-US" sz="1600" dirty="0"/>
          </a:p>
        </p:txBody>
      </p:sp>
      <p:sp>
        <p:nvSpPr>
          <p:cNvPr id="18" name="Respuesta 3"/>
          <p:cNvSpPr txBox="1"/>
          <p:nvPr/>
        </p:nvSpPr>
        <p:spPr>
          <a:xfrm>
            <a:off x="6355080" y="3383280"/>
            <a:ext cx="2148840" cy="594360"/>
          </a:xfrm>
          <a:prstGeom prst="rect">
            <a:avLst/>
          </a:prstGeom>
          <a:noFill/>
          <a:ln/>
        </p:spPr>
        <p:txBody>
          <a:bodyPr wrap="square" lIns="0" tIns="0" rIns="0" bIns="0" rtlCol="0" anchor="t"/>
          <a:lstStyle/>
          <a:p>
            <a:pPr marL="0" indent="0">
              <a:buNone/>
            </a:pPr>
            <a:r>
              <a:rPr lang="en-US" sz="1400" dirty="0">
                <a:solidFill>
                  <a:schemeClr val="tx1"/>
                </a:solidFill>
                <a:latin typeface="Calibri" pitchFamily="34" charset="0"/>
                <a:ea typeface="Calibri" pitchFamily="34" charset="-122"/>
                <a:cs typeface="Calibri" pitchFamily="34" charset="-120"/>
              </a:rPr>
              <a:t>Anticiparse a los vencimientos próximos.</a:t>
            </a:r>
            <a:endParaRPr lang="en-US" sz="1400" dirty="0"/>
          </a:p>
        </p:txBody>
      </p:sp>
      <p:sp>
        <p:nvSpPr>
          <p:cNvPr id="19" name="Mensaje de valor"/>
          <p:cNvSpPr/>
          <p:nvPr/>
        </p:nvSpPr>
        <p:spPr>
          <a:xfrm>
            <a:off x="457200" y="4206240"/>
            <a:ext cx="8229600" cy="457200"/>
          </a:xfrm>
          <a:prstGeom prst="roundRect">
            <a:avLst>
              <a:gd name="adj" fmla="val 20000"/>
            </a:avLst>
          </a:prstGeom>
          <a:solidFill>
            <a:schemeClr val="tx2"/>
          </a:solidFill>
          <a:ln/>
        </p:spPr>
        <p:txBody>
          <a:bodyPr/>
          <a:lstStyle/>
          <a:p>
            <a:endParaRPr lang="es-PE"/>
          </a:p>
        </p:txBody>
      </p:sp>
      <p:sp>
        <p:nvSpPr>
          <p:cNvPr id="20" name="Texto de valor"/>
          <p:cNvSpPr txBox="1"/>
          <p:nvPr/>
        </p:nvSpPr>
        <p:spPr>
          <a:xfrm>
            <a:off x="640080" y="4206240"/>
            <a:ext cx="7863840" cy="457200"/>
          </a:xfrm>
          <a:prstGeom prst="rect">
            <a:avLst/>
          </a:prstGeom>
          <a:noFill/>
          <a:ln/>
        </p:spPr>
        <p:txBody>
          <a:bodyPr wrap="square" lIns="0" tIns="0" rIns="0" bIns="0" rtlCol="0" anchor="ctr"/>
          <a:lstStyle/>
          <a:p>
            <a:pPr marL="0" indent="0">
              <a:buNone/>
            </a:pPr>
            <a:r>
              <a:rPr lang="en-US" sz="1800" b="1" dirty="0">
                <a:solidFill>
                  <a:schemeClr val="bg1"/>
                </a:solidFill>
                <a:latin typeface="Calibri" pitchFamily="34" charset="0"/>
                <a:ea typeface="Calibri" pitchFamily="34" charset="-122"/>
                <a:cs typeface="Calibri" pitchFamily="34" charset="-120"/>
              </a:rPr>
              <a:t>Valor del producto: saberlo todo en una sola pantalla</a:t>
            </a:r>
            <a:endParaRPr lang="en-US" sz="18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74320"/>
            <a:ext cx="7589520" cy="731520"/>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Cómo funciona el sistema</a:t>
            </a:r>
            <a:endParaRPr lang="en-US" sz="3000" dirty="0"/>
          </a:p>
        </p:txBody>
      </p:sp>
      <p:sp>
        <p:nvSpPr>
          <p:cNvPr id="3" name="Paso 1"/>
          <p:cNvSpPr/>
          <p:nvPr/>
        </p:nvSpPr>
        <p:spPr>
          <a:xfrm>
            <a:off x="457200" y="1234440"/>
            <a:ext cx="1499616" cy="2514600"/>
          </a:xfrm>
          <a:prstGeom prst="roundRect">
            <a:avLst>
              <a:gd name="adj" fmla="val 6098"/>
            </a:avLst>
          </a:prstGeom>
          <a:solidFill>
            <a:schemeClr val="bg2"/>
          </a:solidFill>
          <a:ln w="12700">
            <a:solidFill>
              <a:srgbClr val="DCE4EA"/>
            </a:solidFill>
            <a:prstDash val="solid"/>
          </a:ln>
        </p:spPr>
        <p:txBody>
          <a:bodyPr/>
          <a:lstStyle/>
          <a:p>
            <a:endParaRPr lang="es-PE"/>
          </a:p>
        </p:txBody>
      </p:sp>
      <p:sp>
        <p:nvSpPr>
          <p:cNvPr id="4" name="Número 1"/>
          <p:cNvSpPr/>
          <p:nvPr/>
        </p:nvSpPr>
        <p:spPr>
          <a:xfrm>
            <a:off x="932688" y="1417320"/>
            <a:ext cx="548640" cy="548640"/>
          </a:xfrm>
          <a:prstGeom prst="ellipse">
            <a:avLst/>
          </a:prstGeom>
          <a:solidFill>
            <a:schemeClr val="accent1"/>
          </a:solidFill>
          <a:ln/>
        </p:spPr>
        <p:txBody>
          <a:bodyPr/>
          <a:lstStyle/>
          <a:p>
            <a:endParaRPr lang="es-PE"/>
          </a:p>
        </p:txBody>
      </p:sp>
      <p:sp>
        <p:nvSpPr>
          <p:cNvPr id="5" name="Cifra 1"/>
          <p:cNvSpPr txBox="1"/>
          <p:nvPr/>
        </p:nvSpPr>
        <p:spPr>
          <a:xfrm>
            <a:off x="932688" y="141732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latin typeface="Calibri" pitchFamily="34" charset="0"/>
                <a:ea typeface="Calibri" pitchFamily="34" charset="-122"/>
                <a:cs typeface="Calibri" pitchFamily="34" charset="-120"/>
              </a:rPr>
              <a:t>1</a:t>
            </a:r>
            <a:endParaRPr lang="en-US" sz="2000" dirty="0"/>
          </a:p>
        </p:txBody>
      </p:sp>
      <p:sp>
        <p:nvSpPr>
          <p:cNvPr id="6" name="Paso 1 título"/>
          <p:cNvSpPr txBox="1"/>
          <p:nvPr/>
        </p:nvSpPr>
        <p:spPr>
          <a:xfrm>
            <a:off x="566928" y="2103120"/>
            <a:ext cx="1280160" cy="365760"/>
          </a:xfrm>
          <a:prstGeom prst="rect">
            <a:avLst/>
          </a:prstGeom>
          <a:noFill/>
          <a:ln/>
        </p:spPr>
        <p:txBody>
          <a:bodyPr wrap="square" lIns="0" tIns="0" rIns="0" bIns="0" rtlCol="0" anchor="ctr"/>
          <a:lstStyle/>
          <a:p>
            <a:pPr marL="0" indent="0" algn="ctr">
              <a:buNone/>
            </a:pPr>
            <a:r>
              <a:rPr lang="en-US" sz="1600" b="1" dirty="0">
                <a:solidFill>
                  <a:schemeClr val="tx2"/>
                </a:solidFill>
                <a:latin typeface="Calibri" pitchFamily="34" charset="0"/>
                <a:ea typeface="Calibri" pitchFamily="34" charset="-122"/>
                <a:cs typeface="Calibri" pitchFamily="34" charset="-120"/>
              </a:rPr>
              <a:t>Registrar</a:t>
            </a:r>
            <a:endParaRPr lang="en-US" sz="1600" dirty="0"/>
          </a:p>
        </p:txBody>
      </p:sp>
      <p:sp>
        <p:nvSpPr>
          <p:cNvPr id="7" name="Paso 1 detalle"/>
          <p:cNvSpPr txBox="1"/>
          <p:nvPr/>
        </p:nvSpPr>
        <p:spPr>
          <a:xfrm>
            <a:off x="566928" y="2514600"/>
            <a:ext cx="1280160" cy="1143000"/>
          </a:xfrm>
          <a:prstGeom prst="rect">
            <a:avLst/>
          </a:prstGeom>
          <a:noFill/>
          <a:ln/>
        </p:spPr>
        <p:txBody>
          <a:bodyPr wrap="square" lIns="0" tIns="0" rIns="0" bIns="0" rtlCol="0" anchor="t"/>
          <a:lstStyle/>
          <a:p>
            <a:pPr marL="0" indent="0" algn="ctr">
              <a:buNone/>
            </a:pPr>
            <a:r>
              <a:rPr lang="en-US" sz="1400" dirty="0">
                <a:solidFill>
                  <a:schemeClr val="tx1"/>
                </a:solidFill>
                <a:latin typeface="Calibri" pitchFamily="34" charset="0"/>
                <a:ea typeface="Calibri" pitchFamily="34" charset="-122"/>
                <a:cs typeface="Calibri" pitchFamily="34" charset="-120"/>
              </a:rPr>
              <a:t>El operador crea el contrato como borrador.</a:t>
            </a:r>
            <a:endParaRPr lang="en-US" sz="1400" dirty="0"/>
          </a:p>
        </p:txBody>
      </p:sp>
      <p:sp>
        <p:nvSpPr>
          <p:cNvPr id="8" name="Paso 2"/>
          <p:cNvSpPr/>
          <p:nvPr/>
        </p:nvSpPr>
        <p:spPr>
          <a:xfrm>
            <a:off x="2139696" y="1234440"/>
            <a:ext cx="1499616" cy="2514600"/>
          </a:xfrm>
          <a:prstGeom prst="roundRect">
            <a:avLst>
              <a:gd name="adj" fmla="val 6098"/>
            </a:avLst>
          </a:prstGeom>
          <a:solidFill>
            <a:schemeClr val="bg2"/>
          </a:solidFill>
          <a:ln w="12700">
            <a:solidFill>
              <a:srgbClr val="DCE4EA"/>
            </a:solidFill>
            <a:prstDash val="solid"/>
          </a:ln>
        </p:spPr>
        <p:txBody>
          <a:bodyPr/>
          <a:lstStyle/>
          <a:p>
            <a:endParaRPr lang="es-PE"/>
          </a:p>
        </p:txBody>
      </p:sp>
      <p:sp>
        <p:nvSpPr>
          <p:cNvPr id="9" name="Número 2"/>
          <p:cNvSpPr/>
          <p:nvPr/>
        </p:nvSpPr>
        <p:spPr>
          <a:xfrm>
            <a:off x="2615184" y="1417320"/>
            <a:ext cx="548640" cy="548640"/>
          </a:xfrm>
          <a:prstGeom prst="ellipse">
            <a:avLst/>
          </a:prstGeom>
          <a:solidFill>
            <a:schemeClr val="accent1"/>
          </a:solidFill>
          <a:ln/>
        </p:spPr>
        <p:txBody>
          <a:bodyPr/>
          <a:lstStyle/>
          <a:p>
            <a:endParaRPr lang="es-PE"/>
          </a:p>
        </p:txBody>
      </p:sp>
      <p:sp>
        <p:nvSpPr>
          <p:cNvPr id="10" name="Cifra 2"/>
          <p:cNvSpPr txBox="1"/>
          <p:nvPr/>
        </p:nvSpPr>
        <p:spPr>
          <a:xfrm>
            <a:off x="2615184" y="141732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latin typeface="Calibri" pitchFamily="34" charset="0"/>
                <a:ea typeface="Calibri" pitchFamily="34" charset="-122"/>
                <a:cs typeface="Calibri" pitchFamily="34" charset="-120"/>
              </a:rPr>
              <a:t>2</a:t>
            </a:r>
            <a:endParaRPr lang="en-US" sz="2000" dirty="0"/>
          </a:p>
        </p:txBody>
      </p:sp>
      <p:sp>
        <p:nvSpPr>
          <p:cNvPr id="11" name="Paso 2 título"/>
          <p:cNvSpPr txBox="1"/>
          <p:nvPr/>
        </p:nvSpPr>
        <p:spPr>
          <a:xfrm>
            <a:off x="2249424" y="2103120"/>
            <a:ext cx="1280160" cy="365760"/>
          </a:xfrm>
          <a:prstGeom prst="rect">
            <a:avLst/>
          </a:prstGeom>
          <a:noFill/>
          <a:ln/>
        </p:spPr>
        <p:txBody>
          <a:bodyPr wrap="square" lIns="0" tIns="0" rIns="0" bIns="0" rtlCol="0" anchor="ctr"/>
          <a:lstStyle/>
          <a:p>
            <a:pPr marL="0" indent="0" algn="ctr">
              <a:buNone/>
            </a:pPr>
            <a:r>
              <a:rPr lang="en-US" sz="1600" b="1" dirty="0">
                <a:solidFill>
                  <a:schemeClr val="tx2"/>
                </a:solidFill>
                <a:latin typeface="Calibri" pitchFamily="34" charset="0"/>
                <a:ea typeface="Calibri" pitchFamily="34" charset="-122"/>
                <a:cs typeface="Calibri" pitchFamily="34" charset="-120"/>
              </a:rPr>
              <a:t>Autorizar</a:t>
            </a:r>
            <a:endParaRPr lang="en-US" sz="1600" dirty="0"/>
          </a:p>
        </p:txBody>
      </p:sp>
      <p:sp>
        <p:nvSpPr>
          <p:cNvPr id="12" name="Paso 2 detalle"/>
          <p:cNvSpPr txBox="1"/>
          <p:nvPr/>
        </p:nvSpPr>
        <p:spPr>
          <a:xfrm>
            <a:off x="2249424" y="2514600"/>
            <a:ext cx="1280160" cy="1143000"/>
          </a:xfrm>
          <a:prstGeom prst="rect">
            <a:avLst/>
          </a:prstGeom>
          <a:noFill/>
          <a:ln/>
        </p:spPr>
        <p:txBody>
          <a:bodyPr wrap="square" lIns="0" tIns="0" rIns="0" bIns="0" rtlCol="0" anchor="t"/>
          <a:lstStyle/>
          <a:p>
            <a:pPr marL="0" indent="0" algn="ctr">
              <a:buNone/>
            </a:pPr>
            <a:r>
              <a:rPr lang="en-US" sz="1400" dirty="0">
                <a:solidFill>
                  <a:schemeClr val="tx1"/>
                </a:solidFill>
                <a:latin typeface="Calibri" pitchFamily="34" charset="0"/>
                <a:ea typeface="Calibri" pitchFamily="34" charset="-122"/>
                <a:cs typeface="Calibri" pitchFamily="34" charset="-120"/>
              </a:rPr>
              <a:t>Otra persona, el administrador, lo aprueba.</a:t>
            </a:r>
            <a:endParaRPr lang="en-US" sz="1400" dirty="0"/>
          </a:p>
        </p:txBody>
      </p:sp>
      <p:sp>
        <p:nvSpPr>
          <p:cNvPr id="13" name="Paso 3"/>
          <p:cNvSpPr/>
          <p:nvPr/>
        </p:nvSpPr>
        <p:spPr>
          <a:xfrm>
            <a:off x="3822192" y="1234440"/>
            <a:ext cx="1499616" cy="2514600"/>
          </a:xfrm>
          <a:prstGeom prst="roundRect">
            <a:avLst>
              <a:gd name="adj" fmla="val 6098"/>
            </a:avLst>
          </a:prstGeom>
          <a:solidFill>
            <a:schemeClr val="bg2"/>
          </a:solidFill>
          <a:ln w="12700">
            <a:solidFill>
              <a:srgbClr val="DCE4EA"/>
            </a:solidFill>
            <a:prstDash val="solid"/>
          </a:ln>
        </p:spPr>
        <p:txBody>
          <a:bodyPr/>
          <a:lstStyle/>
          <a:p>
            <a:endParaRPr lang="es-PE"/>
          </a:p>
        </p:txBody>
      </p:sp>
      <p:sp>
        <p:nvSpPr>
          <p:cNvPr id="14" name="Número 3"/>
          <p:cNvSpPr/>
          <p:nvPr/>
        </p:nvSpPr>
        <p:spPr>
          <a:xfrm>
            <a:off x="4297680" y="1417320"/>
            <a:ext cx="548640" cy="548640"/>
          </a:xfrm>
          <a:prstGeom prst="ellipse">
            <a:avLst/>
          </a:prstGeom>
          <a:solidFill>
            <a:schemeClr val="accent1"/>
          </a:solidFill>
          <a:ln/>
        </p:spPr>
        <p:txBody>
          <a:bodyPr/>
          <a:lstStyle/>
          <a:p>
            <a:endParaRPr lang="es-PE"/>
          </a:p>
        </p:txBody>
      </p:sp>
      <p:sp>
        <p:nvSpPr>
          <p:cNvPr id="15" name="Cifra 3"/>
          <p:cNvSpPr txBox="1"/>
          <p:nvPr/>
        </p:nvSpPr>
        <p:spPr>
          <a:xfrm>
            <a:off x="4297680" y="141732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latin typeface="Calibri" pitchFamily="34" charset="0"/>
                <a:ea typeface="Calibri" pitchFamily="34" charset="-122"/>
                <a:cs typeface="Calibri" pitchFamily="34" charset="-120"/>
              </a:rPr>
              <a:t>3</a:t>
            </a:r>
            <a:endParaRPr lang="en-US" sz="2000" dirty="0"/>
          </a:p>
        </p:txBody>
      </p:sp>
      <p:sp>
        <p:nvSpPr>
          <p:cNvPr id="16" name="Paso 3 título"/>
          <p:cNvSpPr txBox="1"/>
          <p:nvPr/>
        </p:nvSpPr>
        <p:spPr>
          <a:xfrm>
            <a:off x="3931920" y="2103120"/>
            <a:ext cx="1280160" cy="365760"/>
          </a:xfrm>
          <a:prstGeom prst="rect">
            <a:avLst/>
          </a:prstGeom>
          <a:noFill/>
          <a:ln/>
        </p:spPr>
        <p:txBody>
          <a:bodyPr wrap="square" lIns="0" tIns="0" rIns="0" bIns="0" rtlCol="0" anchor="ctr"/>
          <a:lstStyle/>
          <a:p>
            <a:pPr marL="0" indent="0" algn="ctr">
              <a:buNone/>
            </a:pPr>
            <a:r>
              <a:rPr lang="en-US" sz="1600" b="1" dirty="0">
                <a:solidFill>
                  <a:schemeClr val="tx2"/>
                </a:solidFill>
                <a:latin typeface="Calibri" pitchFamily="34" charset="0"/>
                <a:ea typeface="Calibri" pitchFamily="34" charset="-122"/>
                <a:cs typeface="Calibri" pitchFamily="34" charset="-120"/>
              </a:rPr>
              <a:t>Cuotas</a:t>
            </a:r>
            <a:endParaRPr lang="en-US" sz="1600" dirty="0"/>
          </a:p>
        </p:txBody>
      </p:sp>
      <p:sp>
        <p:nvSpPr>
          <p:cNvPr id="17" name="Paso 3 detalle"/>
          <p:cNvSpPr txBox="1"/>
          <p:nvPr/>
        </p:nvSpPr>
        <p:spPr>
          <a:xfrm>
            <a:off x="3931920" y="2514600"/>
            <a:ext cx="1280160" cy="1143000"/>
          </a:xfrm>
          <a:prstGeom prst="rect">
            <a:avLst/>
          </a:prstGeom>
          <a:noFill/>
          <a:ln/>
        </p:spPr>
        <p:txBody>
          <a:bodyPr wrap="square" lIns="0" tIns="0" rIns="0" bIns="0" rtlCol="0" anchor="t"/>
          <a:lstStyle/>
          <a:p>
            <a:pPr marL="0" indent="0" algn="ctr">
              <a:buNone/>
            </a:pPr>
            <a:r>
              <a:rPr lang="en-US" sz="1400" dirty="0">
                <a:solidFill>
                  <a:schemeClr val="tx1"/>
                </a:solidFill>
                <a:latin typeface="Calibri" pitchFamily="34" charset="0"/>
                <a:ea typeface="Calibri" pitchFamily="34" charset="-122"/>
                <a:cs typeface="Calibri" pitchFamily="34" charset="-120"/>
              </a:rPr>
              <a:t>El sistema calcula las cuotas de cada mes.</a:t>
            </a:r>
            <a:endParaRPr lang="en-US" sz="1400" dirty="0"/>
          </a:p>
        </p:txBody>
      </p:sp>
      <p:sp>
        <p:nvSpPr>
          <p:cNvPr id="18" name="Paso 4"/>
          <p:cNvSpPr/>
          <p:nvPr/>
        </p:nvSpPr>
        <p:spPr>
          <a:xfrm>
            <a:off x="5504688" y="1234440"/>
            <a:ext cx="1499616" cy="2514600"/>
          </a:xfrm>
          <a:prstGeom prst="roundRect">
            <a:avLst>
              <a:gd name="adj" fmla="val 6098"/>
            </a:avLst>
          </a:prstGeom>
          <a:solidFill>
            <a:schemeClr val="bg2"/>
          </a:solidFill>
          <a:ln w="12700">
            <a:solidFill>
              <a:srgbClr val="DCE4EA"/>
            </a:solidFill>
            <a:prstDash val="solid"/>
          </a:ln>
        </p:spPr>
        <p:txBody>
          <a:bodyPr/>
          <a:lstStyle/>
          <a:p>
            <a:endParaRPr lang="es-PE"/>
          </a:p>
        </p:txBody>
      </p:sp>
      <p:sp>
        <p:nvSpPr>
          <p:cNvPr id="19" name="Número 4"/>
          <p:cNvSpPr/>
          <p:nvPr/>
        </p:nvSpPr>
        <p:spPr>
          <a:xfrm>
            <a:off x="5980176" y="1417320"/>
            <a:ext cx="548640" cy="548640"/>
          </a:xfrm>
          <a:prstGeom prst="ellipse">
            <a:avLst/>
          </a:prstGeom>
          <a:solidFill>
            <a:schemeClr val="accent1"/>
          </a:solidFill>
          <a:ln/>
        </p:spPr>
        <p:txBody>
          <a:bodyPr/>
          <a:lstStyle/>
          <a:p>
            <a:endParaRPr lang="es-PE"/>
          </a:p>
        </p:txBody>
      </p:sp>
      <p:sp>
        <p:nvSpPr>
          <p:cNvPr id="20" name="Cifra 4"/>
          <p:cNvSpPr txBox="1"/>
          <p:nvPr/>
        </p:nvSpPr>
        <p:spPr>
          <a:xfrm>
            <a:off x="5980176" y="141732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latin typeface="Calibri" pitchFamily="34" charset="0"/>
                <a:ea typeface="Calibri" pitchFamily="34" charset="-122"/>
                <a:cs typeface="Calibri" pitchFamily="34" charset="-120"/>
              </a:rPr>
              <a:t>4</a:t>
            </a:r>
            <a:endParaRPr lang="en-US" sz="2000" dirty="0"/>
          </a:p>
        </p:txBody>
      </p:sp>
      <p:sp>
        <p:nvSpPr>
          <p:cNvPr id="21" name="Paso 4 título"/>
          <p:cNvSpPr txBox="1"/>
          <p:nvPr/>
        </p:nvSpPr>
        <p:spPr>
          <a:xfrm>
            <a:off x="5614416" y="2103120"/>
            <a:ext cx="1280160" cy="365760"/>
          </a:xfrm>
          <a:prstGeom prst="rect">
            <a:avLst/>
          </a:prstGeom>
          <a:noFill/>
          <a:ln/>
        </p:spPr>
        <p:txBody>
          <a:bodyPr wrap="square" lIns="0" tIns="0" rIns="0" bIns="0" rtlCol="0" anchor="ctr"/>
          <a:lstStyle/>
          <a:p>
            <a:pPr marL="0" indent="0" algn="ctr">
              <a:buNone/>
            </a:pPr>
            <a:r>
              <a:rPr lang="en-US" sz="1600" b="1" dirty="0">
                <a:solidFill>
                  <a:schemeClr val="tx2"/>
                </a:solidFill>
                <a:latin typeface="Calibri" pitchFamily="34" charset="0"/>
                <a:ea typeface="Calibri" pitchFamily="34" charset="-122"/>
                <a:cs typeface="Calibri" pitchFamily="34" charset="-120"/>
              </a:rPr>
              <a:t>Cobrar</a:t>
            </a:r>
            <a:endParaRPr lang="en-US" sz="1600" dirty="0"/>
          </a:p>
        </p:txBody>
      </p:sp>
      <p:sp>
        <p:nvSpPr>
          <p:cNvPr id="22" name="Paso 4 detalle"/>
          <p:cNvSpPr txBox="1"/>
          <p:nvPr/>
        </p:nvSpPr>
        <p:spPr>
          <a:xfrm>
            <a:off x="5614416" y="2514600"/>
            <a:ext cx="1280160" cy="1143000"/>
          </a:xfrm>
          <a:prstGeom prst="rect">
            <a:avLst/>
          </a:prstGeom>
          <a:noFill/>
          <a:ln/>
        </p:spPr>
        <p:txBody>
          <a:bodyPr wrap="square" lIns="0" tIns="0" rIns="0" bIns="0" rtlCol="0" anchor="t"/>
          <a:lstStyle/>
          <a:p>
            <a:pPr marL="0" indent="0" algn="ctr">
              <a:buNone/>
            </a:pPr>
            <a:r>
              <a:rPr lang="en-US" sz="1400" dirty="0">
                <a:solidFill>
                  <a:schemeClr val="tx1"/>
                </a:solidFill>
                <a:latin typeface="Calibri" pitchFamily="34" charset="0"/>
                <a:ea typeface="Calibri" pitchFamily="34" charset="-122"/>
                <a:cs typeface="Calibri" pitchFamily="34" charset="-120"/>
              </a:rPr>
              <a:t>Se registran pagos totales o parciales.</a:t>
            </a:r>
            <a:endParaRPr lang="en-US" sz="1400" dirty="0"/>
          </a:p>
        </p:txBody>
      </p:sp>
      <p:sp>
        <p:nvSpPr>
          <p:cNvPr id="23" name="Paso 5"/>
          <p:cNvSpPr/>
          <p:nvPr/>
        </p:nvSpPr>
        <p:spPr>
          <a:xfrm>
            <a:off x="7187184" y="1234440"/>
            <a:ext cx="1499616" cy="2514600"/>
          </a:xfrm>
          <a:prstGeom prst="roundRect">
            <a:avLst>
              <a:gd name="adj" fmla="val 6098"/>
            </a:avLst>
          </a:prstGeom>
          <a:solidFill>
            <a:schemeClr val="bg2"/>
          </a:solidFill>
          <a:ln w="12700">
            <a:solidFill>
              <a:srgbClr val="DCE4EA"/>
            </a:solidFill>
            <a:prstDash val="solid"/>
          </a:ln>
        </p:spPr>
        <p:txBody>
          <a:bodyPr/>
          <a:lstStyle/>
          <a:p>
            <a:endParaRPr lang="es-PE"/>
          </a:p>
        </p:txBody>
      </p:sp>
      <p:sp>
        <p:nvSpPr>
          <p:cNvPr id="24" name="Número 5"/>
          <p:cNvSpPr/>
          <p:nvPr/>
        </p:nvSpPr>
        <p:spPr>
          <a:xfrm>
            <a:off x="7662672" y="1417320"/>
            <a:ext cx="548640" cy="548640"/>
          </a:xfrm>
          <a:prstGeom prst="ellipse">
            <a:avLst/>
          </a:prstGeom>
          <a:solidFill>
            <a:schemeClr val="accent1"/>
          </a:solidFill>
          <a:ln/>
        </p:spPr>
        <p:txBody>
          <a:bodyPr/>
          <a:lstStyle/>
          <a:p>
            <a:endParaRPr lang="es-PE"/>
          </a:p>
        </p:txBody>
      </p:sp>
      <p:sp>
        <p:nvSpPr>
          <p:cNvPr id="25" name="Cifra 5"/>
          <p:cNvSpPr txBox="1"/>
          <p:nvPr/>
        </p:nvSpPr>
        <p:spPr>
          <a:xfrm>
            <a:off x="7662672" y="141732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latin typeface="Calibri" pitchFamily="34" charset="0"/>
                <a:ea typeface="Calibri" pitchFamily="34" charset="-122"/>
                <a:cs typeface="Calibri" pitchFamily="34" charset="-120"/>
              </a:rPr>
              <a:t>5</a:t>
            </a:r>
            <a:endParaRPr lang="en-US" sz="2000" dirty="0"/>
          </a:p>
        </p:txBody>
      </p:sp>
      <p:sp>
        <p:nvSpPr>
          <p:cNvPr id="26" name="Paso 5 título"/>
          <p:cNvSpPr txBox="1"/>
          <p:nvPr/>
        </p:nvSpPr>
        <p:spPr>
          <a:xfrm>
            <a:off x="7296912" y="2103120"/>
            <a:ext cx="1280160" cy="365760"/>
          </a:xfrm>
          <a:prstGeom prst="rect">
            <a:avLst/>
          </a:prstGeom>
          <a:noFill/>
          <a:ln/>
        </p:spPr>
        <p:txBody>
          <a:bodyPr wrap="square" lIns="0" tIns="0" rIns="0" bIns="0" rtlCol="0" anchor="ctr"/>
          <a:lstStyle/>
          <a:p>
            <a:pPr marL="0" indent="0" algn="ctr">
              <a:buNone/>
            </a:pPr>
            <a:r>
              <a:rPr lang="en-US" sz="1600" b="1" dirty="0">
                <a:solidFill>
                  <a:schemeClr val="tx2"/>
                </a:solidFill>
                <a:latin typeface="Calibri" pitchFamily="34" charset="0"/>
                <a:ea typeface="Calibri" pitchFamily="34" charset="-122"/>
                <a:cs typeface="Calibri" pitchFamily="34" charset="-120"/>
              </a:rPr>
              <a:t>Controlar</a:t>
            </a:r>
            <a:endParaRPr lang="en-US" sz="1600" dirty="0"/>
          </a:p>
        </p:txBody>
      </p:sp>
      <p:sp>
        <p:nvSpPr>
          <p:cNvPr id="27" name="Paso 5 detalle"/>
          <p:cNvSpPr txBox="1"/>
          <p:nvPr/>
        </p:nvSpPr>
        <p:spPr>
          <a:xfrm>
            <a:off x="7296912" y="2514600"/>
            <a:ext cx="1280160" cy="1143000"/>
          </a:xfrm>
          <a:prstGeom prst="rect">
            <a:avLst/>
          </a:prstGeom>
          <a:noFill/>
          <a:ln/>
        </p:spPr>
        <p:txBody>
          <a:bodyPr wrap="square" lIns="0" tIns="0" rIns="0" bIns="0" rtlCol="0" anchor="t"/>
          <a:lstStyle/>
          <a:p>
            <a:pPr marL="0" indent="0" algn="ctr">
              <a:buNone/>
            </a:pPr>
            <a:r>
              <a:rPr lang="en-US" sz="1400" dirty="0">
                <a:solidFill>
                  <a:schemeClr val="tx1"/>
                </a:solidFill>
                <a:latin typeface="Calibri" pitchFamily="34" charset="0"/>
                <a:ea typeface="Calibri" pitchFamily="34" charset="-122"/>
                <a:cs typeface="Calibri" pitchFamily="34" charset="-120"/>
              </a:rPr>
              <a:t>El panel muestra deudas y vencimientos.</a:t>
            </a:r>
            <a:endParaRPr lang="en-US" sz="1400" dirty="0"/>
          </a:p>
        </p:txBody>
      </p:sp>
      <p:sp>
        <p:nvSpPr>
          <p:cNvPr id="28" name="Rol Operador"/>
          <p:cNvSpPr/>
          <p:nvPr/>
        </p:nvSpPr>
        <p:spPr>
          <a:xfrm>
            <a:off x="457200" y="3977640"/>
            <a:ext cx="4023360" cy="640080"/>
          </a:xfrm>
          <a:prstGeom prst="roundRect">
            <a:avLst>
              <a:gd name="adj" fmla="val 14286"/>
            </a:avLst>
          </a:prstGeom>
          <a:solidFill>
            <a:schemeClr val="accent6"/>
          </a:solidFill>
          <a:ln/>
        </p:spPr>
        <p:txBody>
          <a:bodyPr/>
          <a:lstStyle/>
          <a:p>
            <a:endParaRPr lang="es-PE"/>
          </a:p>
        </p:txBody>
      </p:sp>
      <p:pic>
        <p:nvPicPr>
          <p:cNvPr id="29" name="Icono Operador" descr="Operador"/>
          <p:cNvPicPr>
            <a:picLocks noChangeAspect="1"/>
          </p:cNvPicPr>
          <p:nvPr/>
        </p:nvPicPr>
        <p:blipFill>
          <a:blip r:embed="rId3"/>
          <a:stretch>
            <a:fillRect/>
          </a:stretch>
        </p:blipFill>
        <p:spPr>
          <a:xfrm>
            <a:off x="640080" y="4114800"/>
            <a:ext cx="365760" cy="365760"/>
          </a:xfrm>
          <a:prstGeom prst="rect">
            <a:avLst/>
          </a:prstGeom>
        </p:spPr>
      </p:pic>
      <p:sp>
        <p:nvSpPr>
          <p:cNvPr id="30" name="Texto Operador"/>
          <p:cNvSpPr txBox="1"/>
          <p:nvPr/>
        </p:nvSpPr>
        <p:spPr>
          <a:xfrm>
            <a:off x="1143000" y="3977640"/>
            <a:ext cx="3246120" cy="640080"/>
          </a:xfrm>
          <a:prstGeom prst="rect">
            <a:avLst/>
          </a:prstGeom>
          <a:noFill/>
          <a:ln/>
        </p:spPr>
        <p:txBody>
          <a:bodyPr wrap="square" lIns="0" tIns="0" rIns="0" bIns="0" rtlCol="0" anchor="ctr"/>
          <a:lstStyle/>
          <a:p>
            <a:pPr marL="0" indent="0">
              <a:buNone/>
            </a:pPr>
            <a:r>
              <a:rPr lang="en-US" sz="1400" b="1" dirty="0">
                <a:solidFill>
                  <a:schemeClr val="tx2"/>
                </a:solidFill>
                <a:latin typeface="Calibri" pitchFamily="34" charset="0"/>
                <a:ea typeface="Calibri" pitchFamily="34" charset="-122"/>
                <a:cs typeface="Calibri" pitchFamily="34" charset="-120"/>
              </a:rPr>
              <a:t>Operador: </a:t>
            </a:r>
            <a:r>
              <a:rPr lang="en-US" sz="1400" dirty="0">
                <a:solidFill>
                  <a:schemeClr val="tx2"/>
                </a:solidFill>
                <a:latin typeface="Calibri" pitchFamily="34" charset="0"/>
                <a:ea typeface="Calibri" pitchFamily="34" charset="-122"/>
                <a:cs typeface="Calibri" pitchFamily="34" charset="-120"/>
              </a:rPr>
              <a:t>registra contratos y pagos</a:t>
            </a:r>
            <a:endParaRPr lang="en-US" sz="1400" dirty="0"/>
          </a:p>
        </p:txBody>
      </p:sp>
      <p:sp>
        <p:nvSpPr>
          <p:cNvPr id="31" name="Rol Administrador"/>
          <p:cNvSpPr/>
          <p:nvPr/>
        </p:nvSpPr>
        <p:spPr>
          <a:xfrm>
            <a:off x="4663440" y="3977640"/>
            <a:ext cx="4023360" cy="640080"/>
          </a:xfrm>
          <a:prstGeom prst="roundRect">
            <a:avLst>
              <a:gd name="adj" fmla="val 14286"/>
            </a:avLst>
          </a:prstGeom>
          <a:solidFill>
            <a:schemeClr val="accent6"/>
          </a:solidFill>
          <a:ln/>
        </p:spPr>
        <p:txBody>
          <a:bodyPr/>
          <a:lstStyle/>
          <a:p>
            <a:endParaRPr lang="es-PE"/>
          </a:p>
        </p:txBody>
      </p:sp>
      <p:pic>
        <p:nvPicPr>
          <p:cNvPr id="32" name="Icono Administrador" descr="Administrador"/>
          <p:cNvPicPr>
            <a:picLocks noChangeAspect="1"/>
          </p:cNvPicPr>
          <p:nvPr/>
        </p:nvPicPr>
        <p:blipFill>
          <a:blip r:embed="rId4"/>
          <a:stretch>
            <a:fillRect/>
          </a:stretch>
        </p:blipFill>
        <p:spPr>
          <a:xfrm>
            <a:off x="4846320" y="4114800"/>
            <a:ext cx="365760" cy="365760"/>
          </a:xfrm>
          <a:prstGeom prst="rect">
            <a:avLst/>
          </a:prstGeom>
        </p:spPr>
      </p:pic>
      <p:sp>
        <p:nvSpPr>
          <p:cNvPr id="33" name="Texto Administrador"/>
          <p:cNvSpPr txBox="1"/>
          <p:nvPr/>
        </p:nvSpPr>
        <p:spPr>
          <a:xfrm>
            <a:off x="5349240" y="3977640"/>
            <a:ext cx="3246120" cy="640080"/>
          </a:xfrm>
          <a:prstGeom prst="rect">
            <a:avLst/>
          </a:prstGeom>
          <a:noFill/>
          <a:ln/>
        </p:spPr>
        <p:txBody>
          <a:bodyPr wrap="square" lIns="0" tIns="0" rIns="0" bIns="0" rtlCol="0" anchor="ctr"/>
          <a:lstStyle/>
          <a:p>
            <a:pPr marL="0" indent="0">
              <a:buNone/>
            </a:pPr>
            <a:r>
              <a:rPr lang="en-US" sz="1400" b="1" dirty="0">
                <a:solidFill>
                  <a:schemeClr val="tx2"/>
                </a:solidFill>
                <a:latin typeface="Calibri" pitchFamily="34" charset="0"/>
                <a:ea typeface="Calibri" pitchFamily="34" charset="-122"/>
                <a:cs typeface="Calibri" pitchFamily="34" charset="-120"/>
              </a:rPr>
              <a:t>Administrador: </a:t>
            </a:r>
            <a:r>
              <a:rPr lang="en-US" sz="1400" dirty="0">
                <a:solidFill>
                  <a:schemeClr val="tx2"/>
                </a:solidFill>
                <a:latin typeface="Calibri" pitchFamily="34" charset="0"/>
                <a:ea typeface="Calibri" pitchFamily="34" charset="-122"/>
                <a:cs typeface="Calibri" pitchFamily="34" charset="-120"/>
              </a:rPr>
              <a:t>autoriza, anula y administra</a:t>
            </a:r>
            <a:endParaRPr lang="en-US" sz="1400" dirty="0"/>
          </a:p>
        </p:txBody>
      </p:sp>
      <p:sp>
        <p:nvSpPr>
          <p:cNvPr id="34"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74320"/>
            <a:ext cx="7589520" cy="731520"/>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Primero especificamos</a:t>
            </a:r>
            <a:endParaRPr lang="en-US" sz="3000" dirty="0"/>
          </a:p>
        </p:txBody>
      </p:sp>
      <p:sp>
        <p:nvSpPr>
          <p:cNvPr id="3" name="Cifra 1"/>
          <p:cNvSpPr/>
          <p:nvPr/>
        </p:nvSpPr>
        <p:spPr>
          <a:xfrm>
            <a:off x="457200" y="1234440"/>
            <a:ext cx="2560320" cy="2103120"/>
          </a:xfrm>
          <a:prstGeom prst="roundRect">
            <a:avLst>
              <a:gd name="adj" fmla="val 4348"/>
            </a:avLst>
          </a:prstGeom>
          <a:solidFill>
            <a:schemeClr val="bg2"/>
          </a:solidFill>
          <a:ln w="12700">
            <a:solidFill>
              <a:srgbClr val="DCE4EA"/>
            </a:solidFill>
            <a:prstDash val="solid"/>
          </a:ln>
        </p:spPr>
        <p:txBody>
          <a:bodyPr/>
          <a:lstStyle/>
          <a:p>
            <a:endParaRPr lang="es-PE"/>
          </a:p>
        </p:txBody>
      </p:sp>
      <p:sp>
        <p:nvSpPr>
          <p:cNvPr id="4" name="Número 22"/>
          <p:cNvSpPr txBox="1"/>
          <p:nvPr/>
        </p:nvSpPr>
        <p:spPr>
          <a:xfrm>
            <a:off x="640080" y="1325880"/>
            <a:ext cx="2194560" cy="868680"/>
          </a:xfrm>
          <a:prstGeom prst="rect">
            <a:avLst/>
          </a:prstGeom>
          <a:noFill/>
          <a:ln/>
        </p:spPr>
        <p:txBody>
          <a:bodyPr wrap="square" lIns="0" tIns="0" rIns="0" bIns="0" rtlCol="0" anchor="ctr"/>
          <a:lstStyle/>
          <a:p>
            <a:pPr marL="0" indent="0">
              <a:buNone/>
            </a:pPr>
            <a:r>
              <a:rPr lang="en-US" sz="5400" b="1" dirty="0">
                <a:solidFill>
                  <a:schemeClr val="accent1"/>
                </a:solidFill>
                <a:latin typeface="Cambria" pitchFamily="34" charset="0"/>
                <a:ea typeface="Cambria" pitchFamily="34" charset="-122"/>
                <a:cs typeface="Cambria" pitchFamily="34" charset="-120"/>
              </a:rPr>
              <a:t>22</a:t>
            </a:r>
            <a:endParaRPr lang="en-US" sz="5400" dirty="0"/>
          </a:p>
        </p:txBody>
      </p:sp>
      <p:sp>
        <p:nvSpPr>
          <p:cNvPr id="5" name="Etiqueta 22"/>
          <p:cNvSpPr txBox="1"/>
          <p:nvPr/>
        </p:nvSpPr>
        <p:spPr>
          <a:xfrm>
            <a:off x="640080" y="2194560"/>
            <a:ext cx="2194560" cy="502920"/>
          </a:xfrm>
          <a:prstGeom prst="rect">
            <a:avLst/>
          </a:prstGeom>
          <a:noFill/>
          <a:ln/>
        </p:spPr>
        <p:txBody>
          <a:bodyPr wrap="square" lIns="0" tIns="0" rIns="0" bIns="0" rtlCol="0" anchor="t"/>
          <a:lstStyle/>
          <a:p>
            <a:pPr marL="0" indent="0">
              <a:buNone/>
            </a:pPr>
            <a:r>
              <a:rPr lang="en-US" sz="1600" b="1" dirty="0">
                <a:solidFill>
                  <a:schemeClr val="tx2"/>
                </a:solidFill>
                <a:latin typeface="Calibri" pitchFamily="34" charset="0"/>
                <a:ea typeface="Calibri" pitchFamily="34" charset="-122"/>
                <a:cs typeface="Calibri" pitchFamily="34" charset="-120"/>
              </a:rPr>
              <a:t>funciones del sistema</a:t>
            </a:r>
            <a:endParaRPr lang="en-US" sz="1600" dirty="0"/>
          </a:p>
        </p:txBody>
      </p:sp>
      <p:sp>
        <p:nvSpPr>
          <p:cNvPr id="6" name="Detalle 22"/>
          <p:cNvSpPr txBox="1"/>
          <p:nvPr/>
        </p:nvSpPr>
        <p:spPr>
          <a:xfrm>
            <a:off x="640080" y="2697480"/>
            <a:ext cx="2194560" cy="548640"/>
          </a:xfrm>
          <a:prstGeom prst="rect">
            <a:avLst/>
          </a:prstGeom>
          <a:noFill/>
          <a:ln/>
        </p:spPr>
        <p:txBody>
          <a:bodyPr wrap="square" lIns="0" tIns="0" rIns="0" bIns="0" rtlCol="0" anchor="t"/>
          <a:lstStyle/>
          <a:p>
            <a:pPr marL="0" indent="0">
              <a:buNone/>
            </a:pPr>
            <a:r>
              <a:rPr lang="en-US" sz="1400" dirty="0">
                <a:solidFill>
                  <a:schemeClr val="tx1"/>
                </a:solidFill>
                <a:latin typeface="Calibri" pitchFamily="34" charset="0"/>
                <a:ea typeface="Calibri" pitchFamily="34" charset="-122"/>
                <a:cs typeface="Calibri" pitchFamily="34" charset="-120"/>
              </a:rPr>
              <a:t>Requisitos funcionales</a:t>
            </a:r>
            <a:endParaRPr lang="en-US" sz="1400" dirty="0"/>
          </a:p>
        </p:txBody>
      </p:sp>
      <p:sp>
        <p:nvSpPr>
          <p:cNvPr id="7" name="Cifra 2"/>
          <p:cNvSpPr/>
          <p:nvPr/>
        </p:nvSpPr>
        <p:spPr>
          <a:xfrm>
            <a:off x="3291840" y="1234440"/>
            <a:ext cx="2560320" cy="2103120"/>
          </a:xfrm>
          <a:prstGeom prst="roundRect">
            <a:avLst>
              <a:gd name="adj" fmla="val 4348"/>
            </a:avLst>
          </a:prstGeom>
          <a:solidFill>
            <a:schemeClr val="bg2"/>
          </a:solidFill>
          <a:ln w="12700">
            <a:solidFill>
              <a:srgbClr val="DCE4EA"/>
            </a:solidFill>
            <a:prstDash val="solid"/>
          </a:ln>
        </p:spPr>
        <p:txBody>
          <a:bodyPr/>
          <a:lstStyle/>
          <a:p>
            <a:endParaRPr lang="es-PE"/>
          </a:p>
        </p:txBody>
      </p:sp>
      <p:sp>
        <p:nvSpPr>
          <p:cNvPr id="8" name="Número 15"/>
          <p:cNvSpPr txBox="1"/>
          <p:nvPr/>
        </p:nvSpPr>
        <p:spPr>
          <a:xfrm>
            <a:off x="3474720" y="1325880"/>
            <a:ext cx="2194560" cy="868680"/>
          </a:xfrm>
          <a:prstGeom prst="rect">
            <a:avLst/>
          </a:prstGeom>
          <a:noFill/>
          <a:ln/>
        </p:spPr>
        <p:txBody>
          <a:bodyPr wrap="square" lIns="0" tIns="0" rIns="0" bIns="0" rtlCol="0" anchor="ctr"/>
          <a:lstStyle/>
          <a:p>
            <a:pPr marL="0" indent="0">
              <a:buNone/>
            </a:pPr>
            <a:r>
              <a:rPr lang="en-US" sz="5400" b="1" dirty="0">
                <a:solidFill>
                  <a:schemeClr val="accent1"/>
                </a:solidFill>
                <a:latin typeface="Cambria" pitchFamily="34" charset="0"/>
                <a:ea typeface="Cambria" pitchFamily="34" charset="-122"/>
                <a:cs typeface="Cambria" pitchFamily="34" charset="-120"/>
              </a:rPr>
              <a:t>15</a:t>
            </a:r>
            <a:endParaRPr lang="en-US" sz="5400" dirty="0"/>
          </a:p>
        </p:txBody>
      </p:sp>
      <p:sp>
        <p:nvSpPr>
          <p:cNvPr id="9" name="Etiqueta 15"/>
          <p:cNvSpPr txBox="1"/>
          <p:nvPr/>
        </p:nvSpPr>
        <p:spPr>
          <a:xfrm>
            <a:off x="3474720" y="2194560"/>
            <a:ext cx="2194560" cy="502920"/>
          </a:xfrm>
          <a:prstGeom prst="rect">
            <a:avLst/>
          </a:prstGeom>
          <a:noFill/>
          <a:ln/>
        </p:spPr>
        <p:txBody>
          <a:bodyPr wrap="square" lIns="0" tIns="0" rIns="0" bIns="0" rtlCol="0" anchor="t"/>
          <a:lstStyle/>
          <a:p>
            <a:pPr marL="0" indent="0">
              <a:buNone/>
            </a:pPr>
            <a:r>
              <a:rPr lang="en-US" sz="1600" b="1" dirty="0">
                <a:solidFill>
                  <a:schemeClr val="tx2"/>
                </a:solidFill>
                <a:latin typeface="Calibri" pitchFamily="34" charset="0"/>
                <a:ea typeface="Calibri" pitchFamily="34" charset="-122"/>
                <a:cs typeface="Calibri" pitchFamily="34" charset="-120"/>
              </a:rPr>
              <a:t>reglas del negocio</a:t>
            </a:r>
            <a:endParaRPr lang="en-US" sz="1600" dirty="0"/>
          </a:p>
        </p:txBody>
      </p:sp>
      <p:sp>
        <p:nvSpPr>
          <p:cNvPr id="10" name="Detalle 15"/>
          <p:cNvSpPr txBox="1"/>
          <p:nvPr/>
        </p:nvSpPr>
        <p:spPr>
          <a:xfrm>
            <a:off x="3474720" y="2697480"/>
            <a:ext cx="2194560" cy="548640"/>
          </a:xfrm>
          <a:prstGeom prst="rect">
            <a:avLst/>
          </a:prstGeom>
          <a:noFill/>
          <a:ln/>
        </p:spPr>
        <p:txBody>
          <a:bodyPr wrap="square" lIns="0" tIns="0" rIns="0" bIns="0" rtlCol="0" anchor="t"/>
          <a:lstStyle/>
          <a:p>
            <a:pPr marL="0" indent="0">
              <a:buNone/>
            </a:pPr>
            <a:r>
              <a:rPr lang="en-US" sz="1400" dirty="0">
                <a:solidFill>
                  <a:schemeClr val="tx1"/>
                </a:solidFill>
                <a:latin typeface="Calibri" pitchFamily="34" charset="0"/>
                <a:ea typeface="Calibri" pitchFamily="34" charset="-122"/>
                <a:cs typeface="Calibri" pitchFamily="34" charset="-120"/>
              </a:rPr>
              <a:t>Por ejemplo: un pago no puede superar la deuda</a:t>
            </a:r>
            <a:endParaRPr lang="en-US" sz="1400" dirty="0"/>
          </a:p>
        </p:txBody>
      </p:sp>
      <p:sp>
        <p:nvSpPr>
          <p:cNvPr id="11" name="Cifra 3"/>
          <p:cNvSpPr/>
          <p:nvPr/>
        </p:nvSpPr>
        <p:spPr>
          <a:xfrm>
            <a:off x="6126480" y="1234440"/>
            <a:ext cx="2560320" cy="2103120"/>
          </a:xfrm>
          <a:prstGeom prst="roundRect">
            <a:avLst>
              <a:gd name="adj" fmla="val 4348"/>
            </a:avLst>
          </a:prstGeom>
          <a:solidFill>
            <a:schemeClr val="bg2"/>
          </a:solidFill>
          <a:ln w="12700">
            <a:solidFill>
              <a:srgbClr val="DCE4EA"/>
            </a:solidFill>
            <a:prstDash val="solid"/>
          </a:ln>
        </p:spPr>
        <p:txBody>
          <a:bodyPr/>
          <a:lstStyle/>
          <a:p>
            <a:endParaRPr lang="es-PE"/>
          </a:p>
        </p:txBody>
      </p:sp>
      <p:sp>
        <p:nvSpPr>
          <p:cNvPr id="12" name="Número 8"/>
          <p:cNvSpPr txBox="1"/>
          <p:nvPr/>
        </p:nvSpPr>
        <p:spPr>
          <a:xfrm>
            <a:off x="6309360" y="1325880"/>
            <a:ext cx="2194560" cy="868680"/>
          </a:xfrm>
          <a:prstGeom prst="rect">
            <a:avLst/>
          </a:prstGeom>
          <a:noFill/>
          <a:ln/>
        </p:spPr>
        <p:txBody>
          <a:bodyPr wrap="square" lIns="0" tIns="0" rIns="0" bIns="0" rtlCol="0" anchor="ctr"/>
          <a:lstStyle/>
          <a:p>
            <a:pPr marL="0" indent="0">
              <a:buNone/>
            </a:pPr>
            <a:r>
              <a:rPr lang="en-US" sz="5400" b="1" dirty="0">
                <a:solidFill>
                  <a:schemeClr val="accent1"/>
                </a:solidFill>
                <a:latin typeface="Cambria" pitchFamily="34" charset="0"/>
                <a:ea typeface="Cambria" pitchFamily="34" charset="-122"/>
                <a:cs typeface="Cambria" pitchFamily="34" charset="-120"/>
              </a:rPr>
              <a:t>8</a:t>
            </a:r>
            <a:endParaRPr lang="en-US" sz="5400" dirty="0"/>
          </a:p>
        </p:txBody>
      </p:sp>
      <p:sp>
        <p:nvSpPr>
          <p:cNvPr id="13" name="Etiqueta 8"/>
          <p:cNvSpPr txBox="1"/>
          <p:nvPr/>
        </p:nvSpPr>
        <p:spPr>
          <a:xfrm>
            <a:off x="6309360" y="2194560"/>
            <a:ext cx="2194560" cy="502920"/>
          </a:xfrm>
          <a:prstGeom prst="rect">
            <a:avLst/>
          </a:prstGeom>
          <a:noFill/>
          <a:ln/>
        </p:spPr>
        <p:txBody>
          <a:bodyPr wrap="square" lIns="0" tIns="0" rIns="0" bIns="0" rtlCol="0" anchor="t"/>
          <a:lstStyle/>
          <a:p>
            <a:pPr marL="0" indent="0">
              <a:buNone/>
            </a:pPr>
            <a:r>
              <a:rPr lang="en-US" sz="1600" b="1" dirty="0">
                <a:solidFill>
                  <a:schemeClr val="tx2"/>
                </a:solidFill>
                <a:latin typeface="Calibri" pitchFamily="34" charset="0"/>
                <a:ea typeface="Calibri" pitchFamily="34" charset="-122"/>
                <a:cs typeface="Calibri" pitchFamily="34" charset="-120"/>
              </a:rPr>
              <a:t>condiciones de calidad</a:t>
            </a:r>
            <a:endParaRPr lang="en-US" sz="1600" dirty="0"/>
          </a:p>
        </p:txBody>
      </p:sp>
      <p:sp>
        <p:nvSpPr>
          <p:cNvPr id="14" name="Detalle 8"/>
          <p:cNvSpPr txBox="1"/>
          <p:nvPr/>
        </p:nvSpPr>
        <p:spPr>
          <a:xfrm>
            <a:off x="6309360" y="2697480"/>
            <a:ext cx="2194560" cy="548640"/>
          </a:xfrm>
          <a:prstGeom prst="rect">
            <a:avLst/>
          </a:prstGeom>
          <a:noFill/>
          <a:ln/>
        </p:spPr>
        <p:txBody>
          <a:bodyPr wrap="square" lIns="0" tIns="0" rIns="0" bIns="0" rtlCol="0" anchor="t"/>
          <a:lstStyle/>
          <a:p>
            <a:pPr marL="0" indent="0">
              <a:buNone/>
            </a:pPr>
            <a:r>
              <a:rPr lang="en-US" sz="1400" dirty="0">
                <a:solidFill>
                  <a:schemeClr val="tx1"/>
                </a:solidFill>
                <a:latin typeface="Calibri" pitchFamily="34" charset="0"/>
                <a:ea typeface="Calibri" pitchFamily="34" charset="-122"/>
                <a:cs typeface="Calibri" pitchFamily="34" charset="-120"/>
              </a:rPr>
              <a:t>Seguridad, errores, instalación...</a:t>
            </a:r>
            <a:endParaRPr lang="en-US" sz="1400" dirty="0"/>
          </a:p>
        </p:txBody>
      </p:sp>
      <p:sp>
        <p:nvSpPr>
          <p:cNvPr id="15" name="Mensaje SDD"/>
          <p:cNvSpPr/>
          <p:nvPr/>
        </p:nvSpPr>
        <p:spPr>
          <a:xfrm>
            <a:off x="457200" y="3520440"/>
            <a:ext cx="8229600" cy="1097280"/>
          </a:xfrm>
          <a:prstGeom prst="roundRect">
            <a:avLst>
              <a:gd name="adj" fmla="val 8333"/>
            </a:avLst>
          </a:prstGeom>
          <a:solidFill>
            <a:schemeClr val="accent6"/>
          </a:solidFill>
          <a:ln/>
        </p:spPr>
        <p:txBody>
          <a:bodyPr/>
          <a:lstStyle/>
          <a:p>
            <a:endParaRPr lang="es-PE"/>
          </a:p>
        </p:txBody>
      </p:sp>
      <p:pic>
        <p:nvPicPr>
          <p:cNvPr id="16" name="Icono especificación" descr="Lista de verificación"/>
          <p:cNvPicPr>
            <a:picLocks noChangeAspect="1"/>
          </p:cNvPicPr>
          <p:nvPr/>
        </p:nvPicPr>
        <p:blipFill>
          <a:blip r:embed="rId3"/>
          <a:stretch>
            <a:fillRect/>
          </a:stretch>
        </p:blipFill>
        <p:spPr>
          <a:xfrm>
            <a:off x="731520" y="3794760"/>
            <a:ext cx="548640" cy="548640"/>
          </a:xfrm>
          <a:prstGeom prst="rect">
            <a:avLst/>
          </a:prstGeom>
        </p:spPr>
      </p:pic>
      <p:sp>
        <p:nvSpPr>
          <p:cNvPr id="17" name="Texto SDD"/>
          <p:cNvSpPr txBox="1"/>
          <p:nvPr/>
        </p:nvSpPr>
        <p:spPr>
          <a:xfrm>
            <a:off x="1554480" y="3520440"/>
            <a:ext cx="6949440" cy="1097280"/>
          </a:xfrm>
          <a:prstGeom prst="rect">
            <a:avLst/>
          </a:prstGeom>
          <a:noFill/>
          <a:ln/>
        </p:spPr>
        <p:txBody>
          <a:bodyPr wrap="square" lIns="0" tIns="0" rIns="0" bIns="0" rtlCol="0" anchor="ctr"/>
          <a:lstStyle/>
          <a:p>
            <a:pPr marL="0" indent="0">
              <a:buNone/>
            </a:pPr>
            <a:r>
              <a:rPr lang="en-US" sz="1600" dirty="0">
                <a:solidFill>
                  <a:schemeClr val="tx2"/>
                </a:solidFill>
                <a:latin typeface="Calibri" pitchFamily="34" charset="0"/>
                <a:ea typeface="Calibri" pitchFamily="34" charset="-122"/>
                <a:cs typeface="Calibri" pitchFamily="34" charset="-120"/>
              </a:rPr>
              <a:t>Cada punto tiene un código y una prueba que lo comprueba. No programamos a partir de pedidos sueltos: primero se escribió qué debía hacer el sistema.</a:t>
            </a:r>
            <a:endParaRPr lang="en-US" sz="16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74320"/>
            <a:ext cx="7589520" cy="731520"/>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Arquitectura en capas</a:t>
            </a:r>
            <a:endParaRPr lang="en-US" sz="3000" dirty="0"/>
          </a:p>
        </p:txBody>
      </p:sp>
      <p:sp>
        <p:nvSpPr>
          <p:cNvPr id="3" name="Capa Pantallas web"/>
          <p:cNvSpPr/>
          <p:nvPr/>
        </p:nvSpPr>
        <p:spPr>
          <a:xfrm>
            <a:off x="457200" y="1188720"/>
            <a:ext cx="3657600" cy="548640"/>
          </a:xfrm>
          <a:prstGeom prst="roundRect">
            <a:avLst>
              <a:gd name="adj" fmla="val 13333"/>
            </a:avLst>
          </a:prstGeom>
          <a:solidFill>
            <a:schemeClr val="accent6"/>
          </a:solidFill>
          <a:ln/>
        </p:spPr>
        <p:txBody>
          <a:bodyPr/>
          <a:lstStyle/>
          <a:p>
            <a:endParaRPr lang="es-PE"/>
          </a:p>
        </p:txBody>
      </p:sp>
      <p:sp>
        <p:nvSpPr>
          <p:cNvPr id="4" name="Texto capa Pantallas web"/>
          <p:cNvSpPr txBox="1"/>
          <p:nvPr/>
        </p:nvSpPr>
        <p:spPr>
          <a:xfrm>
            <a:off x="640080" y="1188720"/>
            <a:ext cx="3291840" cy="548640"/>
          </a:xfrm>
          <a:prstGeom prst="rect">
            <a:avLst/>
          </a:prstGeom>
          <a:noFill/>
          <a:ln/>
        </p:spPr>
        <p:txBody>
          <a:bodyPr wrap="square" lIns="0" tIns="0" rIns="0" bIns="0" rtlCol="0" anchor="ctr"/>
          <a:lstStyle/>
          <a:p>
            <a:pPr marL="0" indent="0">
              <a:buNone/>
            </a:pPr>
            <a:r>
              <a:rPr lang="en-US" sz="1400" b="1" dirty="0">
                <a:solidFill>
                  <a:schemeClr val="tx2"/>
                </a:solidFill>
                <a:latin typeface="Calibri" pitchFamily="34" charset="0"/>
                <a:ea typeface="Calibri" pitchFamily="34" charset="-122"/>
                <a:cs typeface="Calibri" pitchFamily="34" charset="-120"/>
              </a:rPr>
              <a:t>Frontend</a:t>
            </a:r>
            <a:endParaRPr lang="en-US" sz="1400" dirty="0"/>
          </a:p>
          <a:p>
            <a:pPr marL="0" indent="0">
              <a:buNone/>
            </a:pPr>
            <a:r>
              <a:rPr lang="en-US" sz="1200" dirty="0">
                <a:solidFill>
                  <a:schemeClr val="tx2"/>
                </a:solidFill>
                <a:latin typeface="Calibri" pitchFamily="34" charset="0"/>
                <a:ea typeface="Calibri" pitchFamily="34" charset="-122"/>
                <a:cs typeface="Calibri" pitchFamily="34" charset="-120"/>
              </a:rPr>
              <a:t>Angular 21</a:t>
            </a:r>
            <a:endParaRPr lang="en-US" sz="1400" dirty="0"/>
          </a:p>
        </p:txBody>
      </p:sp>
      <p:sp>
        <p:nvSpPr>
          <p:cNvPr id="5" name="Capa Puerta de entrada"/>
          <p:cNvSpPr/>
          <p:nvPr/>
        </p:nvSpPr>
        <p:spPr>
          <a:xfrm>
            <a:off x="457200" y="1865376"/>
            <a:ext cx="3657600" cy="548640"/>
          </a:xfrm>
          <a:prstGeom prst="roundRect">
            <a:avLst>
              <a:gd name="adj" fmla="val 13333"/>
            </a:avLst>
          </a:prstGeom>
          <a:solidFill>
            <a:schemeClr val="accent5"/>
          </a:solidFill>
          <a:ln/>
        </p:spPr>
        <p:txBody>
          <a:bodyPr/>
          <a:lstStyle/>
          <a:p>
            <a:endParaRPr lang="es-PE"/>
          </a:p>
        </p:txBody>
      </p:sp>
      <p:sp>
        <p:nvSpPr>
          <p:cNvPr id="6" name="Texto capa Puerta de entrada"/>
          <p:cNvSpPr txBox="1"/>
          <p:nvPr/>
        </p:nvSpPr>
        <p:spPr>
          <a:xfrm>
            <a:off x="640080" y="1865376"/>
            <a:ext cx="3291840" cy="548640"/>
          </a:xfrm>
          <a:prstGeom prst="rect">
            <a:avLst/>
          </a:prstGeom>
          <a:noFill/>
          <a:ln/>
        </p:spPr>
        <p:txBody>
          <a:bodyPr wrap="square" lIns="0" tIns="0" rIns="0" bIns="0" rtlCol="0" anchor="ctr"/>
          <a:lstStyle/>
          <a:p>
            <a:pPr marL="0" indent="0">
              <a:buNone/>
            </a:pPr>
            <a:r>
              <a:rPr lang="en-US" sz="1400" b="1" dirty="0">
                <a:solidFill>
                  <a:schemeClr val="tx2"/>
                </a:solidFill>
                <a:latin typeface="Calibri" pitchFamily="34" charset="0"/>
                <a:ea typeface="Calibri" pitchFamily="34" charset="-122"/>
                <a:cs typeface="Calibri" pitchFamily="34" charset="-120"/>
              </a:rPr>
              <a:t>Backend</a:t>
            </a:r>
            <a:endParaRPr lang="en-US" sz="1400" dirty="0"/>
          </a:p>
          <a:p>
            <a:pPr marL="0" indent="0">
              <a:buNone/>
            </a:pPr>
            <a:r>
              <a:rPr lang="en-US" sz="1200" dirty="0">
                <a:solidFill>
                  <a:schemeClr val="tx2"/>
                </a:solidFill>
                <a:latin typeface="Calibri" pitchFamily="34" charset="0"/>
                <a:ea typeface="Calibri" pitchFamily="34" charset="-122"/>
                <a:cs typeface="Calibri" pitchFamily="34" charset="-120"/>
              </a:rPr>
              <a:t>API (Controller’s) </a:t>
            </a:r>
            <a:r>
              <a:rPr lang="en-US" sz="1200" dirty="0" err="1">
                <a:solidFill>
                  <a:schemeClr val="tx2"/>
                </a:solidFill>
                <a:latin typeface="Calibri" pitchFamily="34" charset="0"/>
                <a:ea typeface="Calibri" pitchFamily="34" charset="-122"/>
                <a:cs typeface="Calibri" pitchFamily="34" charset="-120"/>
              </a:rPr>
              <a:t>en</a:t>
            </a:r>
            <a:r>
              <a:rPr lang="en-US" sz="1200" dirty="0">
                <a:solidFill>
                  <a:schemeClr val="tx2"/>
                </a:solidFill>
                <a:latin typeface="Calibri" pitchFamily="34" charset="0"/>
                <a:ea typeface="Calibri" pitchFamily="34" charset="-122"/>
                <a:cs typeface="Calibri" pitchFamily="34" charset="-120"/>
              </a:rPr>
              <a:t> .NET 10</a:t>
            </a:r>
            <a:endParaRPr lang="en-US" sz="1400" dirty="0"/>
          </a:p>
        </p:txBody>
      </p:sp>
      <p:sp>
        <p:nvSpPr>
          <p:cNvPr id="7" name="Capa Reglas del negocio"/>
          <p:cNvSpPr/>
          <p:nvPr/>
        </p:nvSpPr>
        <p:spPr>
          <a:xfrm>
            <a:off x="457200" y="2542032"/>
            <a:ext cx="3657600" cy="548640"/>
          </a:xfrm>
          <a:prstGeom prst="roundRect">
            <a:avLst>
              <a:gd name="adj" fmla="val 13333"/>
            </a:avLst>
          </a:prstGeom>
          <a:solidFill>
            <a:schemeClr val="accent2"/>
          </a:solidFill>
          <a:ln/>
        </p:spPr>
        <p:txBody>
          <a:bodyPr/>
          <a:lstStyle/>
          <a:p>
            <a:endParaRPr lang="es-PE"/>
          </a:p>
        </p:txBody>
      </p:sp>
      <p:sp>
        <p:nvSpPr>
          <p:cNvPr id="8" name="Texto capa Reglas del negocio"/>
          <p:cNvSpPr txBox="1"/>
          <p:nvPr/>
        </p:nvSpPr>
        <p:spPr>
          <a:xfrm>
            <a:off x="640080" y="2542032"/>
            <a:ext cx="3291840" cy="548640"/>
          </a:xfrm>
          <a:prstGeom prst="rect">
            <a:avLst/>
          </a:prstGeom>
          <a:noFill/>
          <a:ln/>
        </p:spPr>
        <p:txBody>
          <a:bodyPr wrap="square" lIns="0" tIns="0" rIns="0" bIns="0" rtlCol="0" anchor="ctr"/>
          <a:lstStyle/>
          <a:p>
            <a:pPr marL="0" indent="0">
              <a:buNone/>
            </a:pPr>
            <a:r>
              <a:rPr lang="en-US" sz="1400" b="1" dirty="0">
                <a:solidFill>
                  <a:schemeClr val="bg1"/>
                </a:solidFill>
                <a:latin typeface="Calibri" pitchFamily="34" charset="0"/>
                <a:ea typeface="Calibri" pitchFamily="34" charset="-122"/>
                <a:cs typeface="Calibri" pitchFamily="34" charset="-120"/>
              </a:rPr>
              <a:t>Reglas del negocio</a:t>
            </a:r>
            <a:endParaRPr lang="en-US" sz="1400" dirty="0"/>
          </a:p>
          <a:p>
            <a:pPr marL="0" indent="0">
              <a:buNone/>
            </a:pPr>
            <a:r>
              <a:rPr lang="en-US" sz="1200" dirty="0">
                <a:solidFill>
                  <a:schemeClr val="bg1"/>
                </a:solidFill>
                <a:latin typeface="Calibri" pitchFamily="34" charset="0"/>
                <a:ea typeface="Calibri" pitchFamily="34" charset="-122"/>
                <a:cs typeface="Calibri" pitchFamily="34" charset="-120"/>
              </a:rPr>
              <a:t>lo que se puede y no se puede hacer</a:t>
            </a:r>
            <a:endParaRPr lang="en-US" sz="1400" dirty="0"/>
          </a:p>
        </p:txBody>
      </p:sp>
      <p:sp>
        <p:nvSpPr>
          <p:cNvPr id="9" name="Capa Acceso a datos"/>
          <p:cNvSpPr/>
          <p:nvPr/>
        </p:nvSpPr>
        <p:spPr>
          <a:xfrm>
            <a:off x="457200" y="3218688"/>
            <a:ext cx="3657600" cy="548640"/>
          </a:xfrm>
          <a:prstGeom prst="roundRect">
            <a:avLst>
              <a:gd name="adj" fmla="val 13333"/>
            </a:avLst>
          </a:prstGeom>
          <a:solidFill>
            <a:schemeClr val="accent1"/>
          </a:solidFill>
          <a:ln/>
        </p:spPr>
        <p:txBody>
          <a:bodyPr/>
          <a:lstStyle/>
          <a:p>
            <a:endParaRPr lang="es-PE"/>
          </a:p>
        </p:txBody>
      </p:sp>
      <p:sp>
        <p:nvSpPr>
          <p:cNvPr id="10" name="Texto capa Acceso a datos"/>
          <p:cNvSpPr txBox="1"/>
          <p:nvPr/>
        </p:nvSpPr>
        <p:spPr>
          <a:xfrm>
            <a:off x="640080" y="3218688"/>
            <a:ext cx="3291840" cy="548640"/>
          </a:xfrm>
          <a:prstGeom prst="rect">
            <a:avLst/>
          </a:prstGeom>
          <a:noFill/>
          <a:ln/>
        </p:spPr>
        <p:txBody>
          <a:bodyPr wrap="square" lIns="0" tIns="0" rIns="0" bIns="0" rtlCol="0" anchor="ctr"/>
          <a:lstStyle/>
          <a:p>
            <a:pPr marL="0" indent="0">
              <a:buNone/>
            </a:pPr>
            <a:r>
              <a:rPr lang="en-US" sz="1400" b="1" dirty="0">
                <a:solidFill>
                  <a:schemeClr val="bg1"/>
                </a:solidFill>
                <a:latin typeface="Calibri" pitchFamily="34" charset="0"/>
                <a:ea typeface="Calibri" pitchFamily="34" charset="-122"/>
                <a:cs typeface="Calibri" pitchFamily="34" charset="-120"/>
              </a:rPr>
              <a:t>Acceso a datos</a:t>
            </a:r>
            <a:endParaRPr lang="en-US" sz="1400" dirty="0"/>
          </a:p>
          <a:p>
            <a:pPr marL="0" indent="0">
              <a:buNone/>
            </a:pPr>
            <a:r>
              <a:rPr lang="en-US" sz="1200" dirty="0">
                <a:solidFill>
                  <a:schemeClr val="bg1"/>
                </a:solidFill>
                <a:latin typeface="Calibri" pitchFamily="34" charset="0"/>
                <a:ea typeface="Calibri" pitchFamily="34" charset="-122"/>
                <a:cs typeface="Calibri" pitchFamily="34" charset="-120"/>
              </a:rPr>
              <a:t>Entity Framework</a:t>
            </a:r>
            <a:endParaRPr lang="en-US" sz="1400" dirty="0"/>
          </a:p>
        </p:txBody>
      </p:sp>
      <p:sp>
        <p:nvSpPr>
          <p:cNvPr id="11" name="Capa Base de datos"/>
          <p:cNvSpPr/>
          <p:nvPr/>
        </p:nvSpPr>
        <p:spPr>
          <a:xfrm>
            <a:off x="457200" y="3895344"/>
            <a:ext cx="3657600" cy="548640"/>
          </a:xfrm>
          <a:prstGeom prst="roundRect">
            <a:avLst>
              <a:gd name="adj" fmla="val 13333"/>
            </a:avLst>
          </a:prstGeom>
          <a:solidFill>
            <a:schemeClr val="tx2"/>
          </a:solidFill>
          <a:ln/>
        </p:spPr>
        <p:txBody>
          <a:bodyPr/>
          <a:lstStyle/>
          <a:p>
            <a:endParaRPr lang="es-PE"/>
          </a:p>
        </p:txBody>
      </p:sp>
      <p:sp>
        <p:nvSpPr>
          <p:cNvPr id="12" name="Texto capa Base de datos"/>
          <p:cNvSpPr txBox="1"/>
          <p:nvPr/>
        </p:nvSpPr>
        <p:spPr>
          <a:xfrm>
            <a:off x="640080" y="3895344"/>
            <a:ext cx="3291840" cy="548640"/>
          </a:xfrm>
          <a:prstGeom prst="rect">
            <a:avLst/>
          </a:prstGeom>
          <a:noFill/>
          <a:ln/>
        </p:spPr>
        <p:txBody>
          <a:bodyPr wrap="square" lIns="0" tIns="0" rIns="0" bIns="0" rtlCol="0" anchor="ctr"/>
          <a:lstStyle/>
          <a:p>
            <a:pPr marL="0" indent="0">
              <a:buNone/>
            </a:pPr>
            <a:r>
              <a:rPr lang="en-US" sz="1400" b="1" dirty="0">
                <a:solidFill>
                  <a:schemeClr val="bg1"/>
                </a:solidFill>
                <a:latin typeface="Calibri" pitchFamily="34" charset="0"/>
                <a:ea typeface="Calibri" pitchFamily="34" charset="-122"/>
                <a:cs typeface="Calibri" pitchFamily="34" charset="-120"/>
              </a:rPr>
              <a:t>Base de datos</a:t>
            </a:r>
            <a:endParaRPr lang="en-US" sz="1400" dirty="0"/>
          </a:p>
          <a:p>
            <a:pPr marL="0" indent="0">
              <a:buNone/>
            </a:pPr>
            <a:r>
              <a:rPr lang="en-US" sz="1200" dirty="0">
                <a:solidFill>
                  <a:schemeClr val="bg1"/>
                </a:solidFill>
                <a:latin typeface="Calibri" pitchFamily="34" charset="0"/>
                <a:ea typeface="Calibri" pitchFamily="34" charset="-122"/>
                <a:cs typeface="Calibri" pitchFamily="34" charset="-120"/>
              </a:rPr>
              <a:t>SQL Server</a:t>
            </a:r>
            <a:endParaRPr lang="en-US" sz="1400" dirty="0"/>
          </a:p>
        </p:txBody>
      </p:sp>
      <p:sp>
        <p:nvSpPr>
          <p:cNvPr id="13" name="Bloque ¿Por qué la elegimos?"/>
          <p:cNvSpPr/>
          <p:nvPr/>
        </p:nvSpPr>
        <p:spPr>
          <a:xfrm>
            <a:off x="4389120" y="1188720"/>
            <a:ext cx="4297680" cy="1609344"/>
          </a:xfrm>
          <a:prstGeom prst="roundRect">
            <a:avLst>
              <a:gd name="adj" fmla="val 5682"/>
            </a:avLst>
          </a:prstGeom>
          <a:solidFill>
            <a:schemeClr val="bg2"/>
          </a:solidFill>
          <a:ln w="12700">
            <a:solidFill>
              <a:srgbClr val="DCE4EA"/>
            </a:solidFill>
            <a:prstDash val="solid"/>
          </a:ln>
        </p:spPr>
        <p:txBody>
          <a:bodyPr/>
          <a:lstStyle/>
          <a:p>
            <a:endParaRPr lang="es-PE"/>
          </a:p>
        </p:txBody>
      </p:sp>
      <p:sp>
        <p:nvSpPr>
          <p:cNvPr id="14" name="Icono ¿Por qué la elegimos? (círculo)"/>
          <p:cNvSpPr/>
          <p:nvPr/>
        </p:nvSpPr>
        <p:spPr>
          <a:xfrm>
            <a:off x="4572000" y="1298448"/>
            <a:ext cx="411480" cy="411480"/>
          </a:xfrm>
          <a:prstGeom prst="ellipse">
            <a:avLst/>
          </a:prstGeom>
          <a:solidFill>
            <a:srgbClr val="2F6F8F"/>
          </a:solidFill>
          <a:ln/>
        </p:spPr>
        <p:txBody>
          <a:bodyPr/>
          <a:lstStyle/>
          <a:p>
            <a:endParaRPr lang="es-PE"/>
          </a:p>
        </p:txBody>
      </p:sp>
      <p:pic>
        <p:nvPicPr>
          <p:cNvPr id="15" name="Icono ¿Por qué la elegimos?" descr="Icono ¿Por qué la elegimos?"/>
          <p:cNvPicPr>
            <a:picLocks noChangeAspect="1"/>
          </p:cNvPicPr>
          <p:nvPr/>
        </p:nvPicPr>
        <p:blipFill>
          <a:blip r:embed="rId3"/>
          <a:stretch>
            <a:fillRect/>
          </a:stretch>
        </p:blipFill>
        <p:spPr>
          <a:xfrm>
            <a:off x="4674870" y="1401318"/>
            <a:ext cx="205740" cy="205740"/>
          </a:xfrm>
          <a:prstGeom prst="rect">
            <a:avLst/>
          </a:prstGeom>
        </p:spPr>
      </p:pic>
      <p:sp>
        <p:nvSpPr>
          <p:cNvPr id="16" name="Título ¿Por qué la elegimos?"/>
          <p:cNvSpPr txBox="1"/>
          <p:nvPr/>
        </p:nvSpPr>
        <p:spPr>
          <a:xfrm>
            <a:off x="5120640" y="1298448"/>
            <a:ext cx="3383280" cy="411480"/>
          </a:xfrm>
          <a:prstGeom prst="rect">
            <a:avLst/>
          </a:prstGeom>
          <a:noFill/>
          <a:ln/>
        </p:spPr>
        <p:txBody>
          <a:bodyPr wrap="square" lIns="0" tIns="0" rIns="0" bIns="0" rtlCol="0" anchor="ctr"/>
          <a:lstStyle/>
          <a:p>
            <a:pPr marL="0" indent="0">
              <a:buNone/>
            </a:pPr>
            <a:r>
              <a:rPr lang="en-US" sz="1600" b="1" dirty="0">
                <a:solidFill>
                  <a:schemeClr val="tx2"/>
                </a:solidFill>
                <a:latin typeface="Calibri" pitchFamily="34" charset="0"/>
                <a:ea typeface="Calibri" pitchFamily="34" charset="-122"/>
                <a:cs typeface="Calibri" pitchFamily="34" charset="-120"/>
              </a:rPr>
              <a:t>¿Por qué la elegimos?</a:t>
            </a:r>
            <a:endParaRPr lang="en-US" sz="1600" dirty="0"/>
          </a:p>
        </p:txBody>
      </p:sp>
      <p:sp>
        <p:nvSpPr>
          <p:cNvPr id="17" name="Lista ¿Por qué la elegimos?"/>
          <p:cNvSpPr txBox="1"/>
          <p:nvPr/>
        </p:nvSpPr>
        <p:spPr>
          <a:xfrm>
            <a:off x="4572000" y="1783080"/>
            <a:ext cx="3931920" cy="96012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latin typeface="Calibri" pitchFamily="34" charset="0"/>
                <a:ea typeface="Calibri" pitchFamily="34" charset="-122"/>
                <a:cs typeface="Calibri" pitchFamily="34" charset="-120"/>
              </a:rPr>
              <a:t>Cada parte tiene una sola tarea</a:t>
            </a:r>
            <a:endParaRPr lang="en-US" sz="1400" dirty="0"/>
          </a:p>
          <a:p>
            <a:pPr marL="342900" indent="-342900">
              <a:spcAft>
                <a:spcPts val="200"/>
              </a:spcAft>
              <a:buSzPct val="100000"/>
              <a:buChar char="•"/>
            </a:pPr>
            <a:r>
              <a:rPr lang="en-US" sz="1400" dirty="0">
                <a:solidFill>
                  <a:schemeClr val="tx1"/>
                </a:solidFill>
                <a:latin typeface="Calibri" pitchFamily="34" charset="0"/>
                <a:ea typeface="Calibri" pitchFamily="34" charset="-122"/>
                <a:cs typeface="Calibri" pitchFamily="34" charset="-120"/>
              </a:rPr>
              <a:t>Evita mezclar pantallas, reglas y datos</a:t>
            </a:r>
            <a:endParaRPr lang="en-US" sz="1400" dirty="0"/>
          </a:p>
          <a:p>
            <a:pPr marL="342900" indent="-342900">
              <a:spcAft>
                <a:spcPts val="200"/>
              </a:spcAft>
              <a:buSzPct val="100000"/>
              <a:buChar char="•"/>
            </a:pPr>
            <a:r>
              <a:rPr lang="en-US" sz="1400" dirty="0">
                <a:solidFill>
                  <a:schemeClr val="tx1"/>
                </a:solidFill>
                <a:latin typeface="Calibri" pitchFamily="34" charset="0"/>
                <a:ea typeface="Calibri" pitchFamily="34" charset="-122"/>
                <a:cs typeface="Calibri" pitchFamily="34" charset="-120"/>
              </a:rPr>
              <a:t>La API nunca toca la base de datos directo</a:t>
            </a:r>
            <a:endParaRPr lang="en-US" sz="1400" dirty="0"/>
          </a:p>
        </p:txBody>
      </p:sp>
      <p:sp>
        <p:nvSpPr>
          <p:cNvPr id="18" name="Bloque ¿Qué ganamos?"/>
          <p:cNvSpPr/>
          <p:nvPr/>
        </p:nvSpPr>
        <p:spPr>
          <a:xfrm>
            <a:off x="4389120" y="2926080"/>
            <a:ext cx="4297680" cy="1609344"/>
          </a:xfrm>
          <a:prstGeom prst="roundRect">
            <a:avLst>
              <a:gd name="adj" fmla="val 5682"/>
            </a:avLst>
          </a:prstGeom>
          <a:solidFill>
            <a:schemeClr val="bg2"/>
          </a:solidFill>
          <a:ln w="12700">
            <a:solidFill>
              <a:srgbClr val="DCE4EA"/>
            </a:solidFill>
            <a:prstDash val="solid"/>
          </a:ln>
        </p:spPr>
        <p:txBody>
          <a:bodyPr/>
          <a:lstStyle/>
          <a:p>
            <a:endParaRPr lang="es-PE"/>
          </a:p>
        </p:txBody>
      </p:sp>
      <p:sp>
        <p:nvSpPr>
          <p:cNvPr id="19" name="Icono ¿Qué ganamos? (círculo)"/>
          <p:cNvSpPr/>
          <p:nvPr/>
        </p:nvSpPr>
        <p:spPr>
          <a:xfrm>
            <a:off x="4572000" y="3035808"/>
            <a:ext cx="411480" cy="411480"/>
          </a:xfrm>
          <a:prstGeom prst="ellipse">
            <a:avLst/>
          </a:prstGeom>
          <a:solidFill>
            <a:srgbClr val="17673F"/>
          </a:solidFill>
          <a:ln/>
        </p:spPr>
        <p:txBody>
          <a:bodyPr/>
          <a:lstStyle/>
          <a:p>
            <a:endParaRPr lang="es-PE"/>
          </a:p>
        </p:txBody>
      </p:sp>
      <p:pic>
        <p:nvPicPr>
          <p:cNvPr id="20" name="Icono ¿Qué ganamos?" descr="Icono ¿Qué ganamos?"/>
          <p:cNvPicPr>
            <a:picLocks noChangeAspect="1"/>
          </p:cNvPicPr>
          <p:nvPr/>
        </p:nvPicPr>
        <p:blipFill>
          <a:blip r:embed="rId4"/>
          <a:stretch>
            <a:fillRect/>
          </a:stretch>
        </p:blipFill>
        <p:spPr>
          <a:xfrm>
            <a:off x="4674870" y="3138678"/>
            <a:ext cx="205740" cy="205740"/>
          </a:xfrm>
          <a:prstGeom prst="rect">
            <a:avLst/>
          </a:prstGeom>
        </p:spPr>
      </p:pic>
      <p:sp>
        <p:nvSpPr>
          <p:cNvPr id="21" name="Título ¿Qué ganamos?"/>
          <p:cNvSpPr txBox="1"/>
          <p:nvPr/>
        </p:nvSpPr>
        <p:spPr>
          <a:xfrm>
            <a:off x="5120640" y="3035808"/>
            <a:ext cx="3383280" cy="411480"/>
          </a:xfrm>
          <a:prstGeom prst="rect">
            <a:avLst/>
          </a:prstGeom>
          <a:noFill/>
          <a:ln/>
        </p:spPr>
        <p:txBody>
          <a:bodyPr wrap="square" lIns="0" tIns="0" rIns="0" bIns="0" rtlCol="0" anchor="ctr"/>
          <a:lstStyle/>
          <a:p>
            <a:pPr marL="0" indent="0">
              <a:buNone/>
            </a:pPr>
            <a:r>
              <a:rPr lang="en-US" sz="1600" b="1" dirty="0">
                <a:solidFill>
                  <a:schemeClr val="tx2"/>
                </a:solidFill>
                <a:latin typeface="Calibri" pitchFamily="34" charset="0"/>
                <a:ea typeface="Calibri" pitchFamily="34" charset="-122"/>
                <a:cs typeface="Calibri" pitchFamily="34" charset="-120"/>
              </a:rPr>
              <a:t>¿Qué ganamos?</a:t>
            </a:r>
            <a:endParaRPr lang="en-US" sz="1600" dirty="0"/>
          </a:p>
        </p:txBody>
      </p:sp>
      <p:sp>
        <p:nvSpPr>
          <p:cNvPr id="22" name="Lista ¿Qué ganamos?"/>
          <p:cNvSpPr txBox="1"/>
          <p:nvPr/>
        </p:nvSpPr>
        <p:spPr>
          <a:xfrm>
            <a:off x="4572000" y="3520440"/>
            <a:ext cx="3931920" cy="960120"/>
          </a:xfrm>
          <a:prstGeom prst="rect">
            <a:avLst/>
          </a:prstGeom>
          <a:noFill/>
          <a:ln/>
        </p:spPr>
        <p:txBody>
          <a:bodyPr wrap="square" lIns="0" tIns="0" rIns="0" bIns="0" rtlCol="0" anchor="t"/>
          <a:lstStyle/>
          <a:p>
            <a:pPr marL="342900" indent="-342900">
              <a:spcAft>
                <a:spcPts val="200"/>
              </a:spcAft>
              <a:buSzPct val="100000"/>
              <a:buChar char="•"/>
            </a:pPr>
            <a:r>
              <a:rPr lang="en-US" sz="1400" dirty="0">
                <a:solidFill>
                  <a:schemeClr val="tx1"/>
                </a:solidFill>
                <a:latin typeface="Calibri" pitchFamily="34" charset="0"/>
                <a:ea typeface="Calibri" pitchFamily="34" charset="-122"/>
                <a:cs typeface="Calibri" pitchFamily="34" charset="-120"/>
              </a:rPr>
              <a:t>Cada capa se prueba por separado</a:t>
            </a:r>
            <a:endParaRPr lang="en-US" sz="1400" dirty="0"/>
          </a:p>
          <a:p>
            <a:pPr marL="342900" indent="-342900">
              <a:spcAft>
                <a:spcPts val="200"/>
              </a:spcAft>
              <a:buSzPct val="100000"/>
              <a:buChar char="•"/>
            </a:pPr>
            <a:r>
              <a:rPr lang="en-US" sz="1400" dirty="0">
                <a:solidFill>
                  <a:schemeClr val="tx1"/>
                </a:solidFill>
                <a:latin typeface="Calibri" pitchFamily="34" charset="0"/>
                <a:ea typeface="Calibri" pitchFamily="34" charset="-122"/>
                <a:cs typeface="Calibri" pitchFamily="34" charset="-120"/>
              </a:rPr>
              <a:t>Un cambio no rompe el resto</a:t>
            </a:r>
            <a:endParaRPr lang="en-US" sz="1400" dirty="0"/>
          </a:p>
          <a:p>
            <a:pPr marL="342900" indent="-342900">
              <a:spcAft>
                <a:spcPts val="200"/>
              </a:spcAft>
              <a:buSzPct val="100000"/>
              <a:buChar char="•"/>
            </a:pPr>
            <a:r>
              <a:rPr lang="en-US" sz="1400" dirty="0">
                <a:solidFill>
                  <a:schemeClr val="tx1"/>
                </a:solidFill>
                <a:latin typeface="Calibri" pitchFamily="34" charset="0"/>
                <a:ea typeface="Calibri" pitchFamily="34" charset="-122"/>
                <a:cs typeface="Calibri" pitchFamily="34" charset="-120"/>
              </a:rPr>
              <a:t>Listo para crecer: la facturación electrónica ya tiene su lugar</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74320"/>
            <a:ext cx="7589520" cy="731520"/>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Decisiones técnicas clave</a:t>
            </a:r>
            <a:endParaRPr lang="en-US" sz="3000" dirty="0"/>
          </a:p>
        </p:txBody>
      </p:sp>
      <p:sp>
        <p:nvSpPr>
          <p:cNvPr id="3" name="Decisión Base de datos primero"/>
          <p:cNvSpPr/>
          <p:nvPr/>
        </p:nvSpPr>
        <p:spPr>
          <a:xfrm>
            <a:off x="457200" y="1188720"/>
            <a:ext cx="4023360" cy="1609344"/>
          </a:xfrm>
          <a:prstGeom prst="roundRect">
            <a:avLst>
              <a:gd name="adj" fmla="val 5682"/>
            </a:avLst>
          </a:prstGeom>
          <a:solidFill>
            <a:schemeClr val="bg2"/>
          </a:solidFill>
          <a:ln w="12700">
            <a:solidFill>
              <a:srgbClr val="DCE4EA"/>
            </a:solidFill>
            <a:prstDash val="solid"/>
          </a:ln>
        </p:spPr>
        <p:txBody>
          <a:bodyPr/>
          <a:lstStyle/>
          <a:p>
            <a:endParaRPr lang="es-PE"/>
          </a:p>
        </p:txBody>
      </p:sp>
      <p:sp>
        <p:nvSpPr>
          <p:cNvPr id="4" name="Icono Base de datos primero (círculo)"/>
          <p:cNvSpPr/>
          <p:nvPr/>
        </p:nvSpPr>
        <p:spPr>
          <a:xfrm>
            <a:off x="685800" y="1371600"/>
            <a:ext cx="548640" cy="548640"/>
          </a:xfrm>
          <a:prstGeom prst="ellipse">
            <a:avLst/>
          </a:prstGeom>
          <a:solidFill>
            <a:srgbClr val="DCE9F1"/>
          </a:solidFill>
          <a:ln/>
        </p:spPr>
        <p:txBody>
          <a:bodyPr/>
          <a:lstStyle/>
          <a:p>
            <a:endParaRPr lang="es-PE"/>
          </a:p>
        </p:txBody>
      </p:sp>
      <p:pic>
        <p:nvPicPr>
          <p:cNvPr id="5" name="Icono Base de datos primero" descr="Icono Base de datos primero"/>
          <p:cNvPicPr>
            <a:picLocks noChangeAspect="1"/>
          </p:cNvPicPr>
          <p:nvPr/>
        </p:nvPicPr>
        <p:blipFill>
          <a:blip r:embed="rId3"/>
          <a:stretch>
            <a:fillRect/>
          </a:stretch>
        </p:blipFill>
        <p:spPr>
          <a:xfrm>
            <a:off x="822960" y="1508760"/>
            <a:ext cx="274320" cy="274320"/>
          </a:xfrm>
          <a:prstGeom prst="rect">
            <a:avLst/>
          </a:prstGeom>
        </p:spPr>
      </p:pic>
      <p:sp>
        <p:nvSpPr>
          <p:cNvPr id="6" name="Título Base de datos primero"/>
          <p:cNvSpPr txBox="1"/>
          <p:nvPr/>
        </p:nvSpPr>
        <p:spPr>
          <a:xfrm>
            <a:off x="1417320" y="1371600"/>
            <a:ext cx="2926080" cy="548640"/>
          </a:xfrm>
          <a:prstGeom prst="rect">
            <a:avLst/>
          </a:prstGeom>
          <a:noFill/>
          <a:ln/>
        </p:spPr>
        <p:txBody>
          <a:bodyPr wrap="square" lIns="0" tIns="0" rIns="0" bIns="0" rtlCol="0" anchor="ctr"/>
          <a:lstStyle/>
          <a:p>
            <a:pPr marL="0" indent="0">
              <a:buNone/>
            </a:pPr>
            <a:r>
              <a:rPr lang="en-US" sz="1800" b="1" dirty="0">
                <a:solidFill>
                  <a:schemeClr val="tx2"/>
                </a:solidFill>
                <a:latin typeface="Calibri" pitchFamily="34" charset="0"/>
                <a:ea typeface="Calibri" pitchFamily="34" charset="-122"/>
                <a:cs typeface="Calibri" pitchFamily="34" charset="-120"/>
              </a:rPr>
              <a:t>Base de datos primero</a:t>
            </a:r>
            <a:endParaRPr lang="en-US" sz="1800" dirty="0"/>
          </a:p>
        </p:txBody>
      </p:sp>
      <p:sp>
        <p:nvSpPr>
          <p:cNvPr id="7" name="Texto Base de datos primero"/>
          <p:cNvSpPr txBox="1"/>
          <p:nvPr/>
        </p:nvSpPr>
        <p:spPr>
          <a:xfrm>
            <a:off x="685800" y="2057400"/>
            <a:ext cx="3566160" cy="640080"/>
          </a:xfrm>
          <a:prstGeom prst="rect">
            <a:avLst/>
          </a:prstGeom>
          <a:noFill/>
          <a:ln/>
        </p:spPr>
        <p:txBody>
          <a:bodyPr wrap="square" lIns="0" tIns="0" rIns="0" bIns="0" rtlCol="0" anchor="t"/>
          <a:lstStyle/>
          <a:p>
            <a:pPr marL="0" indent="0">
              <a:buNone/>
            </a:pPr>
            <a:r>
              <a:rPr lang="en-US" sz="1400" dirty="0">
                <a:solidFill>
                  <a:schemeClr val="tx1"/>
                </a:solidFill>
                <a:latin typeface="Calibri" pitchFamily="34" charset="0"/>
                <a:ea typeface="Calibri" pitchFamily="34" charset="-122"/>
                <a:cs typeface="Calibri" pitchFamily="34" charset="-120"/>
              </a:rPr>
              <a:t>Es la fuente de verdad: el código se generó a partir de ella.</a:t>
            </a:r>
            <a:endParaRPr lang="en-US" sz="1400" dirty="0"/>
          </a:p>
        </p:txBody>
      </p:sp>
      <p:sp>
        <p:nvSpPr>
          <p:cNvPr id="8" name="Decisión Claves protegidas"/>
          <p:cNvSpPr/>
          <p:nvPr/>
        </p:nvSpPr>
        <p:spPr>
          <a:xfrm>
            <a:off x="4663440" y="1188720"/>
            <a:ext cx="4023360" cy="1609344"/>
          </a:xfrm>
          <a:prstGeom prst="roundRect">
            <a:avLst>
              <a:gd name="adj" fmla="val 5682"/>
            </a:avLst>
          </a:prstGeom>
          <a:solidFill>
            <a:schemeClr val="bg2"/>
          </a:solidFill>
          <a:ln w="12700">
            <a:solidFill>
              <a:srgbClr val="DCE4EA"/>
            </a:solidFill>
            <a:prstDash val="solid"/>
          </a:ln>
        </p:spPr>
        <p:txBody>
          <a:bodyPr/>
          <a:lstStyle/>
          <a:p>
            <a:endParaRPr lang="es-PE"/>
          </a:p>
        </p:txBody>
      </p:sp>
      <p:sp>
        <p:nvSpPr>
          <p:cNvPr id="9" name="Icono Claves protegidas (círculo)"/>
          <p:cNvSpPr/>
          <p:nvPr/>
        </p:nvSpPr>
        <p:spPr>
          <a:xfrm>
            <a:off x="4892040" y="1371600"/>
            <a:ext cx="548640" cy="548640"/>
          </a:xfrm>
          <a:prstGeom prst="ellipse">
            <a:avLst/>
          </a:prstGeom>
          <a:solidFill>
            <a:srgbClr val="DCE9F1"/>
          </a:solidFill>
          <a:ln/>
        </p:spPr>
        <p:txBody>
          <a:bodyPr/>
          <a:lstStyle/>
          <a:p>
            <a:endParaRPr lang="es-PE"/>
          </a:p>
        </p:txBody>
      </p:sp>
      <p:pic>
        <p:nvPicPr>
          <p:cNvPr id="10" name="Icono Claves protegidas" descr="Icono Claves protegidas"/>
          <p:cNvPicPr>
            <a:picLocks noChangeAspect="1"/>
          </p:cNvPicPr>
          <p:nvPr/>
        </p:nvPicPr>
        <p:blipFill>
          <a:blip r:embed="rId4"/>
          <a:stretch>
            <a:fillRect/>
          </a:stretch>
        </p:blipFill>
        <p:spPr>
          <a:xfrm>
            <a:off x="5029200" y="1508760"/>
            <a:ext cx="274320" cy="274320"/>
          </a:xfrm>
          <a:prstGeom prst="rect">
            <a:avLst/>
          </a:prstGeom>
        </p:spPr>
      </p:pic>
      <p:sp>
        <p:nvSpPr>
          <p:cNvPr id="11" name="Título Claves protegidas"/>
          <p:cNvSpPr txBox="1"/>
          <p:nvPr/>
        </p:nvSpPr>
        <p:spPr>
          <a:xfrm>
            <a:off x="5623560" y="1371600"/>
            <a:ext cx="2926080" cy="548640"/>
          </a:xfrm>
          <a:prstGeom prst="rect">
            <a:avLst/>
          </a:prstGeom>
          <a:noFill/>
          <a:ln/>
        </p:spPr>
        <p:txBody>
          <a:bodyPr wrap="square" lIns="0" tIns="0" rIns="0" bIns="0" rtlCol="0" anchor="ctr"/>
          <a:lstStyle/>
          <a:p>
            <a:pPr marL="0" indent="0">
              <a:buNone/>
            </a:pPr>
            <a:r>
              <a:rPr lang="en-US" sz="1800" b="1" dirty="0">
                <a:solidFill>
                  <a:schemeClr val="tx2"/>
                </a:solidFill>
                <a:latin typeface="Calibri" pitchFamily="34" charset="0"/>
                <a:ea typeface="Calibri" pitchFamily="34" charset="-122"/>
                <a:cs typeface="Calibri" pitchFamily="34" charset="-120"/>
              </a:rPr>
              <a:t>Claves protegidas</a:t>
            </a:r>
            <a:endParaRPr lang="en-US" sz="1800" dirty="0"/>
          </a:p>
        </p:txBody>
      </p:sp>
      <p:sp>
        <p:nvSpPr>
          <p:cNvPr id="12" name="Texto Claves protegidas"/>
          <p:cNvSpPr txBox="1"/>
          <p:nvPr/>
        </p:nvSpPr>
        <p:spPr>
          <a:xfrm>
            <a:off x="4892040" y="2057400"/>
            <a:ext cx="3566160" cy="640080"/>
          </a:xfrm>
          <a:prstGeom prst="rect">
            <a:avLst/>
          </a:prstGeom>
          <a:noFill/>
          <a:ln/>
        </p:spPr>
        <p:txBody>
          <a:bodyPr wrap="square" lIns="0" tIns="0" rIns="0" bIns="0" rtlCol="0" anchor="t"/>
          <a:lstStyle/>
          <a:p>
            <a:pPr marL="0" indent="0">
              <a:buNone/>
            </a:pPr>
            <a:r>
              <a:rPr lang="en-US" sz="1400" dirty="0">
                <a:solidFill>
                  <a:schemeClr val="tx1"/>
                </a:solidFill>
                <a:latin typeface="Calibri" pitchFamily="34" charset="0"/>
                <a:ea typeface="Calibri" pitchFamily="34" charset="-122"/>
                <a:cs typeface="Calibri" pitchFamily="34" charset="-120"/>
              </a:rPr>
              <a:t>Nunca se suben al repositorio; van en variables seguras.</a:t>
            </a:r>
            <a:endParaRPr lang="en-US" sz="1400" dirty="0"/>
          </a:p>
        </p:txBody>
      </p:sp>
      <p:sp>
        <p:nvSpPr>
          <p:cNvPr id="13" name="Decisión Nada se borra de verdad"/>
          <p:cNvSpPr/>
          <p:nvPr/>
        </p:nvSpPr>
        <p:spPr>
          <a:xfrm>
            <a:off x="457200" y="2926080"/>
            <a:ext cx="4023360" cy="1609344"/>
          </a:xfrm>
          <a:prstGeom prst="roundRect">
            <a:avLst>
              <a:gd name="adj" fmla="val 5682"/>
            </a:avLst>
          </a:prstGeom>
          <a:solidFill>
            <a:schemeClr val="bg2"/>
          </a:solidFill>
          <a:ln w="12700">
            <a:solidFill>
              <a:srgbClr val="DCE4EA"/>
            </a:solidFill>
            <a:prstDash val="solid"/>
          </a:ln>
        </p:spPr>
        <p:txBody>
          <a:bodyPr/>
          <a:lstStyle/>
          <a:p>
            <a:endParaRPr lang="es-PE"/>
          </a:p>
        </p:txBody>
      </p:sp>
      <p:sp>
        <p:nvSpPr>
          <p:cNvPr id="14" name="Icono Nada se borra de verdad (círculo)"/>
          <p:cNvSpPr/>
          <p:nvPr/>
        </p:nvSpPr>
        <p:spPr>
          <a:xfrm>
            <a:off x="685800" y="3108960"/>
            <a:ext cx="548640" cy="548640"/>
          </a:xfrm>
          <a:prstGeom prst="ellipse">
            <a:avLst/>
          </a:prstGeom>
          <a:solidFill>
            <a:srgbClr val="DCE9F1"/>
          </a:solidFill>
          <a:ln/>
        </p:spPr>
        <p:txBody>
          <a:bodyPr/>
          <a:lstStyle/>
          <a:p>
            <a:endParaRPr lang="es-PE"/>
          </a:p>
        </p:txBody>
      </p:sp>
      <p:pic>
        <p:nvPicPr>
          <p:cNvPr id="15" name="Icono Nada se borra de verdad" descr="Icono Nada se borra de verdad"/>
          <p:cNvPicPr>
            <a:picLocks noChangeAspect="1"/>
          </p:cNvPicPr>
          <p:nvPr/>
        </p:nvPicPr>
        <p:blipFill>
          <a:blip r:embed="rId5"/>
          <a:stretch>
            <a:fillRect/>
          </a:stretch>
        </p:blipFill>
        <p:spPr>
          <a:xfrm>
            <a:off x="822960" y="3246120"/>
            <a:ext cx="274320" cy="274320"/>
          </a:xfrm>
          <a:prstGeom prst="rect">
            <a:avLst/>
          </a:prstGeom>
        </p:spPr>
      </p:pic>
      <p:sp>
        <p:nvSpPr>
          <p:cNvPr id="16" name="Título Nada se borra de verdad"/>
          <p:cNvSpPr txBox="1"/>
          <p:nvPr/>
        </p:nvSpPr>
        <p:spPr>
          <a:xfrm>
            <a:off x="1417320" y="3108960"/>
            <a:ext cx="2926080" cy="548640"/>
          </a:xfrm>
          <a:prstGeom prst="rect">
            <a:avLst/>
          </a:prstGeom>
          <a:noFill/>
          <a:ln/>
        </p:spPr>
        <p:txBody>
          <a:bodyPr wrap="square" lIns="0" tIns="0" rIns="0" bIns="0" rtlCol="0" anchor="ctr"/>
          <a:lstStyle/>
          <a:p>
            <a:pPr marL="0" indent="0">
              <a:buNone/>
            </a:pPr>
            <a:r>
              <a:rPr lang="en-US" sz="1800" b="1" dirty="0">
                <a:solidFill>
                  <a:schemeClr val="tx2"/>
                </a:solidFill>
                <a:latin typeface="Calibri" pitchFamily="34" charset="0"/>
                <a:ea typeface="Calibri" pitchFamily="34" charset="-122"/>
                <a:cs typeface="Calibri" pitchFamily="34" charset="-120"/>
              </a:rPr>
              <a:t>Nada se borra de verdad</a:t>
            </a:r>
            <a:endParaRPr lang="en-US" sz="1800" dirty="0"/>
          </a:p>
        </p:txBody>
      </p:sp>
      <p:sp>
        <p:nvSpPr>
          <p:cNvPr id="17" name="Texto Nada se borra de verdad"/>
          <p:cNvSpPr txBox="1"/>
          <p:nvPr/>
        </p:nvSpPr>
        <p:spPr>
          <a:xfrm>
            <a:off x="685800" y="3794760"/>
            <a:ext cx="3566160" cy="640080"/>
          </a:xfrm>
          <a:prstGeom prst="rect">
            <a:avLst/>
          </a:prstGeom>
          <a:noFill/>
          <a:ln/>
        </p:spPr>
        <p:txBody>
          <a:bodyPr wrap="square" lIns="0" tIns="0" rIns="0" bIns="0" rtlCol="0" anchor="t"/>
          <a:lstStyle/>
          <a:p>
            <a:pPr marL="0" indent="0">
              <a:buNone/>
            </a:pPr>
            <a:r>
              <a:rPr lang="en-US" sz="1400" dirty="0">
                <a:solidFill>
                  <a:schemeClr val="tx1"/>
                </a:solidFill>
                <a:latin typeface="Calibri" pitchFamily="34" charset="0"/>
                <a:ea typeface="Calibri" pitchFamily="34" charset="-122"/>
                <a:cs typeface="Calibri" pitchFamily="34" charset="-120"/>
              </a:rPr>
              <a:t>Los registros se desactivan, así queda el historial.</a:t>
            </a:r>
            <a:endParaRPr lang="en-US" sz="1400" dirty="0"/>
          </a:p>
        </p:txBody>
      </p:sp>
      <p:sp>
        <p:nvSpPr>
          <p:cNvPr id="18" name="Decisión Un solo sitio"/>
          <p:cNvSpPr/>
          <p:nvPr/>
        </p:nvSpPr>
        <p:spPr>
          <a:xfrm>
            <a:off x="4663440" y="2926080"/>
            <a:ext cx="4023360" cy="1609344"/>
          </a:xfrm>
          <a:prstGeom prst="roundRect">
            <a:avLst>
              <a:gd name="adj" fmla="val 5682"/>
            </a:avLst>
          </a:prstGeom>
          <a:solidFill>
            <a:schemeClr val="bg2"/>
          </a:solidFill>
          <a:ln w="12700">
            <a:solidFill>
              <a:srgbClr val="DCE4EA"/>
            </a:solidFill>
            <a:prstDash val="solid"/>
          </a:ln>
        </p:spPr>
        <p:txBody>
          <a:bodyPr/>
          <a:lstStyle/>
          <a:p>
            <a:endParaRPr lang="es-PE"/>
          </a:p>
        </p:txBody>
      </p:sp>
      <p:sp>
        <p:nvSpPr>
          <p:cNvPr id="19" name="Icono Un solo sitio (círculo)"/>
          <p:cNvSpPr/>
          <p:nvPr/>
        </p:nvSpPr>
        <p:spPr>
          <a:xfrm>
            <a:off x="4892040" y="3108960"/>
            <a:ext cx="548640" cy="548640"/>
          </a:xfrm>
          <a:prstGeom prst="ellipse">
            <a:avLst/>
          </a:prstGeom>
          <a:solidFill>
            <a:srgbClr val="DCE9F1"/>
          </a:solidFill>
          <a:ln/>
        </p:spPr>
        <p:txBody>
          <a:bodyPr/>
          <a:lstStyle/>
          <a:p>
            <a:endParaRPr lang="es-PE"/>
          </a:p>
        </p:txBody>
      </p:sp>
      <p:pic>
        <p:nvPicPr>
          <p:cNvPr id="20" name="Icono Un solo sitio" descr="Icono Un solo sitio"/>
          <p:cNvPicPr>
            <a:picLocks noChangeAspect="1"/>
          </p:cNvPicPr>
          <p:nvPr/>
        </p:nvPicPr>
        <p:blipFill>
          <a:blip r:embed="rId6"/>
          <a:stretch>
            <a:fillRect/>
          </a:stretch>
        </p:blipFill>
        <p:spPr>
          <a:xfrm>
            <a:off x="5029200" y="3246120"/>
            <a:ext cx="274320" cy="274320"/>
          </a:xfrm>
          <a:prstGeom prst="rect">
            <a:avLst/>
          </a:prstGeom>
        </p:spPr>
      </p:pic>
      <p:sp>
        <p:nvSpPr>
          <p:cNvPr id="21" name="Título Un solo sitio"/>
          <p:cNvSpPr txBox="1"/>
          <p:nvPr/>
        </p:nvSpPr>
        <p:spPr>
          <a:xfrm>
            <a:off x="5623560" y="3108960"/>
            <a:ext cx="2926080" cy="548640"/>
          </a:xfrm>
          <a:prstGeom prst="rect">
            <a:avLst/>
          </a:prstGeom>
          <a:noFill/>
          <a:ln/>
        </p:spPr>
        <p:txBody>
          <a:bodyPr wrap="square" lIns="0" tIns="0" rIns="0" bIns="0" rtlCol="0" anchor="ctr"/>
          <a:lstStyle/>
          <a:p>
            <a:pPr marL="0" indent="0">
              <a:buNone/>
            </a:pPr>
            <a:r>
              <a:rPr lang="en-US" sz="1800" b="1" dirty="0">
                <a:solidFill>
                  <a:schemeClr val="tx2"/>
                </a:solidFill>
                <a:latin typeface="Calibri" pitchFamily="34" charset="0"/>
                <a:ea typeface="Calibri" pitchFamily="34" charset="-122"/>
                <a:cs typeface="Calibri" pitchFamily="34" charset="-120"/>
              </a:rPr>
              <a:t>Un solo sitio</a:t>
            </a:r>
            <a:endParaRPr lang="en-US" sz="1800" dirty="0"/>
          </a:p>
        </p:txBody>
      </p:sp>
      <p:sp>
        <p:nvSpPr>
          <p:cNvPr id="22" name="Texto Un solo sitio"/>
          <p:cNvSpPr txBox="1"/>
          <p:nvPr/>
        </p:nvSpPr>
        <p:spPr>
          <a:xfrm>
            <a:off x="4892040" y="3794760"/>
            <a:ext cx="3566160" cy="640080"/>
          </a:xfrm>
          <a:prstGeom prst="rect">
            <a:avLst/>
          </a:prstGeom>
          <a:noFill/>
          <a:ln/>
        </p:spPr>
        <p:txBody>
          <a:bodyPr wrap="square" lIns="0" tIns="0" rIns="0" bIns="0" rtlCol="0" anchor="t"/>
          <a:lstStyle/>
          <a:p>
            <a:pPr marL="0" indent="0">
              <a:buNone/>
            </a:pPr>
            <a:r>
              <a:rPr lang="en-US" sz="1400" dirty="0">
                <a:solidFill>
                  <a:schemeClr val="tx1"/>
                </a:solidFill>
                <a:latin typeface="Calibri" pitchFamily="34" charset="0"/>
                <a:ea typeface="Calibri" pitchFamily="34" charset="-122"/>
                <a:cs typeface="Calibri" pitchFamily="34" charset="-120"/>
              </a:rPr>
              <a:t>La web y el sistema se instalan juntos en IIS.</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74320"/>
            <a:ext cx="7589520" cy="731520"/>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Cómo usamos la inteligencia artificial</a:t>
            </a:r>
            <a:endParaRPr lang="en-US" sz="3000" dirty="0"/>
          </a:p>
        </p:txBody>
      </p:sp>
      <p:sp>
        <p:nvSpPr>
          <p:cNvPr id="3" name="Columna Yo decidí"/>
          <p:cNvSpPr/>
          <p:nvPr/>
        </p:nvSpPr>
        <p:spPr>
          <a:xfrm>
            <a:off x="457200" y="1188720"/>
            <a:ext cx="2560320" cy="2743200"/>
          </a:xfrm>
          <a:prstGeom prst="roundRect">
            <a:avLst>
              <a:gd name="adj" fmla="val 3571"/>
            </a:avLst>
          </a:prstGeom>
          <a:solidFill>
            <a:schemeClr val="bg2"/>
          </a:solidFill>
          <a:ln w="12700">
            <a:solidFill>
              <a:srgbClr val="DCE4EA"/>
            </a:solidFill>
            <a:prstDash val="solid"/>
          </a:ln>
        </p:spPr>
        <p:txBody>
          <a:bodyPr/>
          <a:lstStyle/>
          <a:p>
            <a:endParaRPr lang="es-PE"/>
          </a:p>
        </p:txBody>
      </p:sp>
      <p:sp>
        <p:nvSpPr>
          <p:cNvPr id="4" name="Icono Yo decidí (círculo)"/>
          <p:cNvSpPr/>
          <p:nvPr/>
        </p:nvSpPr>
        <p:spPr>
          <a:xfrm>
            <a:off x="640080" y="1325880"/>
            <a:ext cx="548640" cy="548640"/>
          </a:xfrm>
          <a:prstGeom prst="ellipse">
            <a:avLst/>
          </a:prstGeom>
          <a:solidFill>
            <a:srgbClr val="2F6F8F"/>
          </a:solidFill>
          <a:ln/>
        </p:spPr>
        <p:txBody>
          <a:bodyPr/>
          <a:lstStyle/>
          <a:p>
            <a:endParaRPr lang="es-PE"/>
          </a:p>
        </p:txBody>
      </p:sp>
      <p:pic>
        <p:nvPicPr>
          <p:cNvPr id="5" name="Icono Yo decidí" descr="Icono Yo decidí"/>
          <p:cNvPicPr>
            <a:picLocks noChangeAspect="1"/>
          </p:cNvPicPr>
          <p:nvPr/>
        </p:nvPicPr>
        <p:blipFill>
          <a:blip r:embed="rId3"/>
          <a:stretch>
            <a:fillRect/>
          </a:stretch>
        </p:blipFill>
        <p:spPr>
          <a:xfrm>
            <a:off x="777240" y="1463040"/>
            <a:ext cx="274320" cy="274320"/>
          </a:xfrm>
          <a:prstGeom prst="rect">
            <a:avLst/>
          </a:prstGeom>
        </p:spPr>
      </p:pic>
      <p:sp>
        <p:nvSpPr>
          <p:cNvPr id="6" name="Título Yo decidí"/>
          <p:cNvSpPr txBox="1"/>
          <p:nvPr/>
        </p:nvSpPr>
        <p:spPr>
          <a:xfrm>
            <a:off x="1325880" y="1325880"/>
            <a:ext cx="1554480" cy="548640"/>
          </a:xfrm>
          <a:prstGeom prst="rect">
            <a:avLst/>
          </a:prstGeom>
          <a:noFill/>
          <a:ln/>
        </p:spPr>
        <p:txBody>
          <a:bodyPr wrap="square" lIns="0" tIns="0" rIns="0" bIns="0" rtlCol="0" anchor="ctr"/>
          <a:lstStyle/>
          <a:p>
            <a:pPr marL="0" indent="0">
              <a:buNone/>
            </a:pPr>
            <a:r>
              <a:rPr lang="en-US" sz="1800" b="1" dirty="0">
                <a:solidFill>
                  <a:schemeClr val="tx2"/>
                </a:solidFill>
                <a:latin typeface="Calibri" pitchFamily="34" charset="0"/>
                <a:ea typeface="Calibri" pitchFamily="34" charset="-122"/>
                <a:cs typeface="Calibri" pitchFamily="34" charset="-120"/>
              </a:rPr>
              <a:t>Yo decidí</a:t>
            </a:r>
            <a:endParaRPr lang="en-US" sz="1800" dirty="0"/>
          </a:p>
        </p:txBody>
      </p:sp>
      <p:sp>
        <p:nvSpPr>
          <p:cNvPr id="7" name="Lista Yo decidí"/>
          <p:cNvSpPr txBox="1"/>
          <p:nvPr/>
        </p:nvSpPr>
        <p:spPr>
          <a:xfrm>
            <a:off x="640080" y="2011680"/>
            <a:ext cx="2240280" cy="18288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El problema y las reglas del negocio</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Que las claves nunca se suban</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El orden de trabajo por fases</a:t>
            </a:r>
            <a:endParaRPr lang="en-US" sz="1400" dirty="0"/>
          </a:p>
        </p:txBody>
      </p:sp>
      <p:sp>
        <p:nvSpPr>
          <p:cNvPr id="8" name="Columna La IA construyó"/>
          <p:cNvSpPr/>
          <p:nvPr/>
        </p:nvSpPr>
        <p:spPr>
          <a:xfrm>
            <a:off x="3291840" y="1188720"/>
            <a:ext cx="2560320" cy="2743200"/>
          </a:xfrm>
          <a:prstGeom prst="roundRect">
            <a:avLst>
              <a:gd name="adj" fmla="val 3571"/>
            </a:avLst>
          </a:prstGeom>
          <a:solidFill>
            <a:schemeClr val="bg2"/>
          </a:solidFill>
          <a:ln w="12700">
            <a:solidFill>
              <a:srgbClr val="DCE4EA"/>
            </a:solidFill>
            <a:prstDash val="solid"/>
          </a:ln>
        </p:spPr>
        <p:txBody>
          <a:bodyPr/>
          <a:lstStyle/>
          <a:p>
            <a:endParaRPr lang="es-PE"/>
          </a:p>
        </p:txBody>
      </p:sp>
      <p:sp>
        <p:nvSpPr>
          <p:cNvPr id="9" name="Icono La IA construyó (círculo)"/>
          <p:cNvSpPr/>
          <p:nvPr/>
        </p:nvSpPr>
        <p:spPr>
          <a:xfrm>
            <a:off x="3474720" y="1325880"/>
            <a:ext cx="548640" cy="548640"/>
          </a:xfrm>
          <a:prstGeom prst="ellipse">
            <a:avLst/>
          </a:prstGeom>
          <a:solidFill>
            <a:srgbClr val="2F6F8F"/>
          </a:solidFill>
          <a:ln/>
        </p:spPr>
        <p:txBody>
          <a:bodyPr/>
          <a:lstStyle/>
          <a:p>
            <a:endParaRPr lang="es-PE"/>
          </a:p>
        </p:txBody>
      </p:sp>
      <p:pic>
        <p:nvPicPr>
          <p:cNvPr id="10" name="Icono La IA construyó" descr="Icono La IA construyó"/>
          <p:cNvPicPr>
            <a:picLocks noChangeAspect="1"/>
          </p:cNvPicPr>
          <p:nvPr/>
        </p:nvPicPr>
        <p:blipFill>
          <a:blip r:embed="rId4"/>
          <a:stretch>
            <a:fillRect/>
          </a:stretch>
        </p:blipFill>
        <p:spPr>
          <a:xfrm>
            <a:off x="3611880" y="1463040"/>
            <a:ext cx="274320" cy="274320"/>
          </a:xfrm>
          <a:prstGeom prst="rect">
            <a:avLst/>
          </a:prstGeom>
        </p:spPr>
      </p:pic>
      <p:sp>
        <p:nvSpPr>
          <p:cNvPr id="11" name="Título La IA construyó"/>
          <p:cNvSpPr txBox="1"/>
          <p:nvPr/>
        </p:nvSpPr>
        <p:spPr>
          <a:xfrm>
            <a:off x="4160520" y="1325880"/>
            <a:ext cx="1554480" cy="548640"/>
          </a:xfrm>
          <a:prstGeom prst="rect">
            <a:avLst/>
          </a:prstGeom>
          <a:noFill/>
          <a:ln/>
        </p:spPr>
        <p:txBody>
          <a:bodyPr wrap="square" lIns="0" tIns="0" rIns="0" bIns="0" rtlCol="0" anchor="ctr"/>
          <a:lstStyle/>
          <a:p>
            <a:pPr marL="0" indent="0">
              <a:buNone/>
            </a:pPr>
            <a:r>
              <a:rPr lang="en-US" sz="1800" b="1" dirty="0">
                <a:solidFill>
                  <a:schemeClr val="tx2"/>
                </a:solidFill>
                <a:latin typeface="Calibri" pitchFamily="34" charset="0"/>
                <a:ea typeface="Calibri" pitchFamily="34" charset="-122"/>
                <a:cs typeface="Calibri" pitchFamily="34" charset="-120"/>
              </a:rPr>
              <a:t>La IA construyó</a:t>
            </a:r>
            <a:endParaRPr lang="en-US" sz="1800" dirty="0"/>
          </a:p>
        </p:txBody>
      </p:sp>
      <p:sp>
        <p:nvSpPr>
          <p:cNvPr id="12" name="Lista La IA construyó"/>
          <p:cNvSpPr txBox="1"/>
          <p:nvPr/>
        </p:nvSpPr>
        <p:spPr>
          <a:xfrm>
            <a:off x="3474720" y="2011680"/>
            <a:ext cx="2240280" cy="18288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Propuso la arquitectura</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Escribió el código y las pruebas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Redactó la documentación</a:t>
            </a:r>
            <a:endParaRPr lang="en-US" sz="1400" dirty="0"/>
          </a:p>
        </p:txBody>
      </p:sp>
      <p:sp>
        <p:nvSpPr>
          <p:cNvPr id="13" name="Columna Se verificó"/>
          <p:cNvSpPr/>
          <p:nvPr/>
        </p:nvSpPr>
        <p:spPr>
          <a:xfrm>
            <a:off x="6126480" y="1188720"/>
            <a:ext cx="2560320" cy="2743200"/>
          </a:xfrm>
          <a:prstGeom prst="roundRect">
            <a:avLst>
              <a:gd name="adj" fmla="val 3571"/>
            </a:avLst>
          </a:prstGeom>
          <a:solidFill>
            <a:schemeClr val="bg2"/>
          </a:solidFill>
          <a:ln w="12700">
            <a:solidFill>
              <a:srgbClr val="DCE4EA"/>
            </a:solidFill>
            <a:prstDash val="solid"/>
          </a:ln>
        </p:spPr>
        <p:txBody>
          <a:bodyPr/>
          <a:lstStyle/>
          <a:p>
            <a:endParaRPr lang="es-PE"/>
          </a:p>
        </p:txBody>
      </p:sp>
      <p:sp>
        <p:nvSpPr>
          <p:cNvPr id="14" name="Icono Se verificó (círculo)"/>
          <p:cNvSpPr/>
          <p:nvPr/>
        </p:nvSpPr>
        <p:spPr>
          <a:xfrm>
            <a:off x="6309360" y="1325880"/>
            <a:ext cx="548640" cy="548640"/>
          </a:xfrm>
          <a:prstGeom prst="ellipse">
            <a:avLst/>
          </a:prstGeom>
          <a:solidFill>
            <a:srgbClr val="2F6F8F"/>
          </a:solidFill>
          <a:ln/>
        </p:spPr>
        <p:txBody>
          <a:bodyPr/>
          <a:lstStyle/>
          <a:p>
            <a:endParaRPr lang="es-PE"/>
          </a:p>
        </p:txBody>
      </p:sp>
      <p:pic>
        <p:nvPicPr>
          <p:cNvPr id="15" name="Icono Se verificó" descr="Icono Se verificó"/>
          <p:cNvPicPr>
            <a:picLocks noChangeAspect="1"/>
          </p:cNvPicPr>
          <p:nvPr/>
        </p:nvPicPr>
        <p:blipFill>
          <a:blip r:embed="rId5"/>
          <a:stretch>
            <a:fillRect/>
          </a:stretch>
        </p:blipFill>
        <p:spPr>
          <a:xfrm>
            <a:off x="6446520" y="1463040"/>
            <a:ext cx="274320" cy="274320"/>
          </a:xfrm>
          <a:prstGeom prst="rect">
            <a:avLst/>
          </a:prstGeom>
        </p:spPr>
      </p:pic>
      <p:sp>
        <p:nvSpPr>
          <p:cNvPr id="16" name="Título Se verificó"/>
          <p:cNvSpPr txBox="1"/>
          <p:nvPr/>
        </p:nvSpPr>
        <p:spPr>
          <a:xfrm>
            <a:off x="6995160" y="1325880"/>
            <a:ext cx="1554480" cy="548640"/>
          </a:xfrm>
          <a:prstGeom prst="rect">
            <a:avLst/>
          </a:prstGeom>
          <a:noFill/>
          <a:ln/>
        </p:spPr>
        <p:txBody>
          <a:bodyPr wrap="square" lIns="0" tIns="0" rIns="0" bIns="0" rtlCol="0" anchor="ctr"/>
          <a:lstStyle/>
          <a:p>
            <a:pPr marL="0" indent="0">
              <a:buNone/>
            </a:pPr>
            <a:r>
              <a:rPr lang="en-US" sz="1800" b="1" dirty="0">
                <a:solidFill>
                  <a:schemeClr val="tx2"/>
                </a:solidFill>
                <a:latin typeface="Calibri" pitchFamily="34" charset="0"/>
                <a:ea typeface="Calibri" pitchFamily="34" charset="-122"/>
                <a:cs typeface="Calibri" pitchFamily="34" charset="-120"/>
              </a:rPr>
              <a:t>Se verificó</a:t>
            </a:r>
            <a:endParaRPr lang="en-US" sz="1800" dirty="0"/>
          </a:p>
        </p:txBody>
      </p:sp>
      <p:sp>
        <p:nvSpPr>
          <p:cNvPr id="17" name="Lista Se verificó"/>
          <p:cNvSpPr txBox="1"/>
          <p:nvPr/>
        </p:nvSpPr>
        <p:spPr>
          <a:xfrm>
            <a:off x="6309360" y="2011680"/>
            <a:ext cx="2240280" cy="18288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Más de 300 pruebas automáticas</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Prueba manual en un IIS real</a:t>
            </a:r>
            <a:endParaRPr lang="en-US" sz="1400" dirty="0"/>
          </a:p>
          <a:p>
            <a:pPr marL="342900" indent="-342900">
              <a:spcAft>
                <a:spcPts val="600"/>
              </a:spcAft>
              <a:buSzPct val="100000"/>
              <a:buChar char="•"/>
            </a:pPr>
            <a:r>
              <a:rPr lang="en-US" sz="1400" dirty="0">
                <a:solidFill>
                  <a:schemeClr val="tx1"/>
                </a:solidFill>
                <a:latin typeface="Calibri" pitchFamily="34" charset="0"/>
                <a:ea typeface="Calibri" pitchFamily="34" charset="-122"/>
                <a:cs typeface="Calibri" pitchFamily="34" charset="-120"/>
              </a:rPr>
              <a:t>Revisión antes de cada commit</a:t>
            </a:r>
            <a:endParaRPr lang="en-US" sz="1400" dirty="0"/>
          </a:p>
        </p:txBody>
      </p:sp>
      <p:sp>
        <p:nvSpPr>
          <p:cNvPr id="18" name="Datos de uso"/>
          <p:cNvSpPr/>
          <p:nvPr/>
        </p:nvSpPr>
        <p:spPr>
          <a:xfrm>
            <a:off x="457200" y="4114800"/>
            <a:ext cx="8229600" cy="548640"/>
          </a:xfrm>
          <a:prstGeom prst="roundRect">
            <a:avLst>
              <a:gd name="adj" fmla="val 16667"/>
            </a:avLst>
          </a:prstGeom>
          <a:solidFill>
            <a:schemeClr val="accent6"/>
          </a:solidFill>
          <a:ln/>
        </p:spPr>
        <p:txBody>
          <a:bodyPr/>
          <a:lstStyle/>
          <a:p>
            <a:endParaRPr lang="es-PE"/>
          </a:p>
        </p:txBody>
      </p:sp>
      <p:sp>
        <p:nvSpPr>
          <p:cNvPr id="19" name="Texto datos de uso"/>
          <p:cNvSpPr txBox="1"/>
          <p:nvPr/>
        </p:nvSpPr>
        <p:spPr>
          <a:xfrm>
            <a:off x="640080" y="4114800"/>
            <a:ext cx="7863840" cy="548640"/>
          </a:xfrm>
          <a:prstGeom prst="rect">
            <a:avLst/>
          </a:prstGeom>
          <a:noFill/>
          <a:ln/>
        </p:spPr>
        <p:txBody>
          <a:bodyPr wrap="square" lIns="0" tIns="0" rIns="0" bIns="0" rtlCol="0" anchor="ctr"/>
          <a:lstStyle/>
          <a:p>
            <a:pPr marL="0" indent="0">
              <a:buNone/>
            </a:pPr>
            <a:r>
              <a:rPr lang="en-US" sz="1600" b="1" dirty="0">
                <a:solidFill>
                  <a:schemeClr val="tx2"/>
                </a:solidFill>
                <a:latin typeface="Calibri" pitchFamily="34" charset="0"/>
                <a:ea typeface="Calibri" pitchFamily="34" charset="-122"/>
                <a:cs typeface="Calibri" pitchFamily="34" charset="-120"/>
              </a:rPr>
              <a:t>15 commits · 3 documentos de prompts · la IA figura como coautora en cada commit</a:t>
            </a:r>
            <a:endParaRPr lang="en-US" sz="16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74320"/>
            <a:ext cx="7589520" cy="731520"/>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La IA también se equivoca</a:t>
            </a:r>
            <a:endParaRPr lang="en-US" sz="3000" dirty="0"/>
          </a:p>
        </p:txBody>
      </p:sp>
      <p:sp>
        <p:nvSpPr>
          <p:cNvPr id="3" name="Fallo 1"/>
          <p:cNvSpPr/>
          <p:nvPr/>
        </p:nvSpPr>
        <p:spPr>
          <a:xfrm>
            <a:off x="457200" y="1188720"/>
            <a:ext cx="2560320" cy="2651760"/>
          </a:xfrm>
          <a:prstGeom prst="roundRect">
            <a:avLst>
              <a:gd name="adj" fmla="val 3571"/>
            </a:avLst>
          </a:prstGeom>
          <a:solidFill>
            <a:schemeClr val="bg2"/>
          </a:solidFill>
          <a:ln w="12700">
            <a:solidFill>
              <a:srgbClr val="DCE4EA"/>
            </a:solidFill>
            <a:prstDash val="solid"/>
          </a:ln>
        </p:spPr>
        <p:txBody>
          <a:bodyPr/>
          <a:lstStyle/>
          <a:p>
            <a:endParaRPr lang="es-PE"/>
          </a:p>
        </p:txBody>
      </p:sp>
      <p:sp>
        <p:nvSpPr>
          <p:cNvPr id="4" name="Marca 1"/>
          <p:cNvSpPr/>
          <p:nvPr/>
        </p:nvSpPr>
        <p:spPr>
          <a:xfrm>
            <a:off x="640080" y="1371600"/>
            <a:ext cx="457200" cy="457200"/>
          </a:xfrm>
          <a:prstGeom prst="ellipse">
            <a:avLst/>
          </a:prstGeom>
          <a:solidFill>
            <a:schemeClr val="accent3"/>
          </a:solidFill>
          <a:ln/>
        </p:spPr>
        <p:txBody>
          <a:bodyPr/>
          <a:lstStyle/>
          <a:p>
            <a:endParaRPr lang="es-PE"/>
          </a:p>
        </p:txBody>
      </p:sp>
      <p:sp>
        <p:nvSpPr>
          <p:cNvPr id="5" name="Cifra fallo 1"/>
          <p:cNvSpPr txBox="1"/>
          <p:nvPr/>
        </p:nvSpPr>
        <p:spPr>
          <a:xfrm>
            <a:off x="640080" y="1371600"/>
            <a:ext cx="457200" cy="457200"/>
          </a:xfrm>
          <a:prstGeom prst="rect">
            <a:avLst/>
          </a:prstGeom>
          <a:noFill/>
          <a:ln/>
        </p:spPr>
        <p:txBody>
          <a:bodyPr wrap="square" lIns="0" tIns="0" rIns="0" bIns="0" rtlCol="0" anchor="ctr"/>
          <a:lstStyle/>
          <a:p>
            <a:pPr marL="0" indent="0" algn="ctr">
              <a:buNone/>
            </a:pPr>
            <a:r>
              <a:rPr lang="en-US" sz="1800" b="1" dirty="0">
                <a:solidFill>
                  <a:schemeClr val="bg1"/>
                </a:solidFill>
                <a:latin typeface="Calibri" pitchFamily="34" charset="0"/>
                <a:ea typeface="Calibri" pitchFamily="34" charset="-122"/>
                <a:cs typeface="Calibri" pitchFamily="34" charset="-120"/>
              </a:rPr>
              <a:t>1</a:t>
            </a:r>
            <a:endParaRPr lang="en-US" sz="1800" dirty="0"/>
          </a:p>
        </p:txBody>
      </p:sp>
      <p:sp>
        <p:nvSpPr>
          <p:cNvPr id="6" name="Fallo título 1"/>
          <p:cNvSpPr txBox="1"/>
          <p:nvPr/>
        </p:nvSpPr>
        <p:spPr>
          <a:xfrm>
            <a:off x="640080" y="1920240"/>
            <a:ext cx="2194560" cy="777240"/>
          </a:xfrm>
          <a:prstGeom prst="rect">
            <a:avLst/>
          </a:prstGeom>
          <a:noFill/>
          <a:ln/>
        </p:spPr>
        <p:txBody>
          <a:bodyPr wrap="square" lIns="0" tIns="0" rIns="0" bIns="0" rtlCol="0" anchor="t"/>
          <a:lstStyle/>
          <a:p>
            <a:pPr marL="0" indent="0">
              <a:buNone/>
            </a:pPr>
            <a:r>
              <a:rPr lang="en-US" sz="1600" b="1" dirty="0">
                <a:solidFill>
                  <a:schemeClr val="tx2"/>
                </a:solidFill>
                <a:latin typeface="Calibri" pitchFamily="34" charset="0"/>
                <a:ea typeface="Calibri" pitchFamily="34" charset="-122"/>
                <a:cs typeface="Calibri" pitchFamily="34" charset="-120"/>
              </a:rPr>
              <a:t>El botón «Anular pago» recargaba la página</a:t>
            </a:r>
            <a:endParaRPr lang="en-US" sz="1600" dirty="0"/>
          </a:p>
        </p:txBody>
      </p:sp>
      <p:sp>
        <p:nvSpPr>
          <p:cNvPr id="7" name="Fallo detalle 1"/>
          <p:cNvSpPr txBox="1"/>
          <p:nvPr/>
        </p:nvSpPr>
        <p:spPr>
          <a:xfrm>
            <a:off x="640080" y="2697480"/>
            <a:ext cx="2194560" cy="1097280"/>
          </a:xfrm>
          <a:prstGeom prst="rect">
            <a:avLst/>
          </a:prstGeom>
          <a:noFill/>
          <a:ln/>
        </p:spPr>
        <p:txBody>
          <a:bodyPr wrap="square" lIns="0" tIns="0" rIns="0" bIns="0" rtlCol="0" anchor="t"/>
          <a:lstStyle/>
          <a:p>
            <a:pPr marL="0" indent="0">
              <a:buNone/>
            </a:pPr>
            <a:r>
              <a:rPr lang="en-US" sz="1400" dirty="0">
                <a:solidFill>
                  <a:schemeClr val="tx1"/>
                </a:solidFill>
                <a:latin typeface="Calibri" pitchFamily="34" charset="0"/>
                <a:ea typeface="Calibri" pitchFamily="34" charset="-122"/>
                <a:cs typeface="Calibri" pitchFamily="34" charset="-120"/>
              </a:rPr>
              <a:t>Las pruebas automáticas no lo vieron; apareció al probar en un IIS real. Se corrigió y se agregaron 6 pruebas.</a:t>
            </a:r>
            <a:endParaRPr lang="en-US" sz="1400" dirty="0"/>
          </a:p>
        </p:txBody>
      </p:sp>
      <p:sp>
        <p:nvSpPr>
          <p:cNvPr id="8" name="Fallo 2"/>
          <p:cNvSpPr/>
          <p:nvPr/>
        </p:nvSpPr>
        <p:spPr>
          <a:xfrm>
            <a:off x="3291840" y="1188720"/>
            <a:ext cx="2560320" cy="2651760"/>
          </a:xfrm>
          <a:prstGeom prst="roundRect">
            <a:avLst>
              <a:gd name="adj" fmla="val 3571"/>
            </a:avLst>
          </a:prstGeom>
          <a:solidFill>
            <a:schemeClr val="bg2"/>
          </a:solidFill>
          <a:ln w="12700">
            <a:solidFill>
              <a:srgbClr val="DCE4EA"/>
            </a:solidFill>
            <a:prstDash val="solid"/>
          </a:ln>
        </p:spPr>
        <p:txBody>
          <a:bodyPr/>
          <a:lstStyle/>
          <a:p>
            <a:endParaRPr lang="es-PE"/>
          </a:p>
        </p:txBody>
      </p:sp>
      <p:sp>
        <p:nvSpPr>
          <p:cNvPr id="9" name="Marca 2"/>
          <p:cNvSpPr/>
          <p:nvPr/>
        </p:nvSpPr>
        <p:spPr>
          <a:xfrm>
            <a:off x="3474720" y="1371600"/>
            <a:ext cx="457200" cy="457200"/>
          </a:xfrm>
          <a:prstGeom prst="ellipse">
            <a:avLst/>
          </a:prstGeom>
          <a:solidFill>
            <a:schemeClr val="accent3"/>
          </a:solidFill>
          <a:ln/>
        </p:spPr>
        <p:txBody>
          <a:bodyPr/>
          <a:lstStyle/>
          <a:p>
            <a:endParaRPr lang="es-PE"/>
          </a:p>
        </p:txBody>
      </p:sp>
      <p:sp>
        <p:nvSpPr>
          <p:cNvPr id="10" name="Cifra fallo 2"/>
          <p:cNvSpPr txBox="1"/>
          <p:nvPr/>
        </p:nvSpPr>
        <p:spPr>
          <a:xfrm>
            <a:off x="3474720" y="1371600"/>
            <a:ext cx="457200" cy="457200"/>
          </a:xfrm>
          <a:prstGeom prst="rect">
            <a:avLst/>
          </a:prstGeom>
          <a:noFill/>
          <a:ln/>
        </p:spPr>
        <p:txBody>
          <a:bodyPr wrap="square" lIns="0" tIns="0" rIns="0" bIns="0" rtlCol="0" anchor="ctr"/>
          <a:lstStyle/>
          <a:p>
            <a:pPr marL="0" indent="0" algn="ctr">
              <a:buNone/>
            </a:pPr>
            <a:r>
              <a:rPr lang="en-US" sz="1800" b="1" dirty="0">
                <a:solidFill>
                  <a:schemeClr val="bg1"/>
                </a:solidFill>
                <a:latin typeface="Calibri" pitchFamily="34" charset="0"/>
                <a:ea typeface="Calibri" pitchFamily="34" charset="-122"/>
                <a:cs typeface="Calibri" pitchFamily="34" charset="-120"/>
              </a:rPr>
              <a:t>2</a:t>
            </a:r>
            <a:endParaRPr lang="en-US" sz="1800" dirty="0"/>
          </a:p>
        </p:txBody>
      </p:sp>
      <p:sp>
        <p:nvSpPr>
          <p:cNvPr id="11" name="Fallo título 2"/>
          <p:cNvSpPr txBox="1"/>
          <p:nvPr/>
        </p:nvSpPr>
        <p:spPr>
          <a:xfrm>
            <a:off x="3474720" y="1920240"/>
            <a:ext cx="2194560" cy="777240"/>
          </a:xfrm>
          <a:prstGeom prst="rect">
            <a:avLst/>
          </a:prstGeom>
          <a:noFill/>
          <a:ln/>
        </p:spPr>
        <p:txBody>
          <a:bodyPr wrap="square" lIns="0" tIns="0" rIns="0" bIns="0" rtlCol="0" anchor="t"/>
          <a:lstStyle/>
          <a:p>
            <a:pPr marL="0" indent="0">
              <a:buNone/>
            </a:pPr>
            <a:r>
              <a:rPr lang="en-US" sz="1600" b="1" dirty="0">
                <a:solidFill>
                  <a:schemeClr val="tx2"/>
                </a:solidFill>
                <a:latin typeface="Calibri" pitchFamily="34" charset="0"/>
                <a:ea typeface="Calibri" pitchFamily="34" charset="-122"/>
                <a:cs typeface="Calibri" pitchFamily="34" charset="-120"/>
              </a:rPr>
              <a:t>Se subieron archivos que no debían estar</a:t>
            </a:r>
            <a:endParaRPr lang="en-US" sz="1600" dirty="0"/>
          </a:p>
        </p:txBody>
      </p:sp>
      <p:sp>
        <p:nvSpPr>
          <p:cNvPr id="12" name="Fallo detalle 2"/>
          <p:cNvSpPr txBox="1"/>
          <p:nvPr/>
        </p:nvSpPr>
        <p:spPr>
          <a:xfrm>
            <a:off x="3474720" y="2697480"/>
            <a:ext cx="2194560" cy="1097280"/>
          </a:xfrm>
          <a:prstGeom prst="rect">
            <a:avLst/>
          </a:prstGeom>
          <a:noFill/>
          <a:ln/>
        </p:spPr>
        <p:txBody>
          <a:bodyPr wrap="square" lIns="0" tIns="0" rIns="0" bIns="0" rtlCol="0" anchor="t"/>
          <a:lstStyle/>
          <a:p>
            <a:pPr marL="0" indent="0">
              <a:buNone/>
            </a:pPr>
            <a:r>
              <a:rPr lang="en-US" sz="1400" dirty="0">
                <a:solidFill>
                  <a:schemeClr val="tx1"/>
                </a:solidFill>
                <a:latin typeface="Calibri" pitchFamily="34" charset="0"/>
                <a:ea typeface="Calibri" pitchFamily="34" charset="-122"/>
                <a:cs typeface="Calibri" pitchFamily="34" charset="-120"/>
              </a:rPr>
              <a:t>Eran archivos generados por las herramientas. Se revirtieron para mantener limpio el repositorio.</a:t>
            </a:r>
            <a:endParaRPr lang="en-US" sz="1400" dirty="0"/>
          </a:p>
        </p:txBody>
      </p:sp>
      <p:sp>
        <p:nvSpPr>
          <p:cNvPr id="13" name="Fallo 3"/>
          <p:cNvSpPr/>
          <p:nvPr/>
        </p:nvSpPr>
        <p:spPr>
          <a:xfrm>
            <a:off x="6126480" y="1188720"/>
            <a:ext cx="2560320" cy="2651760"/>
          </a:xfrm>
          <a:prstGeom prst="roundRect">
            <a:avLst>
              <a:gd name="adj" fmla="val 3571"/>
            </a:avLst>
          </a:prstGeom>
          <a:solidFill>
            <a:schemeClr val="bg2"/>
          </a:solidFill>
          <a:ln w="12700">
            <a:solidFill>
              <a:srgbClr val="DCE4EA"/>
            </a:solidFill>
            <a:prstDash val="solid"/>
          </a:ln>
        </p:spPr>
        <p:txBody>
          <a:bodyPr/>
          <a:lstStyle/>
          <a:p>
            <a:endParaRPr lang="es-PE"/>
          </a:p>
        </p:txBody>
      </p:sp>
      <p:sp>
        <p:nvSpPr>
          <p:cNvPr id="14" name="Marca 3"/>
          <p:cNvSpPr/>
          <p:nvPr/>
        </p:nvSpPr>
        <p:spPr>
          <a:xfrm>
            <a:off x="6309360" y="1371600"/>
            <a:ext cx="457200" cy="457200"/>
          </a:xfrm>
          <a:prstGeom prst="ellipse">
            <a:avLst/>
          </a:prstGeom>
          <a:solidFill>
            <a:schemeClr val="accent3"/>
          </a:solidFill>
          <a:ln/>
        </p:spPr>
        <p:txBody>
          <a:bodyPr/>
          <a:lstStyle/>
          <a:p>
            <a:endParaRPr lang="es-PE"/>
          </a:p>
        </p:txBody>
      </p:sp>
      <p:sp>
        <p:nvSpPr>
          <p:cNvPr id="15" name="Cifra fallo 3"/>
          <p:cNvSpPr txBox="1"/>
          <p:nvPr/>
        </p:nvSpPr>
        <p:spPr>
          <a:xfrm>
            <a:off x="6309360" y="1371600"/>
            <a:ext cx="457200" cy="457200"/>
          </a:xfrm>
          <a:prstGeom prst="rect">
            <a:avLst/>
          </a:prstGeom>
          <a:noFill/>
          <a:ln/>
        </p:spPr>
        <p:txBody>
          <a:bodyPr wrap="square" lIns="0" tIns="0" rIns="0" bIns="0" rtlCol="0" anchor="ctr"/>
          <a:lstStyle/>
          <a:p>
            <a:pPr marL="0" indent="0" algn="ctr">
              <a:buNone/>
            </a:pPr>
            <a:r>
              <a:rPr lang="en-US" sz="1800" b="1" dirty="0">
                <a:solidFill>
                  <a:schemeClr val="bg1"/>
                </a:solidFill>
                <a:latin typeface="Calibri" pitchFamily="34" charset="0"/>
                <a:ea typeface="Calibri" pitchFamily="34" charset="-122"/>
                <a:cs typeface="Calibri" pitchFamily="34" charset="-120"/>
              </a:rPr>
              <a:t>3</a:t>
            </a:r>
            <a:endParaRPr lang="en-US" sz="1800" dirty="0"/>
          </a:p>
        </p:txBody>
      </p:sp>
      <p:sp>
        <p:nvSpPr>
          <p:cNvPr id="16" name="Fallo título 3"/>
          <p:cNvSpPr txBox="1"/>
          <p:nvPr/>
        </p:nvSpPr>
        <p:spPr>
          <a:xfrm>
            <a:off x="6309360" y="1920240"/>
            <a:ext cx="2194560" cy="777240"/>
          </a:xfrm>
          <a:prstGeom prst="rect">
            <a:avLst/>
          </a:prstGeom>
          <a:noFill/>
          <a:ln/>
        </p:spPr>
        <p:txBody>
          <a:bodyPr wrap="square" lIns="0" tIns="0" rIns="0" bIns="0" rtlCol="0" anchor="t"/>
          <a:lstStyle/>
          <a:p>
            <a:pPr marL="0" indent="0">
              <a:buNone/>
            </a:pPr>
            <a:r>
              <a:rPr lang="en-US" sz="1600" b="1" dirty="0">
                <a:solidFill>
                  <a:schemeClr val="tx2"/>
                </a:solidFill>
                <a:latin typeface="Calibri" pitchFamily="34" charset="0"/>
                <a:ea typeface="Calibri" pitchFamily="34" charset="-122"/>
                <a:cs typeface="Calibri" pitchFamily="34" charset="-120"/>
              </a:rPr>
              <a:t>Una prueba fallaba al correr junto a otras</a:t>
            </a:r>
            <a:endParaRPr lang="en-US" sz="1600" dirty="0"/>
          </a:p>
        </p:txBody>
      </p:sp>
      <p:sp>
        <p:nvSpPr>
          <p:cNvPr id="17" name="Fallo detalle 3"/>
          <p:cNvSpPr txBox="1"/>
          <p:nvPr/>
        </p:nvSpPr>
        <p:spPr>
          <a:xfrm>
            <a:off x="6309360" y="2697480"/>
            <a:ext cx="2194560" cy="1097280"/>
          </a:xfrm>
          <a:prstGeom prst="rect">
            <a:avLst/>
          </a:prstGeom>
          <a:noFill/>
          <a:ln/>
        </p:spPr>
        <p:txBody>
          <a:bodyPr wrap="square" lIns="0" tIns="0" rIns="0" bIns="0" rtlCol="0" anchor="t"/>
          <a:lstStyle/>
          <a:p>
            <a:pPr marL="0" indent="0">
              <a:buNone/>
            </a:pPr>
            <a:r>
              <a:rPr lang="en-US" sz="1400" dirty="0">
                <a:solidFill>
                  <a:schemeClr val="tx1"/>
                </a:solidFill>
                <a:latin typeface="Calibri" pitchFamily="34" charset="0"/>
                <a:ea typeface="Calibri" pitchFamily="34" charset="-122"/>
                <a:cs typeface="Calibri" pitchFamily="34" charset="-120"/>
              </a:rPr>
              <a:t>Fallaba cuando varias pruebas corrían al mismo tiempo. Se reescribió para que no dependa de eso.</a:t>
            </a:r>
            <a:endParaRPr lang="en-US" sz="1400" dirty="0"/>
          </a:p>
        </p:txBody>
      </p:sp>
      <p:sp>
        <p:nvSpPr>
          <p:cNvPr id="18" name="Mensaje de responsabilidad"/>
          <p:cNvSpPr/>
          <p:nvPr/>
        </p:nvSpPr>
        <p:spPr>
          <a:xfrm>
            <a:off x="457200" y="4023360"/>
            <a:ext cx="8229600" cy="640080"/>
          </a:xfrm>
          <a:prstGeom prst="roundRect">
            <a:avLst>
              <a:gd name="adj" fmla="val 14286"/>
            </a:avLst>
          </a:prstGeom>
          <a:solidFill>
            <a:schemeClr val="tx2"/>
          </a:solidFill>
          <a:ln/>
        </p:spPr>
        <p:txBody>
          <a:bodyPr/>
          <a:lstStyle/>
          <a:p>
            <a:endParaRPr lang="es-PE"/>
          </a:p>
        </p:txBody>
      </p:sp>
      <p:sp>
        <p:nvSpPr>
          <p:cNvPr id="19" name="Texto de responsabilidad"/>
          <p:cNvSpPr txBox="1"/>
          <p:nvPr/>
        </p:nvSpPr>
        <p:spPr>
          <a:xfrm>
            <a:off x="685800" y="4023360"/>
            <a:ext cx="7772400" cy="640080"/>
          </a:xfrm>
          <a:prstGeom prst="rect">
            <a:avLst/>
          </a:prstGeom>
          <a:noFill/>
          <a:ln/>
        </p:spPr>
        <p:txBody>
          <a:bodyPr wrap="square" lIns="0" tIns="0" rIns="0" bIns="0" rtlCol="0" anchor="ctr"/>
          <a:lstStyle/>
          <a:p>
            <a:pPr marL="0" indent="0">
              <a:buNone/>
            </a:pPr>
            <a:r>
              <a:rPr lang="en-US" sz="1600" b="1" dirty="0">
                <a:solidFill>
                  <a:schemeClr val="bg1"/>
                </a:solidFill>
                <a:latin typeface="Calibri" pitchFamily="34" charset="0"/>
                <a:ea typeface="Calibri" pitchFamily="34" charset="-122"/>
                <a:cs typeface="Calibri" pitchFamily="34" charset="-120"/>
              </a:rPr>
              <a:t>Registramos 7 fallos así: la responsabilidad final es de quien desarrolla.</a:t>
            </a:r>
            <a:endParaRPr lang="en-US" sz="16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74320"/>
            <a:ext cx="7589520" cy="731520"/>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Comprobamos que funciona</a:t>
            </a:r>
            <a:endParaRPr lang="en-US" sz="3000" dirty="0"/>
          </a:p>
        </p:txBody>
      </p:sp>
      <p:sp>
        <p:nvSpPr>
          <p:cNvPr id="3" name="Total 176"/>
          <p:cNvSpPr/>
          <p:nvPr/>
        </p:nvSpPr>
        <p:spPr>
          <a:xfrm>
            <a:off x="457200" y="1188720"/>
            <a:ext cx="4023360" cy="1600200"/>
          </a:xfrm>
          <a:prstGeom prst="roundRect">
            <a:avLst>
              <a:gd name="adj" fmla="val 5714"/>
            </a:avLst>
          </a:prstGeom>
          <a:solidFill>
            <a:schemeClr val="bg2"/>
          </a:solidFill>
          <a:ln w="12700">
            <a:solidFill>
              <a:srgbClr val="DCE4EA"/>
            </a:solidFill>
            <a:prstDash val="solid"/>
          </a:ln>
        </p:spPr>
        <p:txBody>
          <a:bodyPr/>
          <a:lstStyle/>
          <a:p>
            <a:endParaRPr lang="es-PE"/>
          </a:p>
        </p:txBody>
      </p:sp>
      <p:sp>
        <p:nvSpPr>
          <p:cNvPr id="4" name="Número 176"/>
          <p:cNvSpPr txBox="1"/>
          <p:nvPr/>
        </p:nvSpPr>
        <p:spPr>
          <a:xfrm>
            <a:off x="731520" y="1280160"/>
            <a:ext cx="1737360" cy="1417320"/>
          </a:xfrm>
          <a:prstGeom prst="rect">
            <a:avLst/>
          </a:prstGeom>
          <a:noFill/>
          <a:ln/>
        </p:spPr>
        <p:txBody>
          <a:bodyPr wrap="square" lIns="0" tIns="0" rIns="0" bIns="0" rtlCol="0" anchor="ctr"/>
          <a:lstStyle/>
          <a:p>
            <a:pPr marL="0" indent="0">
              <a:buNone/>
            </a:pPr>
            <a:r>
              <a:rPr lang="en-US" sz="6000" b="1" dirty="0">
                <a:solidFill>
                  <a:schemeClr val="accent1"/>
                </a:solidFill>
                <a:latin typeface="Cambria" pitchFamily="34" charset="0"/>
                <a:ea typeface="Cambria" pitchFamily="34" charset="-122"/>
                <a:cs typeface="Cambria" pitchFamily="34" charset="-120"/>
              </a:rPr>
              <a:t>176</a:t>
            </a:r>
            <a:endParaRPr lang="en-US" sz="6000" dirty="0"/>
          </a:p>
        </p:txBody>
      </p:sp>
      <p:sp>
        <p:nvSpPr>
          <p:cNvPr id="5" name="Detalle 176"/>
          <p:cNvSpPr txBox="1"/>
          <p:nvPr/>
        </p:nvSpPr>
        <p:spPr>
          <a:xfrm>
            <a:off x="2240280" y="1280160"/>
            <a:ext cx="2103120" cy="1417320"/>
          </a:xfrm>
          <a:prstGeom prst="rect">
            <a:avLst/>
          </a:prstGeom>
          <a:noFill/>
          <a:ln/>
        </p:spPr>
        <p:txBody>
          <a:bodyPr wrap="square" lIns="0" tIns="0" rIns="0" bIns="0" rtlCol="0" anchor="ctr"/>
          <a:lstStyle/>
          <a:p>
            <a:pPr marL="0" indent="0">
              <a:buNone/>
            </a:pPr>
            <a:r>
              <a:rPr lang="en-US" sz="1800" b="1" dirty="0">
                <a:solidFill>
                  <a:schemeClr val="tx2"/>
                </a:solidFill>
                <a:latin typeface="Calibri" pitchFamily="34" charset="0"/>
                <a:ea typeface="Calibri" pitchFamily="34" charset="-122"/>
                <a:cs typeface="Calibri" pitchFamily="34" charset="-120"/>
              </a:rPr>
              <a:t>pruebas del servidor</a:t>
            </a:r>
            <a:endParaRPr lang="en-US" sz="1400" dirty="0"/>
          </a:p>
          <a:p>
            <a:pPr marL="0" indent="0">
              <a:buNone/>
            </a:pPr>
            <a:r>
              <a:rPr lang="en-US" sz="1400" dirty="0">
                <a:solidFill>
                  <a:schemeClr val="tx1"/>
                </a:solidFill>
                <a:latin typeface="Calibri" pitchFamily="34" charset="0"/>
                <a:ea typeface="Calibri" pitchFamily="34" charset="-122"/>
                <a:cs typeface="Calibri" pitchFamily="34" charset="-120"/>
              </a:rPr>
              <a:t>Reglas, permisos, pagos y analíticas</a:t>
            </a:r>
            <a:endParaRPr lang="en-US" sz="1400" dirty="0"/>
          </a:p>
        </p:txBody>
      </p:sp>
      <p:sp>
        <p:nvSpPr>
          <p:cNvPr id="6" name="Total 154"/>
          <p:cNvSpPr/>
          <p:nvPr/>
        </p:nvSpPr>
        <p:spPr>
          <a:xfrm>
            <a:off x="4663440" y="1188720"/>
            <a:ext cx="4023360" cy="1600200"/>
          </a:xfrm>
          <a:prstGeom prst="roundRect">
            <a:avLst>
              <a:gd name="adj" fmla="val 5714"/>
            </a:avLst>
          </a:prstGeom>
          <a:solidFill>
            <a:schemeClr val="bg2"/>
          </a:solidFill>
          <a:ln w="12700">
            <a:solidFill>
              <a:srgbClr val="DCE4EA"/>
            </a:solidFill>
            <a:prstDash val="solid"/>
          </a:ln>
        </p:spPr>
        <p:txBody>
          <a:bodyPr/>
          <a:lstStyle/>
          <a:p>
            <a:endParaRPr lang="es-PE"/>
          </a:p>
        </p:txBody>
      </p:sp>
      <p:sp>
        <p:nvSpPr>
          <p:cNvPr id="7" name="Número 154"/>
          <p:cNvSpPr txBox="1"/>
          <p:nvPr/>
        </p:nvSpPr>
        <p:spPr>
          <a:xfrm>
            <a:off x="4937760" y="1280160"/>
            <a:ext cx="1737360" cy="1417320"/>
          </a:xfrm>
          <a:prstGeom prst="rect">
            <a:avLst/>
          </a:prstGeom>
          <a:noFill/>
          <a:ln/>
        </p:spPr>
        <p:txBody>
          <a:bodyPr wrap="square" lIns="0" tIns="0" rIns="0" bIns="0" rtlCol="0" anchor="ctr"/>
          <a:lstStyle/>
          <a:p>
            <a:pPr marL="0" indent="0">
              <a:buNone/>
            </a:pPr>
            <a:r>
              <a:rPr lang="en-US" sz="6000" b="1" dirty="0">
                <a:solidFill>
                  <a:schemeClr val="accent1"/>
                </a:solidFill>
                <a:latin typeface="Cambria" pitchFamily="34" charset="0"/>
                <a:ea typeface="Cambria" pitchFamily="34" charset="-122"/>
                <a:cs typeface="Cambria" pitchFamily="34" charset="-120"/>
              </a:rPr>
              <a:t>154</a:t>
            </a:r>
            <a:endParaRPr lang="en-US" sz="6000" dirty="0"/>
          </a:p>
        </p:txBody>
      </p:sp>
      <p:sp>
        <p:nvSpPr>
          <p:cNvPr id="8" name="Detalle 154"/>
          <p:cNvSpPr txBox="1"/>
          <p:nvPr/>
        </p:nvSpPr>
        <p:spPr>
          <a:xfrm>
            <a:off x="6446520" y="1280160"/>
            <a:ext cx="2103120" cy="1417320"/>
          </a:xfrm>
          <a:prstGeom prst="rect">
            <a:avLst/>
          </a:prstGeom>
          <a:noFill/>
          <a:ln/>
        </p:spPr>
        <p:txBody>
          <a:bodyPr wrap="square" lIns="0" tIns="0" rIns="0" bIns="0" rtlCol="0" anchor="ctr"/>
          <a:lstStyle/>
          <a:p>
            <a:pPr marL="0" indent="0">
              <a:buNone/>
            </a:pPr>
            <a:r>
              <a:rPr lang="en-US" sz="1800" b="1" dirty="0">
                <a:solidFill>
                  <a:schemeClr val="tx2"/>
                </a:solidFill>
                <a:latin typeface="Calibri" pitchFamily="34" charset="0"/>
                <a:ea typeface="Calibri" pitchFamily="34" charset="-122"/>
                <a:cs typeface="Calibri" pitchFamily="34" charset="-120"/>
              </a:rPr>
              <a:t>pruebas de las pantallas</a:t>
            </a:r>
            <a:endParaRPr lang="en-US" sz="1400" dirty="0"/>
          </a:p>
          <a:p>
            <a:pPr marL="0" indent="0">
              <a:buNone/>
            </a:pPr>
            <a:r>
              <a:rPr lang="en-US" sz="1400" dirty="0">
                <a:solidFill>
                  <a:schemeClr val="tx1"/>
                </a:solidFill>
                <a:latin typeface="Calibri" pitchFamily="34" charset="0"/>
                <a:ea typeface="Calibri" pitchFamily="34" charset="-122"/>
                <a:cs typeface="Calibri" pitchFamily="34" charset="-120"/>
              </a:rPr>
              <a:t>Formularios, sesión y formatos</a:t>
            </a:r>
            <a:endParaRPr lang="en-US" sz="1400" dirty="0"/>
          </a:p>
        </p:txBody>
      </p:sp>
      <p:sp>
        <p:nvSpPr>
          <p:cNvPr id="9" name="Forma Pagos a la vez"/>
          <p:cNvSpPr/>
          <p:nvPr/>
        </p:nvSpPr>
        <p:spPr>
          <a:xfrm>
            <a:off x="457200" y="3017520"/>
            <a:ext cx="2560320" cy="1600200"/>
          </a:xfrm>
          <a:prstGeom prst="roundRect">
            <a:avLst>
              <a:gd name="adj" fmla="val 5714"/>
            </a:avLst>
          </a:prstGeom>
          <a:solidFill>
            <a:schemeClr val="bg2"/>
          </a:solidFill>
          <a:ln w="12700">
            <a:solidFill>
              <a:srgbClr val="DCE4EA"/>
            </a:solidFill>
            <a:prstDash val="solid"/>
          </a:ln>
        </p:spPr>
        <p:txBody>
          <a:bodyPr/>
          <a:lstStyle/>
          <a:p>
            <a:endParaRPr lang="es-PE"/>
          </a:p>
        </p:txBody>
      </p:sp>
      <p:sp>
        <p:nvSpPr>
          <p:cNvPr id="10" name="Icono Pagos a la vez (círculo)"/>
          <p:cNvSpPr/>
          <p:nvPr/>
        </p:nvSpPr>
        <p:spPr>
          <a:xfrm>
            <a:off x="640080" y="3154680"/>
            <a:ext cx="502920" cy="502920"/>
          </a:xfrm>
          <a:prstGeom prst="ellipse">
            <a:avLst/>
          </a:prstGeom>
          <a:solidFill>
            <a:srgbClr val="DCE9F1"/>
          </a:solidFill>
          <a:ln/>
        </p:spPr>
        <p:txBody>
          <a:bodyPr/>
          <a:lstStyle/>
          <a:p>
            <a:endParaRPr lang="es-PE"/>
          </a:p>
        </p:txBody>
      </p:sp>
      <p:pic>
        <p:nvPicPr>
          <p:cNvPr id="11" name="Icono Pagos a la vez" descr="Icono Pagos a la vez"/>
          <p:cNvPicPr>
            <a:picLocks noChangeAspect="1"/>
          </p:cNvPicPr>
          <p:nvPr/>
        </p:nvPicPr>
        <p:blipFill>
          <a:blip r:embed="rId3"/>
          <a:stretch>
            <a:fillRect/>
          </a:stretch>
        </p:blipFill>
        <p:spPr>
          <a:xfrm>
            <a:off x="765810" y="3280410"/>
            <a:ext cx="251460" cy="251460"/>
          </a:xfrm>
          <a:prstGeom prst="rect">
            <a:avLst/>
          </a:prstGeom>
        </p:spPr>
      </p:pic>
      <p:sp>
        <p:nvSpPr>
          <p:cNvPr id="12" name="Título Pagos a la vez"/>
          <p:cNvSpPr txBox="1"/>
          <p:nvPr/>
        </p:nvSpPr>
        <p:spPr>
          <a:xfrm>
            <a:off x="1280160" y="3154680"/>
            <a:ext cx="1645920" cy="502920"/>
          </a:xfrm>
          <a:prstGeom prst="rect">
            <a:avLst/>
          </a:prstGeom>
          <a:noFill/>
          <a:ln/>
        </p:spPr>
        <p:txBody>
          <a:bodyPr wrap="square" lIns="0" tIns="0" rIns="0" bIns="0" rtlCol="0" anchor="ctr"/>
          <a:lstStyle/>
          <a:p>
            <a:pPr marL="0" indent="0">
              <a:buNone/>
            </a:pPr>
            <a:r>
              <a:rPr lang="en-US" sz="1600" b="1" dirty="0">
                <a:solidFill>
                  <a:schemeClr val="tx2"/>
                </a:solidFill>
                <a:latin typeface="Calibri" pitchFamily="34" charset="0"/>
                <a:ea typeface="Calibri" pitchFamily="34" charset="-122"/>
                <a:cs typeface="Calibri" pitchFamily="34" charset="-120"/>
              </a:rPr>
              <a:t>Pagos a la vez</a:t>
            </a:r>
            <a:endParaRPr lang="en-US" sz="1600" dirty="0"/>
          </a:p>
        </p:txBody>
      </p:sp>
      <p:sp>
        <p:nvSpPr>
          <p:cNvPr id="13" name="Texto Pagos a la vez"/>
          <p:cNvSpPr txBox="1"/>
          <p:nvPr/>
        </p:nvSpPr>
        <p:spPr>
          <a:xfrm>
            <a:off x="640080" y="3749040"/>
            <a:ext cx="2240280" cy="822960"/>
          </a:xfrm>
          <a:prstGeom prst="rect">
            <a:avLst/>
          </a:prstGeom>
          <a:noFill/>
          <a:ln/>
        </p:spPr>
        <p:txBody>
          <a:bodyPr wrap="square" lIns="0" tIns="0" rIns="0" bIns="0" rtlCol="0" anchor="t"/>
          <a:lstStyle/>
          <a:p>
            <a:pPr marL="0" indent="0">
              <a:buNone/>
            </a:pPr>
            <a:r>
              <a:rPr lang="en-US" sz="1400" dirty="0">
                <a:solidFill>
                  <a:schemeClr val="tx1"/>
                </a:solidFill>
                <a:latin typeface="Calibri" pitchFamily="34" charset="0"/>
                <a:ea typeface="Calibri" pitchFamily="34" charset="-122"/>
                <a:cs typeface="Calibri" pitchFamily="34" charset="-120"/>
              </a:rPr>
              <a:t>Se lanzan 5 pagos juntos y solo uno se acepta.</a:t>
            </a:r>
            <a:endParaRPr lang="en-US" sz="1400" dirty="0"/>
          </a:p>
        </p:txBody>
      </p:sp>
      <p:sp>
        <p:nvSpPr>
          <p:cNvPr id="14" name="Forma Datos contrastados"/>
          <p:cNvSpPr/>
          <p:nvPr/>
        </p:nvSpPr>
        <p:spPr>
          <a:xfrm>
            <a:off x="3291840" y="3017520"/>
            <a:ext cx="2560320" cy="1600200"/>
          </a:xfrm>
          <a:prstGeom prst="roundRect">
            <a:avLst>
              <a:gd name="adj" fmla="val 5714"/>
            </a:avLst>
          </a:prstGeom>
          <a:solidFill>
            <a:schemeClr val="bg2"/>
          </a:solidFill>
          <a:ln w="12700">
            <a:solidFill>
              <a:srgbClr val="DCE4EA"/>
            </a:solidFill>
            <a:prstDash val="solid"/>
          </a:ln>
        </p:spPr>
        <p:txBody>
          <a:bodyPr/>
          <a:lstStyle/>
          <a:p>
            <a:endParaRPr lang="es-PE"/>
          </a:p>
        </p:txBody>
      </p:sp>
      <p:sp>
        <p:nvSpPr>
          <p:cNvPr id="15" name="Icono Datos contrastados (círculo)"/>
          <p:cNvSpPr/>
          <p:nvPr/>
        </p:nvSpPr>
        <p:spPr>
          <a:xfrm>
            <a:off x="3474720" y="3154680"/>
            <a:ext cx="502920" cy="502920"/>
          </a:xfrm>
          <a:prstGeom prst="ellipse">
            <a:avLst/>
          </a:prstGeom>
          <a:solidFill>
            <a:srgbClr val="DCE9F1"/>
          </a:solidFill>
          <a:ln/>
        </p:spPr>
        <p:txBody>
          <a:bodyPr/>
          <a:lstStyle/>
          <a:p>
            <a:endParaRPr lang="es-PE"/>
          </a:p>
        </p:txBody>
      </p:sp>
      <p:pic>
        <p:nvPicPr>
          <p:cNvPr id="16" name="Icono Datos contrastados" descr="Icono Datos contrastados"/>
          <p:cNvPicPr>
            <a:picLocks noChangeAspect="1"/>
          </p:cNvPicPr>
          <p:nvPr/>
        </p:nvPicPr>
        <p:blipFill>
          <a:blip r:embed="rId4"/>
          <a:stretch>
            <a:fillRect/>
          </a:stretch>
        </p:blipFill>
        <p:spPr>
          <a:xfrm>
            <a:off x="3600450" y="3280410"/>
            <a:ext cx="251460" cy="251460"/>
          </a:xfrm>
          <a:prstGeom prst="rect">
            <a:avLst/>
          </a:prstGeom>
        </p:spPr>
      </p:pic>
      <p:sp>
        <p:nvSpPr>
          <p:cNvPr id="17" name="Título Datos contrastados"/>
          <p:cNvSpPr txBox="1"/>
          <p:nvPr/>
        </p:nvSpPr>
        <p:spPr>
          <a:xfrm>
            <a:off x="4114800" y="3154680"/>
            <a:ext cx="1645920" cy="502920"/>
          </a:xfrm>
          <a:prstGeom prst="rect">
            <a:avLst/>
          </a:prstGeom>
          <a:noFill/>
          <a:ln/>
        </p:spPr>
        <p:txBody>
          <a:bodyPr wrap="square" lIns="0" tIns="0" rIns="0" bIns="0" rtlCol="0" anchor="ctr"/>
          <a:lstStyle/>
          <a:p>
            <a:pPr marL="0" indent="0">
              <a:buNone/>
            </a:pPr>
            <a:r>
              <a:rPr lang="en-US" sz="1600" b="1" dirty="0">
                <a:solidFill>
                  <a:schemeClr val="tx2"/>
                </a:solidFill>
                <a:latin typeface="Calibri" pitchFamily="34" charset="0"/>
                <a:ea typeface="Calibri" pitchFamily="34" charset="-122"/>
                <a:cs typeface="Calibri" pitchFamily="34" charset="-120"/>
              </a:rPr>
              <a:t>Datos contrastados</a:t>
            </a:r>
            <a:endParaRPr lang="en-US" sz="1600" dirty="0"/>
          </a:p>
        </p:txBody>
      </p:sp>
      <p:sp>
        <p:nvSpPr>
          <p:cNvPr id="18" name="Texto Datos contrastados"/>
          <p:cNvSpPr txBox="1"/>
          <p:nvPr/>
        </p:nvSpPr>
        <p:spPr>
          <a:xfrm>
            <a:off x="3474720" y="3749040"/>
            <a:ext cx="2240280" cy="822960"/>
          </a:xfrm>
          <a:prstGeom prst="rect">
            <a:avLst/>
          </a:prstGeom>
          <a:noFill/>
          <a:ln/>
        </p:spPr>
        <p:txBody>
          <a:bodyPr wrap="square" lIns="0" tIns="0" rIns="0" bIns="0" rtlCol="0" anchor="t"/>
          <a:lstStyle/>
          <a:p>
            <a:pPr marL="0" indent="0">
              <a:buNone/>
            </a:pPr>
            <a:r>
              <a:rPr lang="en-US" sz="1400" dirty="0">
                <a:solidFill>
                  <a:schemeClr val="tx1"/>
                </a:solidFill>
                <a:latin typeface="Calibri" pitchFamily="34" charset="0"/>
                <a:ea typeface="Calibri" pitchFamily="34" charset="-122"/>
                <a:cs typeface="Calibri" pitchFamily="34" charset="-120"/>
              </a:rPr>
              <a:t>El panel coincide con las consultas de la base de datos.</a:t>
            </a:r>
            <a:endParaRPr lang="en-US" sz="1400" dirty="0"/>
          </a:p>
        </p:txBody>
      </p:sp>
      <p:sp>
        <p:nvSpPr>
          <p:cNvPr id="19" name="Forma Prueba real"/>
          <p:cNvSpPr/>
          <p:nvPr/>
        </p:nvSpPr>
        <p:spPr>
          <a:xfrm>
            <a:off x="6126480" y="3017520"/>
            <a:ext cx="2560320" cy="1600200"/>
          </a:xfrm>
          <a:prstGeom prst="roundRect">
            <a:avLst>
              <a:gd name="adj" fmla="val 5714"/>
            </a:avLst>
          </a:prstGeom>
          <a:solidFill>
            <a:schemeClr val="bg2"/>
          </a:solidFill>
          <a:ln w="12700">
            <a:solidFill>
              <a:srgbClr val="DCE4EA"/>
            </a:solidFill>
            <a:prstDash val="solid"/>
          </a:ln>
        </p:spPr>
        <p:txBody>
          <a:bodyPr/>
          <a:lstStyle/>
          <a:p>
            <a:endParaRPr lang="es-PE"/>
          </a:p>
        </p:txBody>
      </p:sp>
      <p:sp>
        <p:nvSpPr>
          <p:cNvPr id="20" name="Icono Prueba real (círculo)"/>
          <p:cNvSpPr/>
          <p:nvPr/>
        </p:nvSpPr>
        <p:spPr>
          <a:xfrm>
            <a:off x="6309360" y="3154680"/>
            <a:ext cx="502920" cy="502920"/>
          </a:xfrm>
          <a:prstGeom prst="ellipse">
            <a:avLst/>
          </a:prstGeom>
          <a:solidFill>
            <a:srgbClr val="DCE9F1"/>
          </a:solidFill>
          <a:ln/>
        </p:spPr>
        <p:txBody>
          <a:bodyPr/>
          <a:lstStyle/>
          <a:p>
            <a:endParaRPr lang="es-PE"/>
          </a:p>
        </p:txBody>
      </p:sp>
      <p:pic>
        <p:nvPicPr>
          <p:cNvPr id="21" name="Icono Prueba real" descr="Icono Prueba real"/>
          <p:cNvPicPr>
            <a:picLocks noChangeAspect="1"/>
          </p:cNvPicPr>
          <p:nvPr/>
        </p:nvPicPr>
        <p:blipFill>
          <a:blip r:embed="rId5"/>
          <a:stretch>
            <a:fillRect/>
          </a:stretch>
        </p:blipFill>
        <p:spPr>
          <a:xfrm>
            <a:off x="6435090" y="3280410"/>
            <a:ext cx="251460" cy="251460"/>
          </a:xfrm>
          <a:prstGeom prst="rect">
            <a:avLst/>
          </a:prstGeom>
        </p:spPr>
      </p:pic>
      <p:sp>
        <p:nvSpPr>
          <p:cNvPr id="22" name="Título Prueba real"/>
          <p:cNvSpPr txBox="1"/>
          <p:nvPr/>
        </p:nvSpPr>
        <p:spPr>
          <a:xfrm>
            <a:off x="6949440" y="3154680"/>
            <a:ext cx="1645920" cy="502920"/>
          </a:xfrm>
          <a:prstGeom prst="rect">
            <a:avLst/>
          </a:prstGeom>
          <a:noFill/>
          <a:ln/>
        </p:spPr>
        <p:txBody>
          <a:bodyPr wrap="square" lIns="0" tIns="0" rIns="0" bIns="0" rtlCol="0" anchor="ctr"/>
          <a:lstStyle/>
          <a:p>
            <a:pPr marL="0" indent="0">
              <a:buNone/>
            </a:pPr>
            <a:r>
              <a:rPr lang="en-US" sz="1600" b="1" dirty="0">
                <a:solidFill>
                  <a:schemeClr val="tx2"/>
                </a:solidFill>
                <a:latin typeface="Calibri" pitchFamily="34" charset="0"/>
                <a:ea typeface="Calibri" pitchFamily="34" charset="-122"/>
                <a:cs typeface="Calibri" pitchFamily="34" charset="-120"/>
              </a:rPr>
              <a:t>Prueba real</a:t>
            </a:r>
            <a:endParaRPr lang="en-US" sz="1600" dirty="0"/>
          </a:p>
        </p:txBody>
      </p:sp>
      <p:sp>
        <p:nvSpPr>
          <p:cNvPr id="23" name="Texto Prueba real"/>
          <p:cNvSpPr txBox="1"/>
          <p:nvPr/>
        </p:nvSpPr>
        <p:spPr>
          <a:xfrm>
            <a:off x="6309360" y="3749040"/>
            <a:ext cx="2240280" cy="822960"/>
          </a:xfrm>
          <a:prstGeom prst="rect">
            <a:avLst/>
          </a:prstGeom>
          <a:noFill/>
          <a:ln/>
        </p:spPr>
        <p:txBody>
          <a:bodyPr wrap="square" lIns="0" tIns="0" rIns="0" bIns="0" rtlCol="0" anchor="t"/>
          <a:lstStyle/>
          <a:p>
            <a:pPr marL="0" indent="0">
              <a:buNone/>
            </a:pPr>
            <a:r>
              <a:rPr lang="en-US" sz="1400" dirty="0">
                <a:solidFill>
                  <a:schemeClr val="tx1"/>
                </a:solidFill>
                <a:latin typeface="Calibri" pitchFamily="34" charset="0"/>
                <a:ea typeface="Calibri" pitchFamily="34" charset="-122"/>
                <a:cs typeface="Calibri" pitchFamily="34" charset="-120"/>
              </a:rPr>
              <a:t>Se instaló y probó en un IIS real.</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74320"/>
            <a:ext cx="7589520" cy="731520"/>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Demostración del sistema</a:t>
            </a:r>
            <a:endParaRPr lang="en-US" sz="3000" dirty="0"/>
          </a:p>
        </p:txBody>
      </p:sp>
      <p:sp>
        <p:nvSpPr>
          <p:cNvPr id="3" name="Número demo 1"/>
          <p:cNvSpPr/>
          <p:nvPr/>
        </p:nvSpPr>
        <p:spPr>
          <a:xfrm>
            <a:off x="457200" y="1225296"/>
            <a:ext cx="384048" cy="384048"/>
          </a:xfrm>
          <a:prstGeom prst="ellipse">
            <a:avLst/>
          </a:prstGeom>
          <a:solidFill>
            <a:schemeClr val="accent1"/>
          </a:solidFill>
          <a:ln/>
        </p:spPr>
        <p:txBody>
          <a:bodyPr/>
          <a:lstStyle/>
          <a:p>
            <a:endParaRPr lang="es-PE"/>
          </a:p>
        </p:txBody>
      </p:sp>
      <p:sp>
        <p:nvSpPr>
          <p:cNvPr id="4" name="Cifra demo 1"/>
          <p:cNvSpPr txBox="1"/>
          <p:nvPr/>
        </p:nvSpPr>
        <p:spPr>
          <a:xfrm>
            <a:off x="457200" y="1225296"/>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latin typeface="Calibri" pitchFamily="34" charset="0"/>
                <a:ea typeface="Calibri" pitchFamily="34" charset="-122"/>
                <a:cs typeface="Calibri" pitchFamily="34" charset="-120"/>
              </a:rPr>
              <a:t>1</a:t>
            </a:r>
            <a:endParaRPr lang="en-US" sz="1400" dirty="0"/>
          </a:p>
        </p:txBody>
      </p:sp>
      <p:sp>
        <p:nvSpPr>
          <p:cNvPr id="5" name="Paso demo 1"/>
          <p:cNvSpPr txBox="1"/>
          <p:nvPr/>
        </p:nvSpPr>
        <p:spPr>
          <a:xfrm>
            <a:off x="1005840" y="1188720"/>
            <a:ext cx="4480560" cy="45720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Entrar y ver el panel</a:t>
            </a:r>
            <a:endParaRPr lang="en-US" sz="1600" dirty="0"/>
          </a:p>
        </p:txBody>
      </p:sp>
      <p:sp>
        <p:nvSpPr>
          <p:cNvPr id="6" name="Número demo 2"/>
          <p:cNvSpPr/>
          <p:nvPr/>
        </p:nvSpPr>
        <p:spPr>
          <a:xfrm>
            <a:off x="457200" y="1719072"/>
            <a:ext cx="384048" cy="384048"/>
          </a:xfrm>
          <a:prstGeom prst="ellipse">
            <a:avLst/>
          </a:prstGeom>
          <a:solidFill>
            <a:schemeClr val="accent1"/>
          </a:solidFill>
          <a:ln/>
        </p:spPr>
        <p:txBody>
          <a:bodyPr/>
          <a:lstStyle/>
          <a:p>
            <a:endParaRPr lang="es-PE"/>
          </a:p>
        </p:txBody>
      </p:sp>
      <p:sp>
        <p:nvSpPr>
          <p:cNvPr id="7" name="Cifra demo 2"/>
          <p:cNvSpPr txBox="1"/>
          <p:nvPr/>
        </p:nvSpPr>
        <p:spPr>
          <a:xfrm>
            <a:off x="457200" y="17190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latin typeface="Calibri" pitchFamily="34" charset="0"/>
                <a:ea typeface="Calibri" pitchFamily="34" charset="-122"/>
                <a:cs typeface="Calibri" pitchFamily="34" charset="-120"/>
              </a:rPr>
              <a:t>2</a:t>
            </a:r>
            <a:endParaRPr lang="en-US" sz="1400" dirty="0"/>
          </a:p>
        </p:txBody>
      </p:sp>
      <p:sp>
        <p:nvSpPr>
          <p:cNvPr id="8" name="Paso demo 2"/>
          <p:cNvSpPr txBox="1"/>
          <p:nvPr/>
        </p:nvSpPr>
        <p:spPr>
          <a:xfrm>
            <a:off x="1005840" y="1682496"/>
            <a:ext cx="4480560" cy="45720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Crear un cliente</a:t>
            </a:r>
            <a:endParaRPr lang="en-US" sz="1600" dirty="0"/>
          </a:p>
        </p:txBody>
      </p:sp>
      <p:sp>
        <p:nvSpPr>
          <p:cNvPr id="9" name="Número demo 3"/>
          <p:cNvSpPr/>
          <p:nvPr/>
        </p:nvSpPr>
        <p:spPr>
          <a:xfrm>
            <a:off x="457200" y="2212848"/>
            <a:ext cx="384048" cy="384048"/>
          </a:xfrm>
          <a:prstGeom prst="ellipse">
            <a:avLst/>
          </a:prstGeom>
          <a:solidFill>
            <a:schemeClr val="accent1"/>
          </a:solidFill>
          <a:ln/>
        </p:spPr>
        <p:txBody>
          <a:bodyPr/>
          <a:lstStyle/>
          <a:p>
            <a:endParaRPr lang="es-PE"/>
          </a:p>
        </p:txBody>
      </p:sp>
      <p:sp>
        <p:nvSpPr>
          <p:cNvPr id="10" name="Cifra demo 3"/>
          <p:cNvSpPr txBox="1"/>
          <p:nvPr/>
        </p:nvSpPr>
        <p:spPr>
          <a:xfrm>
            <a:off x="457200" y="2212848"/>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latin typeface="Calibri" pitchFamily="34" charset="0"/>
                <a:ea typeface="Calibri" pitchFamily="34" charset="-122"/>
                <a:cs typeface="Calibri" pitchFamily="34" charset="-120"/>
              </a:rPr>
              <a:t>3</a:t>
            </a:r>
            <a:endParaRPr lang="en-US" sz="1400" dirty="0"/>
          </a:p>
        </p:txBody>
      </p:sp>
      <p:sp>
        <p:nvSpPr>
          <p:cNvPr id="11" name="Paso demo 3"/>
          <p:cNvSpPr txBox="1"/>
          <p:nvPr/>
        </p:nvSpPr>
        <p:spPr>
          <a:xfrm>
            <a:off x="1005840" y="2176272"/>
            <a:ext cx="4480560" cy="45720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Registrar un contrato (operador)</a:t>
            </a:r>
            <a:endParaRPr lang="en-US" sz="1600" dirty="0"/>
          </a:p>
        </p:txBody>
      </p:sp>
      <p:sp>
        <p:nvSpPr>
          <p:cNvPr id="12" name="Número demo 4"/>
          <p:cNvSpPr/>
          <p:nvPr/>
        </p:nvSpPr>
        <p:spPr>
          <a:xfrm>
            <a:off x="457200" y="2706624"/>
            <a:ext cx="384048" cy="384048"/>
          </a:xfrm>
          <a:prstGeom prst="ellipse">
            <a:avLst/>
          </a:prstGeom>
          <a:solidFill>
            <a:schemeClr val="accent1"/>
          </a:solidFill>
          <a:ln/>
        </p:spPr>
        <p:txBody>
          <a:bodyPr/>
          <a:lstStyle/>
          <a:p>
            <a:endParaRPr lang="es-PE"/>
          </a:p>
        </p:txBody>
      </p:sp>
      <p:sp>
        <p:nvSpPr>
          <p:cNvPr id="13" name="Cifra demo 4"/>
          <p:cNvSpPr txBox="1"/>
          <p:nvPr/>
        </p:nvSpPr>
        <p:spPr>
          <a:xfrm>
            <a:off x="457200" y="2706624"/>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latin typeface="Calibri" pitchFamily="34" charset="0"/>
                <a:ea typeface="Calibri" pitchFamily="34" charset="-122"/>
                <a:cs typeface="Calibri" pitchFamily="34" charset="-120"/>
              </a:rPr>
              <a:t>4</a:t>
            </a:r>
            <a:endParaRPr lang="en-US" sz="1400" dirty="0"/>
          </a:p>
        </p:txBody>
      </p:sp>
      <p:sp>
        <p:nvSpPr>
          <p:cNvPr id="14" name="Paso demo 4"/>
          <p:cNvSpPr txBox="1"/>
          <p:nvPr/>
        </p:nvSpPr>
        <p:spPr>
          <a:xfrm>
            <a:off x="1005840" y="2670048"/>
            <a:ext cx="4480560" cy="45720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Autorizarlo (administrador)</a:t>
            </a:r>
            <a:endParaRPr lang="en-US" sz="1600" dirty="0"/>
          </a:p>
        </p:txBody>
      </p:sp>
      <p:sp>
        <p:nvSpPr>
          <p:cNvPr id="15" name="Número demo 5"/>
          <p:cNvSpPr/>
          <p:nvPr/>
        </p:nvSpPr>
        <p:spPr>
          <a:xfrm>
            <a:off x="457200" y="3200400"/>
            <a:ext cx="384048" cy="384048"/>
          </a:xfrm>
          <a:prstGeom prst="ellipse">
            <a:avLst/>
          </a:prstGeom>
          <a:solidFill>
            <a:schemeClr val="accent1"/>
          </a:solidFill>
          <a:ln/>
        </p:spPr>
        <p:txBody>
          <a:bodyPr/>
          <a:lstStyle/>
          <a:p>
            <a:endParaRPr lang="es-PE"/>
          </a:p>
        </p:txBody>
      </p:sp>
      <p:sp>
        <p:nvSpPr>
          <p:cNvPr id="16" name="Cifra demo 5"/>
          <p:cNvSpPr txBox="1"/>
          <p:nvPr/>
        </p:nvSpPr>
        <p:spPr>
          <a:xfrm>
            <a:off x="457200" y="32004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latin typeface="Calibri" pitchFamily="34" charset="0"/>
                <a:ea typeface="Calibri" pitchFamily="34" charset="-122"/>
                <a:cs typeface="Calibri" pitchFamily="34" charset="-120"/>
              </a:rPr>
              <a:t>5</a:t>
            </a:r>
            <a:endParaRPr lang="en-US" sz="1400" dirty="0"/>
          </a:p>
        </p:txBody>
      </p:sp>
      <p:sp>
        <p:nvSpPr>
          <p:cNvPr id="17" name="Paso demo 5"/>
          <p:cNvSpPr txBox="1"/>
          <p:nvPr/>
        </p:nvSpPr>
        <p:spPr>
          <a:xfrm>
            <a:off x="1005840" y="3163824"/>
            <a:ext cx="4480560" cy="45720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Ver las cuotas generadas</a:t>
            </a:r>
            <a:endParaRPr lang="en-US" sz="1600" dirty="0"/>
          </a:p>
        </p:txBody>
      </p:sp>
      <p:sp>
        <p:nvSpPr>
          <p:cNvPr id="18" name="Número demo 6"/>
          <p:cNvSpPr/>
          <p:nvPr/>
        </p:nvSpPr>
        <p:spPr>
          <a:xfrm>
            <a:off x="457200" y="3694176"/>
            <a:ext cx="384048" cy="384048"/>
          </a:xfrm>
          <a:prstGeom prst="ellipse">
            <a:avLst/>
          </a:prstGeom>
          <a:solidFill>
            <a:schemeClr val="accent1"/>
          </a:solidFill>
          <a:ln/>
        </p:spPr>
        <p:txBody>
          <a:bodyPr/>
          <a:lstStyle/>
          <a:p>
            <a:endParaRPr lang="es-PE"/>
          </a:p>
        </p:txBody>
      </p:sp>
      <p:sp>
        <p:nvSpPr>
          <p:cNvPr id="19" name="Cifra demo 6"/>
          <p:cNvSpPr txBox="1"/>
          <p:nvPr/>
        </p:nvSpPr>
        <p:spPr>
          <a:xfrm>
            <a:off x="457200" y="3694176"/>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latin typeface="Calibri" pitchFamily="34" charset="0"/>
                <a:ea typeface="Calibri" pitchFamily="34" charset="-122"/>
                <a:cs typeface="Calibri" pitchFamily="34" charset="-120"/>
              </a:rPr>
              <a:t>6</a:t>
            </a:r>
            <a:endParaRPr lang="en-US" sz="1400" dirty="0"/>
          </a:p>
        </p:txBody>
      </p:sp>
      <p:sp>
        <p:nvSpPr>
          <p:cNvPr id="20" name="Paso demo 6"/>
          <p:cNvSpPr txBox="1"/>
          <p:nvPr/>
        </p:nvSpPr>
        <p:spPr>
          <a:xfrm>
            <a:off x="1005840" y="3657600"/>
            <a:ext cx="4480560" cy="45720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Registrar un pago</a:t>
            </a:r>
            <a:endParaRPr lang="en-US" sz="1600" dirty="0"/>
          </a:p>
        </p:txBody>
      </p:sp>
      <p:sp>
        <p:nvSpPr>
          <p:cNvPr id="21" name="Número demo 7"/>
          <p:cNvSpPr/>
          <p:nvPr/>
        </p:nvSpPr>
        <p:spPr>
          <a:xfrm>
            <a:off x="457200" y="4187952"/>
            <a:ext cx="384048" cy="384048"/>
          </a:xfrm>
          <a:prstGeom prst="ellipse">
            <a:avLst/>
          </a:prstGeom>
          <a:solidFill>
            <a:schemeClr val="accent1"/>
          </a:solidFill>
          <a:ln/>
        </p:spPr>
        <p:txBody>
          <a:bodyPr/>
          <a:lstStyle/>
          <a:p>
            <a:endParaRPr lang="es-PE"/>
          </a:p>
        </p:txBody>
      </p:sp>
      <p:sp>
        <p:nvSpPr>
          <p:cNvPr id="22" name="Cifra demo 7"/>
          <p:cNvSpPr txBox="1"/>
          <p:nvPr/>
        </p:nvSpPr>
        <p:spPr>
          <a:xfrm>
            <a:off x="457200" y="41879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latin typeface="Calibri" pitchFamily="34" charset="0"/>
                <a:ea typeface="Calibri" pitchFamily="34" charset="-122"/>
                <a:cs typeface="Calibri" pitchFamily="34" charset="-120"/>
              </a:rPr>
              <a:t>7</a:t>
            </a:r>
            <a:endParaRPr lang="en-US" sz="1400" dirty="0"/>
          </a:p>
        </p:txBody>
      </p:sp>
      <p:sp>
        <p:nvSpPr>
          <p:cNvPr id="23" name="Paso demo 7"/>
          <p:cNvSpPr txBox="1"/>
          <p:nvPr/>
        </p:nvSpPr>
        <p:spPr>
          <a:xfrm>
            <a:off x="1005840" y="4151376"/>
            <a:ext cx="4480560" cy="457200"/>
          </a:xfrm>
          <a:prstGeom prst="rect">
            <a:avLst/>
          </a:prstGeom>
          <a:noFill/>
          <a:ln/>
        </p:spPr>
        <p:txBody>
          <a:bodyPr wrap="square" lIns="0" tIns="0" rIns="0" bIns="0" rtlCol="0" anchor="ctr"/>
          <a:lstStyle/>
          <a:p>
            <a:pPr marL="0" indent="0">
              <a:buNone/>
            </a:pPr>
            <a:r>
              <a:rPr lang="en-US" sz="1600" dirty="0">
                <a:solidFill>
                  <a:schemeClr val="tx1"/>
                </a:solidFill>
                <a:latin typeface="Calibri" pitchFamily="34" charset="0"/>
                <a:ea typeface="Calibri" pitchFamily="34" charset="-122"/>
                <a:cs typeface="Calibri" pitchFamily="34" charset="-120"/>
              </a:rPr>
              <a:t>Volver al panel y ver los cambios</a:t>
            </a:r>
            <a:endParaRPr lang="en-US" sz="1600" dirty="0"/>
          </a:p>
        </p:txBody>
      </p:sp>
      <p:sp>
        <p:nvSpPr>
          <p:cNvPr id="24" name="Tarjeta de demo"/>
          <p:cNvSpPr/>
          <p:nvPr/>
        </p:nvSpPr>
        <p:spPr>
          <a:xfrm>
            <a:off x="5760720" y="1188720"/>
            <a:ext cx="2926080" cy="3383280"/>
          </a:xfrm>
          <a:prstGeom prst="roundRect">
            <a:avLst>
              <a:gd name="adj" fmla="val 3750"/>
            </a:avLst>
          </a:prstGeom>
          <a:solidFill>
            <a:schemeClr val="tx2"/>
          </a:solidFill>
          <a:ln/>
          <a:effectLst>
            <a:outerShdw blurRad="76200" dist="25400" dir="5400000" algn="bl" rotWithShape="0">
              <a:srgbClr val="000000">
                <a:alpha val="12000"/>
              </a:srgbClr>
            </a:outerShdw>
          </a:effectLst>
        </p:spPr>
        <p:txBody>
          <a:bodyPr/>
          <a:lstStyle/>
          <a:p>
            <a:endParaRPr lang="es-PE"/>
          </a:p>
        </p:txBody>
      </p:sp>
      <p:pic>
        <p:nvPicPr>
          <p:cNvPr id="25" name="Icono demo" descr="Pantalla"/>
          <p:cNvPicPr>
            <a:picLocks noChangeAspect="1"/>
          </p:cNvPicPr>
          <p:nvPr/>
        </p:nvPicPr>
        <p:blipFill>
          <a:blip r:embed="rId3"/>
          <a:stretch>
            <a:fillRect/>
          </a:stretch>
        </p:blipFill>
        <p:spPr>
          <a:xfrm>
            <a:off x="6766560" y="1600200"/>
            <a:ext cx="914400" cy="914400"/>
          </a:xfrm>
          <a:prstGeom prst="rect">
            <a:avLst/>
          </a:prstGeom>
        </p:spPr>
      </p:pic>
      <p:sp>
        <p:nvSpPr>
          <p:cNvPr id="26" name="Título demo"/>
          <p:cNvSpPr txBox="1"/>
          <p:nvPr/>
        </p:nvSpPr>
        <p:spPr>
          <a:xfrm>
            <a:off x="5943600" y="2697480"/>
            <a:ext cx="2560320" cy="457200"/>
          </a:xfrm>
          <a:prstGeom prst="rect">
            <a:avLst/>
          </a:prstGeom>
          <a:noFill/>
          <a:ln/>
        </p:spPr>
        <p:txBody>
          <a:bodyPr wrap="square" lIns="0" tIns="0" rIns="0" bIns="0" rtlCol="0" anchor="ctr"/>
          <a:lstStyle/>
          <a:p>
            <a:pPr marL="0" indent="0" algn="ctr">
              <a:buNone/>
            </a:pPr>
            <a:r>
              <a:rPr lang="en-US" sz="2400" b="1" dirty="0">
                <a:solidFill>
                  <a:schemeClr val="bg1"/>
                </a:solidFill>
                <a:latin typeface="Cambria" pitchFamily="34" charset="0"/>
                <a:ea typeface="Cambria" pitchFamily="34" charset="-122"/>
                <a:cs typeface="Cambria" pitchFamily="34" charset="-120"/>
              </a:rPr>
              <a:t>Demo en vivo</a:t>
            </a:r>
            <a:endParaRPr lang="en-US" sz="2400" dirty="0"/>
          </a:p>
        </p:txBody>
      </p:sp>
      <p:sp>
        <p:nvSpPr>
          <p:cNvPr id="27" name="Texto demo"/>
          <p:cNvSpPr txBox="1"/>
          <p:nvPr/>
        </p:nvSpPr>
        <p:spPr>
          <a:xfrm>
            <a:off x="5989320" y="3246120"/>
            <a:ext cx="2468880" cy="1097280"/>
          </a:xfrm>
          <a:prstGeom prst="rect">
            <a:avLst/>
          </a:prstGeom>
          <a:noFill/>
          <a:ln/>
        </p:spPr>
        <p:txBody>
          <a:bodyPr wrap="square" lIns="0" tIns="0" rIns="0" bIns="0" rtlCol="0" anchor="t"/>
          <a:lstStyle/>
          <a:p>
            <a:pPr marL="0" indent="0" algn="ctr">
              <a:buNone/>
            </a:pPr>
            <a:r>
              <a:rPr lang="en-US" sz="1400" dirty="0">
                <a:solidFill>
                  <a:schemeClr val="accent6"/>
                </a:solidFill>
                <a:latin typeface="Calibri" pitchFamily="34" charset="0"/>
                <a:ea typeface="Calibri" pitchFamily="34" charset="-122"/>
                <a:cs typeface="Calibri" pitchFamily="34" charset="-120"/>
              </a:rPr>
              <a:t>Un operador registra, un administrador autoriza, se cobra y el panel se actualiza.</a:t>
            </a:r>
            <a:endParaRPr lang="en-US" sz="1400" dirty="0"/>
          </a:p>
        </p:txBody>
      </p:sp>
      <p:sp>
        <p:nvSpPr>
          <p:cNvPr id="28"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title" idx="102" hasCustomPrompt="1"/>
          </p:nvPr>
        </p:nvSpPr>
        <p:spPr>
          <a:xfrm>
            <a:off x="457200" y="274320"/>
            <a:ext cx="7589520" cy="731520"/>
          </a:xfrm>
          <a:prstGeom prst="rect">
            <a:avLst/>
          </a:prstGeom>
          <a:noFill/>
          <a:ln/>
        </p:spPr>
        <p:txBody>
          <a:bodyPr wrap="square" lIns="0" tIns="0" rIns="0" bIns="0" rtlCol="0" anchor="ctr"/>
          <a:lstStyle/>
          <a:p>
            <a:pPr marL="0" indent="0" algn="l">
              <a:buNone/>
            </a:pPr>
            <a:r>
              <a:rPr lang="en-US" sz="3000" b="1" dirty="0">
                <a:solidFill>
                  <a:schemeClr val="tx2"/>
                </a:solidFill>
                <a:latin typeface="Cambria" pitchFamily="34" charset="0"/>
                <a:ea typeface="Cambria" pitchFamily="34" charset="-122"/>
                <a:cs typeface="Cambria" pitchFamily="34" charset="-120"/>
              </a:rPr>
              <a:t>Aprendizajes y mejoras pendientes</a:t>
            </a:r>
            <a:endParaRPr lang="en-US" sz="3000" dirty="0"/>
          </a:p>
        </p:txBody>
      </p:sp>
      <p:sp>
        <p:nvSpPr>
          <p:cNvPr id="3" name="Bloque Lo que aprendimos"/>
          <p:cNvSpPr/>
          <p:nvPr/>
        </p:nvSpPr>
        <p:spPr>
          <a:xfrm>
            <a:off x="457200" y="1188720"/>
            <a:ext cx="4023360" cy="3429000"/>
          </a:xfrm>
          <a:prstGeom prst="roundRect">
            <a:avLst>
              <a:gd name="adj" fmla="val 2667"/>
            </a:avLst>
          </a:prstGeom>
          <a:solidFill>
            <a:schemeClr val="bg2"/>
          </a:solidFill>
          <a:ln w="12700">
            <a:solidFill>
              <a:srgbClr val="DCE4EA"/>
            </a:solidFill>
            <a:prstDash val="solid"/>
          </a:ln>
        </p:spPr>
        <p:txBody>
          <a:bodyPr/>
          <a:lstStyle/>
          <a:p>
            <a:endParaRPr lang="es-PE"/>
          </a:p>
        </p:txBody>
      </p:sp>
      <p:sp>
        <p:nvSpPr>
          <p:cNvPr id="4" name="Icono Lo que aprendimos (círculo)"/>
          <p:cNvSpPr/>
          <p:nvPr/>
        </p:nvSpPr>
        <p:spPr>
          <a:xfrm>
            <a:off x="685800" y="1325880"/>
            <a:ext cx="548640" cy="548640"/>
          </a:xfrm>
          <a:prstGeom prst="ellipse">
            <a:avLst/>
          </a:prstGeom>
          <a:solidFill>
            <a:srgbClr val="2F6F8F"/>
          </a:solidFill>
          <a:ln/>
        </p:spPr>
        <p:txBody>
          <a:bodyPr/>
          <a:lstStyle/>
          <a:p>
            <a:endParaRPr lang="es-PE"/>
          </a:p>
        </p:txBody>
      </p:sp>
      <p:pic>
        <p:nvPicPr>
          <p:cNvPr id="5" name="Icono Lo que aprendimos" descr="Icono Lo que aprendimos"/>
          <p:cNvPicPr>
            <a:picLocks noChangeAspect="1"/>
          </p:cNvPicPr>
          <p:nvPr/>
        </p:nvPicPr>
        <p:blipFill>
          <a:blip r:embed="rId3"/>
          <a:stretch>
            <a:fillRect/>
          </a:stretch>
        </p:blipFill>
        <p:spPr>
          <a:xfrm>
            <a:off x="822960" y="1463040"/>
            <a:ext cx="274320" cy="274320"/>
          </a:xfrm>
          <a:prstGeom prst="rect">
            <a:avLst/>
          </a:prstGeom>
        </p:spPr>
      </p:pic>
      <p:sp>
        <p:nvSpPr>
          <p:cNvPr id="6" name="Título Lo que aprendimos"/>
          <p:cNvSpPr txBox="1"/>
          <p:nvPr/>
        </p:nvSpPr>
        <p:spPr>
          <a:xfrm>
            <a:off x="1371600" y="1325880"/>
            <a:ext cx="2926080" cy="548640"/>
          </a:xfrm>
          <a:prstGeom prst="rect">
            <a:avLst/>
          </a:prstGeom>
          <a:noFill/>
          <a:ln/>
        </p:spPr>
        <p:txBody>
          <a:bodyPr wrap="square" lIns="0" tIns="0" rIns="0" bIns="0" rtlCol="0" anchor="ctr"/>
          <a:lstStyle/>
          <a:p>
            <a:pPr marL="0" indent="0">
              <a:buNone/>
            </a:pPr>
            <a:r>
              <a:rPr lang="en-US" sz="2000" b="1" dirty="0">
                <a:solidFill>
                  <a:schemeClr val="tx2"/>
                </a:solidFill>
                <a:latin typeface="Calibri" pitchFamily="34" charset="0"/>
                <a:ea typeface="Calibri" pitchFamily="34" charset="-122"/>
                <a:cs typeface="Calibri" pitchFamily="34" charset="-120"/>
              </a:rPr>
              <a:t>Lo que aprendimos</a:t>
            </a:r>
            <a:endParaRPr lang="en-US" sz="2000" dirty="0"/>
          </a:p>
        </p:txBody>
      </p:sp>
      <p:sp>
        <p:nvSpPr>
          <p:cNvPr id="7" name="Lista Lo que aprendimos"/>
          <p:cNvSpPr txBox="1"/>
          <p:nvPr/>
        </p:nvSpPr>
        <p:spPr>
          <a:xfrm>
            <a:off x="731520" y="2057400"/>
            <a:ext cx="3520440" cy="24231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Especificar primero evita correcciones después</a:t>
            </a:r>
            <a:endParaRPr lang="en-US" sz="1600" dirty="0"/>
          </a:p>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Probar en un entorno real revela fallos ocultos</a:t>
            </a:r>
            <a:endParaRPr lang="en-US" sz="1600" dirty="0"/>
          </a:p>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La IA acelera, pero todo se debe revisar</a:t>
            </a:r>
            <a:endParaRPr lang="en-US" sz="1600" dirty="0"/>
          </a:p>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Lo que no está documentado, no existe</a:t>
            </a:r>
            <a:endParaRPr lang="en-US" sz="1600" dirty="0"/>
          </a:p>
        </p:txBody>
      </p:sp>
      <p:sp>
        <p:nvSpPr>
          <p:cNvPr id="8" name="Bloque Lo que sigue"/>
          <p:cNvSpPr/>
          <p:nvPr/>
        </p:nvSpPr>
        <p:spPr>
          <a:xfrm>
            <a:off x="4663440" y="1188720"/>
            <a:ext cx="4023360" cy="3429000"/>
          </a:xfrm>
          <a:prstGeom prst="roundRect">
            <a:avLst>
              <a:gd name="adj" fmla="val 2667"/>
            </a:avLst>
          </a:prstGeom>
          <a:solidFill>
            <a:schemeClr val="bg2"/>
          </a:solidFill>
          <a:ln w="12700">
            <a:solidFill>
              <a:srgbClr val="DCE4EA"/>
            </a:solidFill>
            <a:prstDash val="solid"/>
          </a:ln>
        </p:spPr>
        <p:txBody>
          <a:bodyPr/>
          <a:lstStyle/>
          <a:p>
            <a:endParaRPr lang="es-PE"/>
          </a:p>
        </p:txBody>
      </p:sp>
      <p:sp>
        <p:nvSpPr>
          <p:cNvPr id="9" name="Icono Lo que sigue (círculo)"/>
          <p:cNvSpPr/>
          <p:nvPr/>
        </p:nvSpPr>
        <p:spPr>
          <a:xfrm>
            <a:off x="4892040" y="1325880"/>
            <a:ext cx="548640" cy="548640"/>
          </a:xfrm>
          <a:prstGeom prst="ellipse">
            <a:avLst/>
          </a:prstGeom>
          <a:solidFill>
            <a:srgbClr val="D9822B"/>
          </a:solidFill>
          <a:ln/>
        </p:spPr>
        <p:txBody>
          <a:bodyPr/>
          <a:lstStyle/>
          <a:p>
            <a:endParaRPr lang="es-PE"/>
          </a:p>
        </p:txBody>
      </p:sp>
      <p:pic>
        <p:nvPicPr>
          <p:cNvPr id="10" name="Icono Lo que sigue" descr="Icono Lo que sigue"/>
          <p:cNvPicPr>
            <a:picLocks noChangeAspect="1"/>
          </p:cNvPicPr>
          <p:nvPr/>
        </p:nvPicPr>
        <p:blipFill>
          <a:blip r:embed="rId4"/>
          <a:stretch>
            <a:fillRect/>
          </a:stretch>
        </p:blipFill>
        <p:spPr>
          <a:xfrm>
            <a:off x="5029200" y="1463040"/>
            <a:ext cx="274320" cy="274320"/>
          </a:xfrm>
          <a:prstGeom prst="rect">
            <a:avLst/>
          </a:prstGeom>
        </p:spPr>
      </p:pic>
      <p:sp>
        <p:nvSpPr>
          <p:cNvPr id="11" name="Título Lo que sigue"/>
          <p:cNvSpPr txBox="1"/>
          <p:nvPr/>
        </p:nvSpPr>
        <p:spPr>
          <a:xfrm>
            <a:off x="5577840" y="1325880"/>
            <a:ext cx="2926080" cy="548640"/>
          </a:xfrm>
          <a:prstGeom prst="rect">
            <a:avLst/>
          </a:prstGeom>
          <a:noFill/>
          <a:ln/>
        </p:spPr>
        <p:txBody>
          <a:bodyPr wrap="square" lIns="0" tIns="0" rIns="0" bIns="0" rtlCol="0" anchor="ctr"/>
          <a:lstStyle/>
          <a:p>
            <a:pPr marL="0" indent="0">
              <a:buNone/>
            </a:pPr>
            <a:r>
              <a:rPr lang="en-US" sz="2000" b="1" dirty="0">
                <a:solidFill>
                  <a:schemeClr val="tx2"/>
                </a:solidFill>
                <a:latin typeface="Calibri" pitchFamily="34" charset="0"/>
                <a:ea typeface="Calibri" pitchFamily="34" charset="-122"/>
                <a:cs typeface="Calibri" pitchFamily="34" charset="-120"/>
              </a:rPr>
              <a:t>Lo que sigue</a:t>
            </a:r>
            <a:endParaRPr lang="en-US" sz="2000" dirty="0"/>
          </a:p>
        </p:txBody>
      </p:sp>
      <p:sp>
        <p:nvSpPr>
          <p:cNvPr id="12" name="Lista Lo que sigue"/>
          <p:cNvSpPr txBox="1"/>
          <p:nvPr/>
        </p:nvSpPr>
        <p:spPr>
          <a:xfrm>
            <a:off x="4937760" y="2057400"/>
            <a:ext cx="3520440" cy="24231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Facturación electrónica y comprobantes</a:t>
            </a:r>
            <a:endParaRPr lang="en-US" sz="1600" dirty="0"/>
          </a:p>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Cambios al contrato (adendas)</a:t>
            </a:r>
            <a:endParaRPr lang="en-US" sz="1600" dirty="0"/>
          </a:p>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Garantías y documentos adjuntos</a:t>
            </a:r>
            <a:endParaRPr lang="en-US" sz="1600" dirty="0"/>
          </a:p>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Un pago que cubra varias cuotas</a:t>
            </a:r>
            <a:endParaRPr lang="en-US" sz="1600" dirty="0"/>
          </a:p>
          <a:p>
            <a:pPr marL="342900" indent="-342900">
              <a:spcAft>
                <a:spcPts val="800"/>
              </a:spcAft>
              <a:buSzPct val="100000"/>
              <a:buChar char="•"/>
            </a:pPr>
            <a:r>
              <a:rPr lang="en-US" sz="1600" dirty="0">
                <a:solidFill>
                  <a:schemeClr val="tx1"/>
                </a:solidFill>
                <a:latin typeface="Calibri" pitchFamily="34" charset="0"/>
                <a:ea typeface="Calibri" pitchFamily="34" charset="-122"/>
                <a:cs typeface="Calibri" pitchFamily="34" charset="-120"/>
              </a:rPr>
              <a:t>Avisos por correo y reportes exportables</a:t>
            </a:r>
            <a:endParaRPr lang="en-US" sz="16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457200" y="274320"/>
            <a:ext cx="8229600" cy="731520"/>
          </a:xfrm>
          <a:prstGeom prst="rect">
            <a:avLst/>
          </a:prstGeom>
          <a:noFill/>
          <a:ln/>
        </p:spPr>
        <p:txBody>
          <a:bodyPr wrap="square" lIns="0" tIns="0" rIns="0" bIns="0" rtlCol="0" anchor="ctr"/>
          <a:lstStyle/>
          <a:p>
            <a:pPr marL="0" indent="0" algn="l">
              <a:buNone/>
            </a:pPr>
            <a:r>
              <a:rPr lang="en-US" sz="3000" b="1" dirty="0">
                <a:solidFill>
                  <a:schemeClr val="bg1"/>
                </a:solidFill>
                <a:latin typeface="Cambria" pitchFamily="34" charset="0"/>
                <a:ea typeface="Cambria" pitchFamily="34" charset="-122"/>
                <a:cs typeface="Cambria" pitchFamily="34" charset="-120"/>
              </a:rPr>
              <a:t>Conclusiones</a:t>
            </a:r>
            <a:endParaRPr lang="en-US" sz="3000" dirty="0"/>
          </a:p>
        </p:txBody>
      </p:sp>
      <p:sp>
        <p:nvSpPr>
          <p:cNvPr id="3" name="Conclusión 1"/>
          <p:cNvSpPr/>
          <p:nvPr/>
        </p:nvSpPr>
        <p:spPr>
          <a:xfrm>
            <a:off x="457200" y="1188720"/>
            <a:ext cx="8229600" cy="621792"/>
          </a:xfrm>
          <a:prstGeom prst="roundRect">
            <a:avLst>
              <a:gd name="adj" fmla="val 14706"/>
            </a:avLst>
          </a:prstGeom>
          <a:solidFill>
            <a:schemeClr val="accent2"/>
          </a:solidFill>
          <a:ln/>
        </p:spPr>
        <p:txBody>
          <a:bodyPr/>
          <a:lstStyle/>
          <a:p>
            <a:endParaRPr lang="es-PE"/>
          </a:p>
        </p:txBody>
      </p:sp>
      <p:pic>
        <p:nvPicPr>
          <p:cNvPr id="4" name="Check 1" descr="Listo"/>
          <p:cNvPicPr>
            <a:picLocks noChangeAspect="1"/>
          </p:cNvPicPr>
          <p:nvPr/>
        </p:nvPicPr>
        <p:blipFill>
          <a:blip r:embed="rId3"/>
          <a:stretch>
            <a:fillRect/>
          </a:stretch>
        </p:blipFill>
        <p:spPr>
          <a:xfrm>
            <a:off x="640080" y="1316736"/>
            <a:ext cx="365760" cy="365760"/>
          </a:xfrm>
          <a:prstGeom prst="rect">
            <a:avLst/>
          </a:prstGeom>
        </p:spPr>
      </p:pic>
      <p:sp>
        <p:nvSpPr>
          <p:cNvPr id="5" name="Texto conclusión 1"/>
          <p:cNvSpPr txBox="1"/>
          <p:nvPr/>
        </p:nvSpPr>
        <p:spPr>
          <a:xfrm>
            <a:off x="1188720" y="1188720"/>
            <a:ext cx="7315200" cy="621792"/>
          </a:xfrm>
          <a:prstGeom prst="rect">
            <a:avLst/>
          </a:prstGeom>
          <a:noFill/>
          <a:ln/>
        </p:spPr>
        <p:txBody>
          <a:bodyPr wrap="square" lIns="0" tIns="0" rIns="0" bIns="0" rtlCol="0" anchor="ctr"/>
          <a:lstStyle/>
          <a:p>
            <a:pPr marL="0" indent="0">
              <a:buNone/>
            </a:pPr>
            <a:r>
              <a:rPr lang="en-US" sz="1600" dirty="0">
                <a:solidFill>
                  <a:schemeClr val="bg1"/>
                </a:solidFill>
                <a:latin typeface="Calibri" pitchFamily="34" charset="0"/>
                <a:ea typeface="Calibri" pitchFamily="34" charset="-122"/>
                <a:cs typeface="Calibri" pitchFamily="34" charset="-120"/>
              </a:rPr>
              <a:t>Construimos un sistema completo que responde al negocio: qué está ocupado, cuánto se debe y qué vence.</a:t>
            </a:r>
            <a:endParaRPr lang="en-US" sz="1600" dirty="0"/>
          </a:p>
        </p:txBody>
      </p:sp>
      <p:sp>
        <p:nvSpPr>
          <p:cNvPr id="6" name="Conclusión 2"/>
          <p:cNvSpPr/>
          <p:nvPr/>
        </p:nvSpPr>
        <p:spPr>
          <a:xfrm>
            <a:off x="457200" y="1920240"/>
            <a:ext cx="8229600" cy="621792"/>
          </a:xfrm>
          <a:prstGeom prst="roundRect">
            <a:avLst>
              <a:gd name="adj" fmla="val 14706"/>
            </a:avLst>
          </a:prstGeom>
          <a:solidFill>
            <a:schemeClr val="accent2"/>
          </a:solidFill>
          <a:ln/>
        </p:spPr>
        <p:txBody>
          <a:bodyPr/>
          <a:lstStyle/>
          <a:p>
            <a:endParaRPr lang="es-PE"/>
          </a:p>
        </p:txBody>
      </p:sp>
      <p:pic>
        <p:nvPicPr>
          <p:cNvPr id="7" name="Check 2" descr="Listo"/>
          <p:cNvPicPr>
            <a:picLocks noChangeAspect="1"/>
          </p:cNvPicPr>
          <p:nvPr/>
        </p:nvPicPr>
        <p:blipFill>
          <a:blip r:embed="rId3"/>
          <a:stretch>
            <a:fillRect/>
          </a:stretch>
        </p:blipFill>
        <p:spPr>
          <a:xfrm>
            <a:off x="640080" y="2048256"/>
            <a:ext cx="365760" cy="365760"/>
          </a:xfrm>
          <a:prstGeom prst="rect">
            <a:avLst/>
          </a:prstGeom>
        </p:spPr>
      </p:pic>
      <p:sp>
        <p:nvSpPr>
          <p:cNvPr id="8" name="Texto conclusión 2"/>
          <p:cNvSpPr txBox="1"/>
          <p:nvPr/>
        </p:nvSpPr>
        <p:spPr>
          <a:xfrm>
            <a:off x="1188720" y="1920240"/>
            <a:ext cx="7315200" cy="621792"/>
          </a:xfrm>
          <a:prstGeom prst="rect">
            <a:avLst/>
          </a:prstGeom>
          <a:noFill/>
          <a:ln/>
        </p:spPr>
        <p:txBody>
          <a:bodyPr wrap="square" lIns="0" tIns="0" rIns="0" bIns="0" rtlCol="0" anchor="ctr"/>
          <a:lstStyle/>
          <a:p>
            <a:pPr marL="0" indent="0">
              <a:buNone/>
            </a:pPr>
            <a:r>
              <a:rPr lang="en-US" sz="1600" dirty="0">
                <a:solidFill>
                  <a:schemeClr val="bg1"/>
                </a:solidFill>
                <a:latin typeface="Calibri" pitchFamily="34" charset="0"/>
                <a:ea typeface="Calibri" pitchFamily="34" charset="-122"/>
                <a:cs typeface="Calibri" pitchFamily="34" charset="-120"/>
              </a:rPr>
              <a:t>Especificar primero permitió seguir cada regla hasta su prueba.</a:t>
            </a:r>
            <a:endParaRPr lang="en-US" sz="1600" dirty="0"/>
          </a:p>
        </p:txBody>
      </p:sp>
      <p:sp>
        <p:nvSpPr>
          <p:cNvPr id="9" name="Conclusión 3"/>
          <p:cNvSpPr/>
          <p:nvPr/>
        </p:nvSpPr>
        <p:spPr>
          <a:xfrm>
            <a:off x="457200" y="2651760"/>
            <a:ext cx="8229600" cy="621792"/>
          </a:xfrm>
          <a:prstGeom prst="roundRect">
            <a:avLst>
              <a:gd name="adj" fmla="val 14706"/>
            </a:avLst>
          </a:prstGeom>
          <a:solidFill>
            <a:schemeClr val="accent2"/>
          </a:solidFill>
          <a:ln/>
        </p:spPr>
        <p:txBody>
          <a:bodyPr/>
          <a:lstStyle/>
          <a:p>
            <a:endParaRPr lang="es-PE"/>
          </a:p>
        </p:txBody>
      </p:sp>
      <p:pic>
        <p:nvPicPr>
          <p:cNvPr id="10" name="Check 3" descr="Listo"/>
          <p:cNvPicPr>
            <a:picLocks noChangeAspect="1"/>
          </p:cNvPicPr>
          <p:nvPr/>
        </p:nvPicPr>
        <p:blipFill>
          <a:blip r:embed="rId3"/>
          <a:stretch>
            <a:fillRect/>
          </a:stretch>
        </p:blipFill>
        <p:spPr>
          <a:xfrm>
            <a:off x="640080" y="2779776"/>
            <a:ext cx="365760" cy="365760"/>
          </a:xfrm>
          <a:prstGeom prst="rect">
            <a:avLst/>
          </a:prstGeom>
        </p:spPr>
      </p:pic>
      <p:sp>
        <p:nvSpPr>
          <p:cNvPr id="11" name="Texto conclusión 3"/>
          <p:cNvSpPr txBox="1"/>
          <p:nvPr/>
        </p:nvSpPr>
        <p:spPr>
          <a:xfrm>
            <a:off x="1188720" y="2651760"/>
            <a:ext cx="7315200" cy="621792"/>
          </a:xfrm>
          <a:prstGeom prst="rect">
            <a:avLst/>
          </a:prstGeom>
          <a:noFill/>
          <a:ln/>
        </p:spPr>
        <p:txBody>
          <a:bodyPr wrap="square" lIns="0" tIns="0" rIns="0" bIns="0" rtlCol="0" anchor="ctr"/>
          <a:lstStyle/>
          <a:p>
            <a:pPr marL="0" indent="0">
              <a:buNone/>
            </a:pPr>
            <a:r>
              <a:rPr lang="en-US" sz="1600" dirty="0">
                <a:solidFill>
                  <a:schemeClr val="bg1"/>
                </a:solidFill>
                <a:latin typeface="Calibri" pitchFamily="34" charset="0"/>
                <a:ea typeface="Calibri" pitchFamily="34" charset="-122"/>
                <a:cs typeface="Calibri" pitchFamily="34" charset="-120"/>
              </a:rPr>
              <a:t>La IA aceleró el trabajo, pero las decisiones y la responsabilidad fueron humanas.</a:t>
            </a:r>
            <a:endParaRPr lang="en-US" sz="1600" dirty="0"/>
          </a:p>
        </p:txBody>
      </p:sp>
      <p:sp>
        <p:nvSpPr>
          <p:cNvPr id="12" name="Conclusión 4"/>
          <p:cNvSpPr/>
          <p:nvPr/>
        </p:nvSpPr>
        <p:spPr>
          <a:xfrm>
            <a:off x="457200" y="3383280"/>
            <a:ext cx="8229600" cy="621792"/>
          </a:xfrm>
          <a:prstGeom prst="roundRect">
            <a:avLst>
              <a:gd name="adj" fmla="val 14706"/>
            </a:avLst>
          </a:prstGeom>
          <a:solidFill>
            <a:schemeClr val="accent2"/>
          </a:solidFill>
          <a:ln/>
        </p:spPr>
        <p:txBody>
          <a:bodyPr/>
          <a:lstStyle/>
          <a:p>
            <a:endParaRPr lang="es-PE"/>
          </a:p>
        </p:txBody>
      </p:sp>
      <p:pic>
        <p:nvPicPr>
          <p:cNvPr id="13" name="Check 4" descr="Listo"/>
          <p:cNvPicPr>
            <a:picLocks noChangeAspect="1"/>
          </p:cNvPicPr>
          <p:nvPr/>
        </p:nvPicPr>
        <p:blipFill>
          <a:blip r:embed="rId3"/>
          <a:stretch>
            <a:fillRect/>
          </a:stretch>
        </p:blipFill>
        <p:spPr>
          <a:xfrm>
            <a:off x="640080" y="3511296"/>
            <a:ext cx="365760" cy="365760"/>
          </a:xfrm>
          <a:prstGeom prst="rect">
            <a:avLst/>
          </a:prstGeom>
        </p:spPr>
      </p:pic>
      <p:sp>
        <p:nvSpPr>
          <p:cNvPr id="14" name="Texto conclusión 4"/>
          <p:cNvSpPr txBox="1"/>
          <p:nvPr/>
        </p:nvSpPr>
        <p:spPr>
          <a:xfrm>
            <a:off x="1188720" y="3383280"/>
            <a:ext cx="7315200" cy="621792"/>
          </a:xfrm>
          <a:prstGeom prst="rect">
            <a:avLst/>
          </a:prstGeom>
          <a:noFill/>
          <a:ln/>
        </p:spPr>
        <p:txBody>
          <a:bodyPr wrap="square" lIns="0" tIns="0" rIns="0" bIns="0" rtlCol="0" anchor="ctr"/>
          <a:lstStyle/>
          <a:p>
            <a:pPr marL="0" indent="0">
              <a:buNone/>
            </a:pPr>
            <a:r>
              <a:rPr lang="en-US" sz="1600" dirty="0">
                <a:solidFill>
                  <a:schemeClr val="bg1"/>
                </a:solidFill>
                <a:latin typeface="Calibri" pitchFamily="34" charset="0"/>
                <a:ea typeface="Calibri" pitchFamily="34" charset="-122"/>
                <a:cs typeface="Calibri" pitchFamily="34" charset="-120"/>
              </a:rPr>
              <a:t>Más de 300 pruebas y una instalación real en IIS respaldan que funciona.</a:t>
            </a:r>
            <a:endParaRPr lang="en-US" sz="1600" dirty="0"/>
          </a:p>
        </p:txBody>
      </p:sp>
      <p:sp>
        <p:nvSpPr>
          <p:cNvPr id="15" name="Mensaje final"/>
          <p:cNvSpPr txBox="1"/>
          <p:nvPr/>
        </p:nvSpPr>
        <p:spPr>
          <a:xfrm>
            <a:off x="457200" y="4160520"/>
            <a:ext cx="6766560" cy="457200"/>
          </a:xfrm>
          <a:prstGeom prst="rect">
            <a:avLst/>
          </a:prstGeom>
          <a:noFill/>
          <a:ln/>
        </p:spPr>
        <p:txBody>
          <a:bodyPr wrap="square" lIns="0" tIns="0" rIns="0" bIns="0" rtlCol="0" anchor="ctr"/>
          <a:lstStyle/>
          <a:p>
            <a:pPr marL="0" indent="0">
              <a:buNone/>
            </a:pPr>
            <a:r>
              <a:rPr lang="en-US" sz="1600" i="1" dirty="0">
                <a:solidFill>
                  <a:schemeClr val="accent6"/>
                </a:solidFill>
                <a:latin typeface="Calibri" pitchFamily="34" charset="0"/>
                <a:ea typeface="Calibri" pitchFamily="34" charset="-122"/>
                <a:cs typeface="Calibri" pitchFamily="34" charset="-120"/>
              </a:rPr>
              <a:t>La IA no reemplaza al desarrollador: lo ayuda a construir mejor y más rápido.</a:t>
            </a:r>
            <a:endParaRPr lang="en-US" sz="1600" dirty="0"/>
          </a:p>
        </p:txBody>
      </p:sp>
      <p:sp>
        <p:nvSpPr>
          <p:cNvPr id="16" name="Agradecimiento"/>
          <p:cNvSpPr txBox="1"/>
          <p:nvPr/>
        </p:nvSpPr>
        <p:spPr>
          <a:xfrm>
            <a:off x="7223760" y="4114800"/>
            <a:ext cx="1463040" cy="548640"/>
          </a:xfrm>
          <a:prstGeom prst="rect">
            <a:avLst/>
          </a:prstGeom>
          <a:noFill/>
          <a:ln/>
        </p:spPr>
        <p:txBody>
          <a:bodyPr wrap="square" lIns="0" tIns="0" rIns="0" bIns="0" rtlCol="0" anchor="ctr"/>
          <a:lstStyle/>
          <a:p>
            <a:pPr marL="0" indent="0" algn="r">
              <a:buNone/>
            </a:pPr>
            <a:r>
              <a:rPr lang="en-US" sz="2400" b="1" dirty="0">
                <a:solidFill>
                  <a:schemeClr val="bg1"/>
                </a:solidFill>
                <a:latin typeface="Cambria" pitchFamily="34" charset="0"/>
                <a:ea typeface="Cambria" pitchFamily="34" charset="-122"/>
                <a:cs typeface="Cambria" pitchFamily="34" charset="-120"/>
              </a:rPr>
              <a:t>¡Gracias!</a:t>
            </a:r>
            <a:endParaRPr lang="en-US" sz="2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6"/>
                </a:solidFill>
              </a:defRPr>
            </a:lvl1pPr>
          </a:lstStyle>
          <a:p>
            <a:pPr algn="r"/>
            <a:fld id="{F7021451-1387-4CA6-816F-3879F97B5CBC}" type="slidenum">
              <a:rPr lang="en-US" b="0"/>
              <a:t>12</a:t>
            </a:fld>
            <a:endParaRPr lang="en-US"/>
          </a:p>
        </p:txBody>
      </p:sp>
    </p:spTree>
  </p:cSld>
  <p:clrMapOvr>
    <a:masterClrMapping/>
  </p:clrMapOvr>
</p:sld>
</file>

<file path=ppt/theme/theme1.xml><?xml version="1.0" encoding="utf-8"?>
<a:theme xmlns:a="http://schemas.openxmlformats.org/drawingml/2006/main" name="GestionContratos">
  <a:themeElements>
    <a:clrScheme name="GestionContratos">
      <a:dk1>
        <a:srgbClr val="18262E"/>
      </a:dk1>
      <a:lt1>
        <a:srgbClr val="FFFFFF"/>
      </a:lt1>
      <a:dk2>
        <a:srgbClr val="1C3C4C"/>
      </a:dk2>
      <a:lt2>
        <a:srgbClr val="F3F6F8"/>
      </a:lt2>
      <a:accent1>
        <a:srgbClr val="2F6F8F"/>
      </a:accent1>
      <a:accent2>
        <a:srgbClr val="3C7494"/>
      </a:accent2>
      <a:accent3>
        <a:srgbClr val="D9822B"/>
      </a:accent3>
      <a:accent4>
        <a:srgbClr val="17673F"/>
      </a:accent4>
      <a:accent5>
        <a:srgbClr val="7FABC8"/>
      </a:accent5>
      <a:accent6>
        <a:srgbClr val="DCE9F1"/>
      </a:accent6>
      <a:hlink>
        <a:srgbClr val="2F6F8F"/>
      </a:hlink>
      <a:folHlink>
        <a:srgbClr val="7A5BA6"/>
      </a:folHlink>
    </a:clrScheme>
    <a:fontScheme name="GestionContrato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1765</Words>
  <Application>Microsoft Office PowerPoint</Application>
  <PresentationFormat>Presentación en pantalla (16:9)</PresentationFormat>
  <Paragraphs>187</Paragraphs>
  <Slides>12</Slides>
  <Notes>12</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12</vt:i4>
      </vt:variant>
    </vt:vector>
  </HeadingPairs>
  <TitlesOfParts>
    <vt:vector size="16" baseType="lpstr">
      <vt:lpstr>Arial</vt:lpstr>
      <vt:lpstr>Calibri</vt:lpstr>
      <vt:lpstr>Cambria</vt:lpstr>
      <vt:lpstr>GestionContratos</vt:lpstr>
      <vt:lpstr>Presentación de PowerPoint</vt:lpstr>
      <vt:lpstr>El problema que resolvemos</vt:lpstr>
      <vt:lpstr>Cómo funciona el sistema</vt:lpstr>
      <vt:lpstr>Primero especificamos</vt:lpstr>
      <vt:lpstr>Arquitectura en capas</vt:lpstr>
      <vt:lpstr>Decisiones técnicas clave</vt:lpstr>
      <vt:lpstr>Cómo usamos la inteligencia artificial</vt:lpstr>
      <vt:lpstr>La IA también se equivoca</vt:lpstr>
      <vt:lpstr>Comprobamos que funciona</vt:lpstr>
      <vt:lpstr>Demostración del sistema</vt:lpstr>
      <vt:lpstr>Aprendizajes y mejoras pendientes</vt:lpstr>
      <vt:lpstr>Conclusiones</vt:lpstr>
    </vt:vector>
  </TitlesOfParts>
  <Company>Galaxy Training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GestionContratos - Presentación final</dc:title>
  <dc:subject>PptxGenJS Presentation</dc:subject>
  <dc:creator>Yuri Grandez</dc:creator>
  <cp:lastModifiedBy>Yuri Grandez Del Aguila</cp:lastModifiedBy>
  <cp:revision>3</cp:revision>
  <dcterms:created xsi:type="dcterms:W3CDTF">2026-10-25T03:25:54Z</dcterms:created>
  <dcterms:modified xsi:type="dcterms:W3CDTF">2026-10-25T03:29:20Z</dcterms:modified>
</cp:coreProperties>
</file>