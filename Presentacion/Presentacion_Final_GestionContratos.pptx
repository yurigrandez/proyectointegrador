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19"/>
    <p:sldId id="264" r:id="rId10"/>
    <p:sldId id="260" r:id="rId6"/>
    <p:sldId id="261" r:id="rId7"/>
    <p:sldId id="262" r:id="rId8"/>
    <p:sldId id="269" r:id="rId20"/>
    <p:sldId id="263" r:id="rId9"/>
    <p:sldId id="270" r:id="rId21"/>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D4AE1DC2-4E95-20E4-D1CB-A0EC864D8E02}">
          <p14:sldIdLst>
            <p14:sldId id="256"/>
          </p14:sldIdLst>
        </p14:section>
        <p14:section name="Problema y solución" id="{2832DC17-AFC0-B549-04FB-9636024762F5}">
          <p14:sldIdLst>
            <p14:sldId id="257"/>
            <p14:sldId id="258"/>
          </p14:sldIdLst>
        </p14:section>
        <p14:section name="Especificación y arquitectura" id="{2514305B-B788-BD30-8274-8C61C792C3E1}">
          <p14:sldIdLst>
            <p14:sldId id="259"/>
            <p14:sldId id="260"/>
            <p14:sldId id="261"/>
          </p14:sldIdLst>
        </p14:section>
        <p14:section name="IA y pruebas" id="{758526C8-5950-E97A-BD18-2963B5CAF11B}">
          <p14:sldIdLst>
            <p14:sldId id="262"/>
            <p14:sldId id="263"/>
            <p14:sldId id="264"/>
          </p14:sldIdLst>
        </p14:section>
        <p14:section name="Demostración y cierre" id="{60CB5358-9BEA-12E9-370B-BB666115955C}">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8452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Buenos días. Soy Yuri Grandez y voy a presentar GestionContratos, el sistema que desarrollé para la empresa familiar DA Soluciones e Inversiones como proyecto integrador del curso de Galaxy Training. El profesor es Manuel Moyano. La presentación sigue seis partes: el problema y su valor, las especificaciones y su trazabilidad, la arquitectura y las decisiones técnicas, el uso de inteligencia artificial con su evidencia de revisión, la demostración del sistema, y las conclusiones con las mejoras pendientes.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dueño de los locales tiene tres preguntas de todos los días: qué locales están ocupados, cuánto le deben y qué contratos vencen pronto. Responderlas sin un sistema obliga a revisar papeles y hojas sueltas. La propuesta de valor es contestar las tres en una sola pantalla. Esta es la historia que seguiremos: el problema, cómo lo especificamos, cómo lo construimos y cómo lo comprobamos.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es sencillo. Un operador registra el contrato como borrador. Un administrador distinto lo autoriza, y esa doble revisión es una regla del negocio. Al autorizarlo, el sistema calcula las cuotas mensuales. Luego se registran los pagos, aunque sean parciales, y el panel muestra en todo momento quién debe y qué vence.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programar escribí qué debía hacer el sistema. Son 22 requisitos funcionales, 15 reglas del negocio y 8 condiciones de calidad. Cada una tiene un código y un criterio para saber si se cumple. Así evité programar a partir de pedidos sueltos, que es lo que el curso llama vibe coding. Además, una tabla de trazabilidad une cada requisito con la parte del sistema que lo cumple y la prueba automática que lo comprueba; por ejemplo, la regla de que quien autoriza un contrato debe ser otra persona tiene su prueba.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backend está organizado en N capas, con una solución y un proyecto por capa, como se definió en el documento de arquitectura. Arriba la API, que recibe los pedidos y no tiene lógica de negocio. Luego Negocio, con los servicios, las reglas y las analíticas. Después Datos, con Entity Framework Core sobre SQL Server, los repositorios y el Unit of Work. Y al fondo Entidades, que mapean las tablas y no dependen de ninguna otra capa. Los proyectos de apoyo son DTOs, Comun, Integraciones, reservada para la facturación electrónica, y Pruebas. Las dependencias van en un solo sentido y la API nunca habla directo con Datos. El frontend en Angular 21 consume la API documentada con OpenAPI.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son las decisiones técnicas clave, escritas como registros de decisión (ADR) en docs/Arquitectura.md. Primero, la base de datos: es la fuente de verdad y las entidades se generan con el scaffold de Entity Framework Core. Segundo, la cadena de conexión y la clave JWT viven en user-secrets y variables de entorno, nunca en GitHub. Tercero, baja lógica: nada se borra de verdad, se desactiva con un filtro global de EF Core. Y cuarto, la API sirve la web compilada para instalar un solo sitio en IIS.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Usé Claude Code como asistente. Yo definí el problema, las reglas y las restricciones; la IA implementó la arquitectura en N capas que yo indiqué y escribió el código, las pruebas y la documentación; y todo se verificó con pruebas automáticas y manuales. La participación de la IA es visible: los 15 commits la indican como coautora y los prompts están guardados en el repositorio.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solo los aciertos no sería honesto. En el historial del proyecto hay siete fallos documentados. El más importante: el botón de anular pago recargaba la página, algo que las pruebas automáticas no detectaron y que solo apareció al probar en un IIS real. Revisar lo que genera la IA es parte del trabajo y la responsabilidad final es de quien desarrolla.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el programa compile no significa que funcione. Por eso hay 176 pruebas del servidor y 154 de las pantallas. Incluyen casos difíciles, como cinco pagos simultáneos sobre la misma cuota, donde solo uno debe aceptarse. Los resultados del panel se compararon con las consultas de la base de datos y todo se probó también en un IIS real, donde encontramos fallos que las pruebas automáticas no veían.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pasamos al sistema funcionando. Siguiendo este guion: entro como operador, creo un cliente y registro un contrato; luego entro como administrador y lo autorizo; vemos las cuotas que se generaron; registro un pago y vuelvo al panel para ver cómo cambian los indicadores.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aprendí: especificar primero evita correcciones, probar en un entorno real revela fallos que no se ven en las pruebas automáticas, la IA acelera pero todo se debe revisar, y lo que no está documentado es como si no existiera. Lo que sigue: facturación electrónica, adendas, garantías, pagos que cubran varias cuotas, avisos por correo y reportes exportables. Dejé el alcance acotado a propósito: es mejor un módulo bien hecho que muchos incompletos.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se construyó un sistema completo que responde las preguntas del negocio; especificar primero permitió seguir cada regla hasta su prueba; la IA aceleró el trabajo pero las decisiones y la responsabilidad fueron mías; y más de 300 pruebas junto con la instalación en IIS respaldan que funciona. La IA no reemplaza al desarrollador, lo ayuda a construir mejor y más rápido. Muchas gracias.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Esta es la trazabilidad de un requisito real. El requisito RF-09 es autorizar un contrato. La regla RN-07 dice que lo autoriza un administrador distinto del que lo registró. Está implementada en el método Autorizar de ContratosServicio, expuesto en POST api/contratos/{id}/autorizar, y la comprueba la prueba de xUnit Autorizar_RegistradoPorElMismoUsuario_Devuelve400. La matriz completa está en el documento de especificación y trazabilidad (SDD). Nota para el orador: el proyecto se especificó con requisitos funcionales, reglas de negocio y requisitos no funcionales; no se redactaron historias de usuario ni casos de uso formales, y cada RF cumple ese papel con su criterio de aceptación.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Estas son evidencias concretas, no afirmaciones. Primera: en la fase dos pedí usar user-secrets y variables de entorno y que esos valores nunca se suban a GitHub; esa restricción la puse antes de que se escribiera código, y el resultado está en el commit 0c6a73c. Segunda: ante la duda entre Vitest y Karma pedí una comparación de esfuerzo y tokens y decidí yo. Tercera: el diff del commit 747cce4 muestra cómo la IA corrigió el script de base de datos, más 238 y menos 47 líneas; no lo acepté sin comprobar: ejecuté Instalar.sql en SQL Server. Los tres documentos de prompts están en la carpeta Prompts del repositorio y la coautoría de la IA figura en cada commit. Esto es lo contrario del vibe coding: cada propuesta pasó por una revisión.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Antes de ir a la web muestro la API documentada con OpenAPI. Los endpoints principales son el login, el CRUD de clientes, empresas y locales, la autorización de contratos, el registro y la anulación de pagos y las analíticas del panel. Mostraré las respuestas de las reglas: sin token responde 401, un operador en una ruta de administrador recibe 403, autorizar un contrato con el mismo usuario que lo registró devuelve 400, un pago mayor al saldo devuelve 400, y los errores de negocio nunca terminan en un 500. Luego paso a la web.</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RO">
    <p:bg>
      <p:bgPr>
        <a:solidFill>
          <a:schemeClr val="bg1"/>
        </a:solidFill>
        <a:effectLst/>
      </p:bgPr>
    </p:bg>
    <p:spTree>
      <p:nvGrpSpPr>
        <p:cNvPr id="1" name=""/>
        <p:cNvGrpSpPr/>
        <p:nvPr/>
      </p:nvGrpSpPr>
      <p:grpSpPr>
        <a:xfrm>
          <a:off x="0" y="0"/>
          <a:ext cx="0" cy="0"/>
          <a:chOff x="0" y="0"/>
          <a:chExt cx="0" cy="0"/>
        </a:xfrm>
      </p:grpSpPr>
      <p:pic>
        <p:nvPicPr>
          <p:cNvPr id="2" name="Image 0" descr="C:\Users\yurig\AppData\Local\Temp\claude\D--Proyectos-GalaxyTraining-AgenticSoftwareDevelopmentWithNet-ProyectoIntegrador\d77d0b62-8352-4ef1-b3c9-7a768d7a68eb\scratchpad\logo_corto.png"/>
          <p:cNvPicPr>
            <a:picLocks noChangeAspect="1"/>
          </p:cNvPicPr>
          <p:nvPr/>
        </p:nvPicPr>
        <p:blipFill>
          <a:blip r:embed="rId2"/>
          <a:stretch>
            <a:fillRect/>
          </a:stretch>
        </p:blipFill>
        <p:spPr>
          <a:xfrm>
            <a:off x="8183880" y="256032"/>
            <a:ext cx="512064" cy="493776"/>
          </a:xfrm>
          <a:prstGeom prst="rect">
            <a:avLst/>
          </a:prstGeom>
        </p:spPr>
      </p:pic>
      <p:sp>
        <p:nvSpPr>
          <p:cNvPr id="3" name="Text 0"/>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tx2"/>
                </a:solidFill>
              </a:rPr>
              <a:t>GestionContratos · Galaxy Training</a:t>
            </a:r>
            <a:endParaRPr lang="en-US" sz="1000" dirty="0"/>
          </a:p>
        </p:txBody>
      </p:sp>
      <p:sp>
        <p:nvSpPr>
          <p:cNvPr id="4" name="Text 1"/>
          <p:cNvSpPr>
            <a:spLocks noGrp="1"/>
          </p:cNvSpPr>
          <p:nvPr>
            <p:ph type="title" idx="102" hasCustomPrompt="1"/>
          </p:nvPr>
        </p:nvSpPr>
        <p:spPr>
          <a:xfrm>
            <a:off x="457200" y="274320"/>
            <a:ext cx="7589520" cy="73152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a:effectLst/>
      </p:bgPr>
    </p:bg>
    <p:spTree>
      <p:nvGrpSpPr>
        <p:cNvPr id="1" name=""/>
        <p:cNvGrpSpPr/>
        <p:nvPr/>
      </p:nvGrpSpPr>
      <p:grpSpPr>
        <a:xfrm>
          <a:off x="0" y="0"/>
          <a:ext cx="0" cy="0"/>
          <a:chOff x="0" y="0"/>
          <a:chExt cx="0" cy="0"/>
        </a:xfrm>
      </p:grpSpPr>
      <p:sp>
        <p:nvSpPr>
          <p:cNvPr id="2" name="Text 0"/>
          <p:cNvSpPr txBox="1"/>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GestionContratos · Galaxy Training</a:t>
            </a:r>
            <a:endParaRPr lang="en-US" sz="1000" dirty="0"/>
          </a:p>
        </p:txBody>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nstitución"/>
          <p:cNvSpPr txBox="1"/>
          <p:nvPr/>
        </p:nvSpPr>
        <p:spPr>
          <a:xfrm>
            <a:off x="457200" y="411480"/>
            <a:ext cx="5486400" cy="320040"/>
          </a:xfrm>
          <a:prstGeom prst="rect">
            <a:avLst/>
          </a:prstGeom>
          <a:noFill/>
          <a:ln/>
        </p:spPr>
        <p:txBody>
          <a:bodyPr wrap="square" lIns="0" tIns="0" rIns="0" bIns="0" rtlCol="0" anchor="ctr"/>
          <a:lstStyle/>
          <a:p>
            <a:pPr marL="0" indent="0">
              <a:buNone/>
            </a:pPr>
            <a:r>
              <a:rPr lang="en-US" sz="1800" b="1" kern="0" spc="400" dirty="0">
                <a:solidFill>
                  <a:schemeClr val="accent5"/>
                </a:solidFill>
                <a:latin typeface="Calibri" pitchFamily="34" charset="0"/>
                <a:ea typeface="Calibri" pitchFamily="34" charset="-122"/>
                <a:cs typeface="Calibri" pitchFamily="34" charset="-120"/>
              </a:rPr>
              <a:t>GALAXY TRAINING</a:t>
            </a:r>
            <a:endParaRPr lang="en-US" sz="1800" dirty="0"/>
          </a:p>
        </p:txBody>
      </p:sp>
      <p:sp>
        <p:nvSpPr>
          <p:cNvPr id="3" name="Curso"/>
          <p:cNvSpPr txBox="1"/>
          <p:nvPr/>
        </p:nvSpPr>
        <p:spPr>
          <a:xfrm>
            <a:off x="457200" y="777240"/>
            <a:ext cx="5669280" cy="274320"/>
          </a:xfrm>
          <a:prstGeom prst="rect">
            <a:avLst/>
          </a:prstGeom>
          <a:noFill/>
          <a:ln/>
        </p:spPr>
        <p:txBody>
          <a:bodyPr wrap="square" lIns="0" tIns="0" rIns="0" bIns="0" rtlCol="0" anchor="ctr"/>
          <a:lstStyle/>
          <a:p>
            <a:pPr marL="0" indent="0">
              <a:buNone/>
            </a:pPr>
            <a:r>
              <a:rPr lang="en-US" sz="1200" dirty="0">
                <a:solidFill>
                  <a:schemeClr val="accent6"/>
                </a:solidFill>
                <a:latin typeface="Calibri" pitchFamily="34" charset="0"/>
                <a:ea typeface="Calibri" pitchFamily="34" charset="-122"/>
                <a:cs typeface="Calibri" pitchFamily="34" charset="-120"/>
              </a:rPr>
              <a:t>Curso Agentic Software Development · .NET 10 · Proyecto Integrador</a:t>
            </a:r>
            <a:endParaRPr lang="en-US" sz="1200" dirty="0"/>
          </a:p>
        </p:txBody>
      </p:sp>
      <p:sp>
        <p:nvSpPr>
          <p:cNvPr id="4" name="Título"/>
          <p:cNvSpPr txBox="1"/>
          <p:nvPr/>
        </p:nvSpPr>
        <p:spPr>
          <a:xfrm>
            <a:off x="457200" y="1371600"/>
            <a:ext cx="566928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GestionContratos</a:t>
            </a:r>
            <a:endParaRPr lang="en-US" sz="4400" dirty="0"/>
          </a:p>
        </p:txBody>
      </p:sp>
      <p:sp>
        <p:nvSpPr>
          <p:cNvPr id="5" name="Subtítulo"/>
          <p:cNvSpPr txBox="1"/>
          <p:nvPr/>
        </p:nvSpPr>
        <p:spPr>
          <a:xfrm>
            <a:off x="457200" y="2240280"/>
            <a:ext cx="5486400" cy="640080"/>
          </a:xfrm>
          <a:prstGeom prst="rect">
            <a:avLst/>
          </a:prstGeom>
          <a:noFill/>
          <a:ln/>
        </p:spPr>
        <p:txBody>
          <a:bodyPr wrap="square" lIns="0" tIns="0" rIns="0" bIns="0" rtlCol="0" anchor="ctr"/>
          <a:lstStyle/>
          <a:p>
            <a:pPr marL="0" indent="0">
              <a:buNone/>
            </a:pPr>
            <a:r>
              <a:rPr lang="en-US" sz="1600" dirty="0">
                <a:solidFill>
                  <a:schemeClr val="accent6"/>
                </a:solidFill>
                <a:latin typeface="Calibri" pitchFamily="34" charset="0"/>
                <a:ea typeface="Calibri" pitchFamily="34" charset="-122"/>
                <a:cs typeface="Calibri" pitchFamily="34" charset="-120"/>
              </a:rPr>
              <a:t>Control de alquileres de locales comerciales: contratos, cobros y deudas en un solo lugar</a:t>
            </a:r>
            <a:endParaRPr lang="en-US" sz="1600" dirty="0"/>
          </a:p>
        </p:txBody>
      </p:sp>
      <p:sp>
        <p:nvSpPr>
          <p:cNvPr id="6" name="Etiqueta Empresa"/>
          <p:cNvSpPr txBox="1"/>
          <p:nvPr/>
        </p:nvSpPr>
        <p:spPr>
          <a:xfrm>
            <a:off x="457200" y="3200400"/>
            <a:ext cx="1188720" cy="329184"/>
          </a:xfrm>
          <a:prstGeom prst="rect">
            <a:avLst/>
          </a:prstGeom>
          <a:noFill/>
          <a:ln/>
        </p:spPr>
        <p:txBody>
          <a:bodyPr wrap="square" lIns="0" tIns="0" rIns="0" bIns="0" rtlCol="0" anchor="ctr"/>
          <a:lstStyle/>
          <a:p>
            <a:pPr marL="0" indent="0">
              <a:buNone/>
            </a:pPr>
            <a:r>
              <a:rPr lang="en-US" sz="1200" b="1" dirty="0">
                <a:solidFill>
                  <a:schemeClr val="accent5"/>
                </a:solidFill>
                <a:latin typeface="Calibri" pitchFamily="34" charset="0"/>
                <a:ea typeface="Calibri" pitchFamily="34" charset="-122"/>
                <a:cs typeface="Calibri" pitchFamily="34" charset="-120"/>
              </a:rPr>
              <a:t>Empresa</a:t>
            </a:r>
            <a:endParaRPr lang="en-US" sz="1200" dirty="0"/>
          </a:p>
        </p:txBody>
      </p:sp>
      <p:sp>
        <p:nvSpPr>
          <p:cNvPr id="7" name="Valor Empresa"/>
          <p:cNvSpPr txBox="1"/>
          <p:nvPr/>
        </p:nvSpPr>
        <p:spPr>
          <a:xfrm>
            <a:off x="1691640" y="3200400"/>
            <a:ext cx="4389120" cy="329184"/>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DA Soluciones e Inversiones</a:t>
            </a:r>
            <a:endParaRPr lang="en-US" sz="1600" dirty="0"/>
          </a:p>
        </p:txBody>
      </p:sp>
      <p:sp>
        <p:nvSpPr>
          <p:cNvPr id="8" name="Etiqueta Autor"/>
          <p:cNvSpPr txBox="1"/>
          <p:nvPr/>
        </p:nvSpPr>
        <p:spPr>
          <a:xfrm>
            <a:off x="457200" y="3621024"/>
            <a:ext cx="1188720" cy="329184"/>
          </a:xfrm>
          <a:prstGeom prst="rect">
            <a:avLst/>
          </a:prstGeom>
          <a:noFill/>
          <a:ln/>
        </p:spPr>
        <p:txBody>
          <a:bodyPr wrap="square" lIns="0" tIns="0" rIns="0" bIns="0" rtlCol="0" anchor="ctr"/>
          <a:lstStyle/>
          <a:p>
            <a:pPr marL="0" indent="0">
              <a:buNone/>
            </a:pPr>
            <a:r>
              <a:rPr lang="en-US" sz="1200" b="1" dirty="0">
                <a:solidFill>
                  <a:schemeClr val="accent5"/>
                </a:solidFill>
                <a:latin typeface="Calibri" pitchFamily="34" charset="0"/>
                <a:ea typeface="Calibri" pitchFamily="34" charset="-122"/>
                <a:cs typeface="Calibri" pitchFamily="34" charset="-120"/>
              </a:rPr>
              <a:t>Autor</a:t>
            </a:r>
            <a:endParaRPr lang="en-US" sz="1200" dirty="0"/>
          </a:p>
        </p:txBody>
      </p:sp>
      <p:sp>
        <p:nvSpPr>
          <p:cNvPr id="9" name="Valor Autor"/>
          <p:cNvSpPr txBox="1"/>
          <p:nvPr/>
        </p:nvSpPr>
        <p:spPr>
          <a:xfrm>
            <a:off x="1691640" y="3621024"/>
            <a:ext cx="4389120" cy="329184"/>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Yuri Grandez Del Aguila</a:t>
            </a:r>
            <a:endParaRPr lang="en-US" sz="1600" dirty="0"/>
          </a:p>
        </p:txBody>
      </p:sp>
      <p:sp>
        <p:nvSpPr>
          <p:cNvPr id="10" name="Etiqueta Profesor"/>
          <p:cNvSpPr txBox="1"/>
          <p:nvPr/>
        </p:nvSpPr>
        <p:spPr>
          <a:xfrm>
            <a:off x="457200" y="4041648"/>
            <a:ext cx="1188720" cy="329184"/>
          </a:xfrm>
          <a:prstGeom prst="rect">
            <a:avLst/>
          </a:prstGeom>
          <a:noFill/>
          <a:ln/>
        </p:spPr>
        <p:txBody>
          <a:bodyPr wrap="square" lIns="0" tIns="0" rIns="0" bIns="0" rtlCol="0" anchor="ctr"/>
          <a:lstStyle/>
          <a:p>
            <a:pPr marL="0" indent="0">
              <a:buNone/>
            </a:pPr>
            <a:r>
              <a:rPr lang="en-US" sz="1200" b="1" dirty="0">
                <a:solidFill>
                  <a:schemeClr val="accent5"/>
                </a:solidFill>
                <a:latin typeface="Calibri" pitchFamily="34" charset="0"/>
                <a:ea typeface="Calibri" pitchFamily="34" charset="-122"/>
                <a:cs typeface="Calibri" pitchFamily="34" charset="-120"/>
              </a:rPr>
              <a:t>Profesor</a:t>
            </a:r>
            <a:endParaRPr lang="en-US" sz="1200" dirty="0"/>
          </a:p>
        </p:txBody>
      </p:sp>
      <p:sp>
        <p:nvSpPr>
          <p:cNvPr id="11" name="Valor Profesor"/>
          <p:cNvSpPr txBox="1"/>
          <p:nvPr/>
        </p:nvSpPr>
        <p:spPr>
          <a:xfrm>
            <a:off x="1691640" y="4041648"/>
            <a:ext cx="4389120" cy="329184"/>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Manuel Moyano</a:t>
            </a:r>
            <a:endParaRPr lang="en-US" sz="1600" dirty="0"/>
          </a:p>
        </p:txBody>
      </p:sp>
      <p:sp>
        <p:nvSpPr>
          <p:cNvPr id="12" name="Etiqueta Aplicación"/>
          <p:cNvSpPr txBox="1"/>
          <p:nvPr/>
        </p:nvSpPr>
        <p:spPr>
          <a:xfrm>
            <a:off x="457200" y="4462272"/>
            <a:ext cx="1188720" cy="329184"/>
          </a:xfrm>
          <a:prstGeom prst="rect">
            <a:avLst/>
          </a:prstGeom>
          <a:noFill/>
          <a:ln/>
        </p:spPr>
        <p:txBody>
          <a:bodyPr wrap="square" lIns="0" tIns="0" rIns="0" bIns="0" rtlCol="0" anchor="ctr"/>
          <a:lstStyle/>
          <a:p>
            <a:pPr marL="0" indent="0">
              <a:buNone/>
            </a:pPr>
            <a:r>
              <a:rPr lang="en-US" sz="1200" b="1" dirty="0">
                <a:solidFill>
                  <a:schemeClr val="accent5"/>
                </a:solidFill>
                <a:latin typeface="Calibri" pitchFamily="34" charset="0"/>
                <a:ea typeface="Calibri" pitchFamily="34" charset="-122"/>
                <a:cs typeface="Calibri" pitchFamily="34" charset="-120"/>
              </a:rPr>
              <a:t>Aplicación</a:t>
            </a:r>
            <a:endParaRPr lang="en-US" sz="1200" dirty="0"/>
          </a:p>
        </p:txBody>
      </p:sp>
      <p:sp>
        <p:nvSpPr>
          <p:cNvPr id="13" name="Valor Aplicación"/>
          <p:cNvSpPr txBox="1"/>
          <p:nvPr/>
        </p:nvSpPr>
        <p:spPr>
          <a:xfrm>
            <a:off x="1691640" y="4462272"/>
            <a:ext cx="4389120" cy="329184"/>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GestionContratos</a:t>
            </a:r>
            <a:endParaRPr lang="en-US" sz="1600" dirty="0"/>
          </a:p>
        </p:txBody>
      </p:sp>
      <p:sp>
        <p:nvSpPr>
          <p:cNvPr id="14" name="Panel del logo"/>
          <p:cNvSpPr/>
          <p:nvPr/>
        </p:nvSpPr>
        <p:spPr>
          <a:xfrm>
            <a:off x="6309360" y="1143000"/>
            <a:ext cx="2377440" cy="2377440"/>
          </a:xfrm>
          <a:prstGeom prst="roundRect">
            <a:avLst>
              <a:gd name="adj" fmla="val 4615"/>
            </a:avLst>
          </a:prstGeom>
          <a:solidFill>
            <a:schemeClr val="bg1"/>
          </a:solidFill>
          <a:ln/>
        </p:spPr>
        <p:txBody>
          <a:bodyPr/>
          <a:lstStyle/>
          <a:p>
            <a:endParaRPr lang="es-PE"/>
          </a:p>
        </p:txBody>
      </p:sp>
      <p:pic>
        <p:nvPicPr>
          <p:cNvPr id="15" name="Logo de la empresa" descr="Logo de DA Soluciones e Inversiones"/>
          <p:cNvPicPr>
            <a:picLocks noChangeAspect="1"/>
          </p:cNvPicPr>
          <p:nvPr/>
        </p:nvPicPr>
        <p:blipFill>
          <a:blip r:embed="rId3"/>
          <a:stretch>
            <a:fillRect/>
          </a:stretch>
        </p:blipFill>
        <p:spPr>
          <a:xfrm>
            <a:off x="6446520" y="1645920"/>
            <a:ext cx="210312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El problema que resolvemos</a:t>
            </a:r>
            <a:endParaRPr lang="en-US" sz="3000" dirty="0"/>
          </a:p>
        </p:txBody>
      </p:sp>
      <p:sp>
        <p:nvSpPr>
          <p:cNvPr id="3" name="Planteamiento"/>
          <p:cNvSpPr txBox="1"/>
          <p:nvPr/>
        </p:nvSpPr>
        <p:spPr>
          <a:xfrm>
            <a:off x="457200" y="1143000"/>
            <a:ext cx="8229600" cy="64008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La empresa alquila locales comerciales y necesita llevar el control de los contratos, los cobros y las deudas.</a:t>
            </a:r>
            <a:endParaRPr lang="en-US" sz="1600" dirty="0"/>
          </a:p>
        </p:txBody>
      </p:sp>
      <p:sp>
        <p:nvSpPr>
          <p:cNvPr id="4" name="Tarjeta 1"/>
          <p:cNvSpPr/>
          <p:nvPr/>
        </p:nvSpPr>
        <p:spPr>
          <a:xfrm>
            <a:off x="457200" y="1828800"/>
            <a:ext cx="2560320" cy="2240280"/>
          </a:xfrm>
          <a:prstGeom prst="roundRect">
            <a:avLst>
              <a:gd name="adj" fmla="val 4082"/>
            </a:avLst>
          </a:prstGeom>
          <a:solidFill>
            <a:schemeClr val="bg2"/>
          </a:solidFill>
          <a:ln w="12700">
            <a:solidFill>
              <a:srgbClr val="DCE4EA"/>
            </a:solidFill>
            <a:prstDash val="solid"/>
          </a:ln>
        </p:spPr>
        <p:txBody>
          <a:bodyPr/>
          <a:lstStyle/>
          <a:p>
            <a:endParaRPr lang="es-PE"/>
          </a:p>
        </p:txBody>
      </p:sp>
      <p:sp>
        <p:nvSpPr>
          <p:cNvPr id="5" name="Icono ¿Qué locales están ocupados? (círculo)"/>
          <p:cNvSpPr/>
          <p:nvPr/>
        </p:nvSpPr>
        <p:spPr>
          <a:xfrm>
            <a:off x="685800" y="2011680"/>
            <a:ext cx="640080" cy="640080"/>
          </a:xfrm>
          <a:prstGeom prst="ellipse">
            <a:avLst/>
          </a:prstGeom>
          <a:solidFill>
            <a:srgbClr val="DCE9F1"/>
          </a:solidFill>
          <a:ln/>
        </p:spPr>
        <p:txBody>
          <a:bodyPr/>
          <a:lstStyle/>
          <a:p>
            <a:endParaRPr lang="es-PE"/>
          </a:p>
        </p:txBody>
      </p:sp>
      <p:pic>
        <p:nvPicPr>
          <p:cNvPr id="6" name="Icono ¿Qué locales están ocupados?" descr="Icono ¿Qué locales están ocupados?"/>
          <p:cNvPicPr>
            <a:picLocks noChangeAspect="1"/>
          </p:cNvPicPr>
          <p:nvPr/>
        </p:nvPicPr>
        <p:blipFill>
          <a:blip r:embed="rId3"/>
          <a:stretch>
            <a:fillRect/>
          </a:stretch>
        </p:blipFill>
        <p:spPr>
          <a:xfrm>
            <a:off x="845820" y="2171700"/>
            <a:ext cx="320040" cy="320040"/>
          </a:xfrm>
          <a:prstGeom prst="rect">
            <a:avLst/>
          </a:prstGeom>
        </p:spPr>
      </p:pic>
      <p:sp>
        <p:nvSpPr>
          <p:cNvPr id="7" name="Pregunta 1"/>
          <p:cNvSpPr txBox="1"/>
          <p:nvPr/>
        </p:nvSpPr>
        <p:spPr>
          <a:xfrm>
            <a:off x="685800" y="2743200"/>
            <a:ext cx="2148840" cy="5943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¿Qué locales están ocupados?</a:t>
            </a:r>
            <a:endParaRPr lang="en-US" sz="1600" dirty="0"/>
          </a:p>
        </p:txBody>
      </p:sp>
      <p:sp>
        <p:nvSpPr>
          <p:cNvPr id="8" name="Respuesta 1"/>
          <p:cNvSpPr txBox="1"/>
          <p:nvPr/>
        </p:nvSpPr>
        <p:spPr>
          <a:xfrm>
            <a:off x="685800" y="3383280"/>
            <a:ext cx="2148840" cy="5943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Ver cuáles están ocupados y cuáles libres.</a:t>
            </a:r>
            <a:endParaRPr lang="en-US" sz="1400" dirty="0"/>
          </a:p>
        </p:txBody>
      </p:sp>
      <p:sp>
        <p:nvSpPr>
          <p:cNvPr id="9" name="Tarjeta 2"/>
          <p:cNvSpPr/>
          <p:nvPr/>
        </p:nvSpPr>
        <p:spPr>
          <a:xfrm>
            <a:off x="3291840" y="1828800"/>
            <a:ext cx="2560320" cy="2240280"/>
          </a:xfrm>
          <a:prstGeom prst="roundRect">
            <a:avLst>
              <a:gd name="adj" fmla="val 4082"/>
            </a:avLst>
          </a:prstGeom>
          <a:solidFill>
            <a:schemeClr val="bg2"/>
          </a:solidFill>
          <a:ln w="12700">
            <a:solidFill>
              <a:srgbClr val="DCE4EA"/>
            </a:solidFill>
            <a:prstDash val="solid"/>
          </a:ln>
        </p:spPr>
        <p:txBody>
          <a:bodyPr/>
          <a:lstStyle/>
          <a:p>
            <a:endParaRPr lang="es-PE"/>
          </a:p>
        </p:txBody>
      </p:sp>
      <p:sp>
        <p:nvSpPr>
          <p:cNvPr id="10" name="Icono ¿Cuánto me deben? (círculo)"/>
          <p:cNvSpPr/>
          <p:nvPr/>
        </p:nvSpPr>
        <p:spPr>
          <a:xfrm>
            <a:off x="3520440" y="2011680"/>
            <a:ext cx="640080" cy="640080"/>
          </a:xfrm>
          <a:prstGeom prst="ellipse">
            <a:avLst/>
          </a:prstGeom>
          <a:solidFill>
            <a:srgbClr val="DCE9F1"/>
          </a:solidFill>
          <a:ln/>
        </p:spPr>
        <p:txBody>
          <a:bodyPr/>
          <a:lstStyle/>
          <a:p>
            <a:endParaRPr lang="es-PE"/>
          </a:p>
        </p:txBody>
      </p:sp>
      <p:pic>
        <p:nvPicPr>
          <p:cNvPr id="11" name="Icono ¿Cuánto me deben?" descr="Icono ¿Cuánto me deben?"/>
          <p:cNvPicPr>
            <a:picLocks noChangeAspect="1"/>
          </p:cNvPicPr>
          <p:nvPr/>
        </p:nvPicPr>
        <p:blipFill>
          <a:blip r:embed="rId4"/>
          <a:stretch>
            <a:fillRect/>
          </a:stretch>
        </p:blipFill>
        <p:spPr>
          <a:xfrm>
            <a:off x="3680460" y="2171700"/>
            <a:ext cx="320040" cy="320040"/>
          </a:xfrm>
          <a:prstGeom prst="rect">
            <a:avLst/>
          </a:prstGeom>
        </p:spPr>
      </p:pic>
      <p:sp>
        <p:nvSpPr>
          <p:cNvPr id="12" name="Pregunta 2"/>
          <p:cNvSpPr txBox="1"/>
          <p:nvPr/>
        </p:nvSpPr>
        <p:spPr>
          <a:xfrm>
            <a:off x="3520440" y="2743200"/>
            <a:ext cx="2148840" cy="5943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¿Cuánto me deben?</a:t>
            </a:r>
            <a:endParaRPr lang="en-US" sz="1600" dirty="0"/>
          </a:p>
        </p:txBody>
      </p:sp>
      <p:sp>
        <p:nvSpPr>
          <p:cNvPr id="13" name="Respuesta 2"/>
          <p:cNvSpPr txBox="1"/>
          <p:nvPr/>
        </p:nvSpPr>
        <p:spPr>
          <a:xfrm>
            <a:off x="3520440" y="3383280"/>
            <a:ext cx="2148840" cy="5943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Saber quién debe y desde hace cuántos días.</a:t>
            </a:r>
            <a:endParaRPr lang="en-US" sz="1400" dirty="0"/>
          </a:p>
        </p:txBody>
      </p:sp>
      <p:sp>
        <p:nvSpPr>
          <p:cNvPr id="14" name="Tarjeta 3"/>
          <p:cNvSpPr/>
          <p:nvPr/>
        </p:nvSpPr>
        <p:spPr>
          <a:xfrm>
            <a:off x="6126480" y="1828800"/>
            <a:ext cx="2560320" cy="2240280"/>
          </a:xfrm>
          <a:prstGeom prst="roundRect">
            <a:avLst>
              <a:gd name="adj" fmla="val 4082"/>
            </a:avLst>
          </a:prstGeom>
          <a:solidFill>
            <a:schemeClr val="bg2"/>
          </a:solidFill>
          <a:ln w="12700">
            <a:solidFill>
              <a:srgbClr val="DCE4EA"/>
            </a:solidFill>
            <a:prstDash val="solid"/>
          </a:ln>
        </p:spPr>
        <p:txBody>
          <a:bodyPr/>
          <a:lstStyle/>
          <a:p>
            <a:endParaRPr lang="es-PE"/>
          </a:p>
        </p:txBody>
      </p:sp>
      <p:sp>
        <p:nvSpPr>
          <p:cNvPr id="15" name="Icono ¿Qué contratos vencen pronto? (círculo)"/>
          <p:cNvSpPr/>
          <p:nvPr/>
        </p:nvSpPr>
        <p:spPr>
          <a:xfrm>
            <a:off x="6355080" y="2011680"/>
            <a:ext cx="640080" cy="640080"/>
          </a:xfrm>
          <a:prstGeom prst="ellipse">
            <a:avLst/>
          </a:prstGeom>
          <a:solidFill>
            <a:srgbClr val="DCE9F1"/>
          </a:solidFill>
          <a:ln/>
        </p:spPr>
        <p:txBody>
          <a:bodyPr/>
          <a:lstStyle/>
          <a:p>
            <a:endParaRPr lang="es-PE"/>
          </a:p>
        </p:txBody>
      </p:sp>
      <p:pic>
        <p:nvPicPr>
          <p:cNvPr id="16" name="Icono ¿Qué contratos vencen pronto?" descr="Icono ¿Qué contratos vencen pronto?"/>
          <p:cNvPicPr>
            <a:picLocks noChangeAspect="1"/>
          </p:cNvPicPr>
          <p:nvPr/>
        </p:nvPicPr>
        <p:blipFill>
          <a:blip r:embed="rId5"/>
          <a:stretch>
            <a:fillRect/>
          </a:stretch>
        </p:blipFill>
        <p:spPr>
          <a:xfrm>
            <a:off x="6515100" y="2171700"/>
            <a:ext cx="320040" cy="320040"/>
          </a:xfrm>
          <a:prstGeom prst="rect">
            <a:avLst/>
          </a:prstGeom>
        </p:spPr>
      </p:pic>
      <p:sp>
        <p:nvSpPr>
          <p:cNvPr id="17" name="Pregunta 3"/>
          <p:cNvSpPr txBox="1"/>
          <p:nvPr/>
        </p:nvSpPr>
        <p:spPr>
          <a:xfrm>
            <a:off x="6355080" y="2743200"/>
            <a:ext cx="2148840" cy="5943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¿Qué contratos vencen pronto?</a:t>
            </a:r>
            <a:endParaRPr lang="en-US" sz="1600" dirty="0"/>
          </a:p>
        </p:txBody>
      </p:sp>
      <p:sp>
        <p:nvSpPr>
          <p:cNvPr id="18" name="Respuesta 3"/>
          <p:cNvSpPr txBox="1"/>
          <p:nvPr/>
        </p:nvSpPr>
        <p:spPr>
          <a:xfrm>
            <a:off x="6355080" y="3383280"/>
            <a:ext cx="2148840" cy="5943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Anticiparse a los vencimientos próximos.</a:t>
            </a:r>
            <a:endParaRPr lang="en-US" sz="1400" dirty="0"/>
          </a:p>
        </p:txBody>
      </p:sp>
      <p:sp>
        <p:nvSpPr>
          <p:cNvPr id="19" name="Mensaje de valor"/>
          <p:cNvSpPr/>
          <p:nvPr/>
        </p:nvSpPr>
        <p:spPr>
          <a:xfrm>
            <a:off x="457200" y="4206240"/>
            <a:ext cx="8229600" cy="457200"/>
          </a:xfrm>
          <a:prstGeom prst="roundRect">
            <a:avLst>
              <a:gd name="adj" fmla="val 20000"/>
            </a:avLst>
          </a:prstGeom>
          <a:solidFill>
            <a:schemeClr val="tx2"/>
          </a:solidFill>
          <a:ln/>
        </p:spPr>
        <p:txBody>
          <a:bodyPr/>
          <a:lstStyle/>
          <a:p>
            <a:endParaRPr lang="es-PE"/>
          </a:p>
        </p:txBody>
      </p:sp>
      <p:sp>
        <p:nvSpPr>
          <p:cNvPr id="20" name="Texto de valor"/>
          <p:cNvSpPr txBox="1"/>
          <p:nvPr/>
        </p:nvSpPr>
        <p:spPr>
          <a:xfrm>
            <a:off x="640080" y="4206240"/>
            <a:ext cx="7863840" cy="45720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Valor del producto: saberlo todo en una sola pantalla</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1 · INTRODUCCIÓN: PROBLEMA Y VALOR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Cómo funciona el sistema</a:t>
            </a:r>
            <a:endParaRPr lang="en-US" sz="3000" dirty="0"/>
          </a:p>
        </p:txBody>
      </p:sp>
      <p:sp>
        <p:nvSpPr>
          <p:cNvPr id="3" name="Paso 1"/>
          <p:cNvSpPr/>
          <p:nvPr/>
        </p:nvSpPr>
        <p:spPr>
          <a:xfrm>
            <a:off x="457200" y="1234440"/>
            <a:ext cx="1499616" cy="2514600"/>
          </a:xfrm>
          <a:prstGeom prst="roundRect">
            <a:avLst>
              <a:gd name="adj" fmla="val 6098"/>
            </a:avLst>
          </a:prstGeom>
          <a:solidFill>
            <a:schemeClr val="bg2"/>
          </a:solidFill>
          <a:ln w="12700">
            <a:solidFill>
              <a:srgbClr val="DCE4EA"/>
            </a:solidFill>
            <a:prstDash val="solid"/>
          </a:ln>
        </p:spPr>
        <p:txBody>
          <a:bodyPr/>
          <a:lstStyle/>
          <a:p>
            <a:endParaRPr lang="es-PE"/>
          </a:p>
        </p:txBody>
      </p:sp>
      <p:sp>
        <p:nvSpPr>
          <p:cNvPr id="4" name="Número 1"/>
          <p:cNvSpPr/>
          <p:nvPr/>
        </p:nvSpPr>
        <p:spPr>
          <a:xfrm>
            <a:off x="932688" y="1417320"/>
            <a:ext cx="548640" cy="548640"/>
          </a:xfrm>
          <a:prstGeom prst="ellipse">
            <a:avLst/>
          </a:prstGeom>
          <a:solidFill>
            <a:schemeClr val="accent1"/>
          </a:solidFill>
          <a:ln/>
        </p:spPr>
        <p:txBody>
          <a:bodyPr/>
          <a:lstStyle/>
          <a:p>
            <a:endParaRPr lang="es-PE"/>
          </a:p>
        </p:txBody>
      </p:sp>
      <p:sp>
        <p:nvSpPr>
          <p:cNvPr id="5" name="Cifra 1"/>
          <p:cNvSpPr txBox="1"/>
          <p:nvPr/>
        </p:nvSpPr>
        <p:spPr>
          <a:xfrm>
            <a:off x="932688" y="14173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Paso 1 título"/>
          <p:cNvSpPr txBox="1"/>
          <p:nvPr/>
        </p:nvSpPr>
        <p:spPr>
          <a:xfrm>
            <a:off x="566928" y="2103120"/>
            <a:ext cx="1280160" cy="365760"/>
          </a:xfrm>
          <a:prstGeom prst="rect">
            <a:avLst/>
          </a:prstGeom>
          <a:noFill/>
          <a:ln/>
        </p:spPr>
        <p:txBody>
          <a:bodyPr wrap="square" lIns="0" tIns="0" rIns="0" bIns="0" rtlCol="0" anchor="ctr"/>
          <a:lstStyle/>
          <a:p>
            <a:pPr marL="0" indent="0" algn="ctr">
              <a:buNone/>
            </a:pPr>
            <a:r>
              <a:rPr lang="en-US" sz="1600" b="1" dirty="0">
                <a:solidFill>
                  <a:schemeClr val="tx2"/>
                </a:solidFill>
                <a:latin typeface="Calibri" pitchFamily="34" charset="0"/>
                <a:ea typeface="Calibri" pitchFamily="34" charset="-122"/>
                <a:cs typeface="Calibri" pitchFamily="34" charset="-120"/>
              </a:rPr>
              <a:t>Registrar</a:t>
            </a:r>
            <a:endParaRPr lang="en-US" sz="1600" dirty="0"/>
          </a:p>
        </p:txBody>
      </p:sp>
      <p:sp>
        <p:nvSpPr>
          <p:cNvPr id="7" name="Paso 1 detalle"/>
          <p:cNvSpPr txBox="1"/>
          <p:nvPr/>
        </p:nvSpPr>
        <p:spPr>
          <a:xfrm>
            <a:off x="566928" y="2514600"/>
            <a:ext cx="1280160" cy="114300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El operador crea el contrato como borrador.</a:t>
            </a:r>
            <a:endParaRPr lang="en-US" sz="1400" dirty="0"/>
          </a:p>
        </p:txBody>
      </p:sp>
      <p:sp>
        <p:nvSpPr>
          <p:cNvPr id="8" name="Paso 2"/>
          <p:cNvSpPr/>
          <p:nvPr/>
        </p:nvSpPr>
        <p:spPr>
          <a:xfrm>
            <a:off x="2139696" y="1234440"/>
            <a:ext cx="1499616" cy="2514600"/>
          </a:xfrm>
          <a:prstGeom prst="roundRect">
            <a:avLst>
              <a:gd name="adj" fmla="val 6098"/>
            </a:avLst>
          </a:prstGeom>
          <a:solidFill>
            <a:schemeClr val="bg2"/>
          </a:solidFill>
          <a:ln w="12700">
            <a:solidFill>
              <a:srgbClr val="DCE4EA"/>
            </a:solidFill>
            <a:prstDash val="solid"/>
          </a:ln>
        </p:spPr>
        <p:txBody>
          <a:bodyPr/>
          <a:lstStyle/>
          <a:p>
            <a:endParaRPr lang="es-PE"/>
          </a:p>
        </p:txBody>
      </p:sp>
      <p:sp>
        <p:nvSpPr>
          <p:cNvPr id="9" name="Número 2"/>
          <p:cNvSpPr/>
          <p:nvPr/>
        </p:nvSpPr>
        <p:spPr>
          <a:xfrm>
            <a:off x="2615184" y="1417320"/>
            <a:ext cx="548640" cy="548640"/>
          </a:xfrm>
          <a:prstGeom prst="ellipse">
            <a:avLst/>
          </a:prstGeom>
          <a:solidFill>
            <a:schemeClr val="accent1"/>
          </a:solidFill>
          <a:ln/>
        </p:spPr>
        <p:txBody>
          <a:bodyPr/>
          <a:lstStyle/>
          <a:p>
            <a:endParaRPr lang="es-PE"/>
          </a:p>
        </p:txBody>
      </p:sp>
      <p:sp>
        <p:nvSpPr>
          <p:cNvPr id="10" name="Cifra 2"/>
          <p:cNvSpPr txBox="1"/>
          <p:nvPr/>
        </p:nvSpPr>
        <p:spPr>
          <a:xfrm>
            <a:off x="2615184" y="14173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1" name="Paso 2 título"/>
          <p:cNvSpPr txBox="1"/>
          <p:nvPr/>
        </p:nvSpPr>
        <p:spPr>
          <a:xfrm>
            <a:off x="2249424" y="2103120"/>
            <a:ext cx="1280160" cy="365760"/>
          </a:xfrm>
          <a:prstGeom prst="rect">
            <a:avLst/>
          </a:prstGeom>
          <a:noFill/>
          <a:ln/>
        </p:spPr>
        <p:txBody>
          <a:bodyPr wrap="square" lIns="0" tIns="0" rIns="0" bIns="0" rtlCol="0" anchor="ctr"/>
          <a:lstStyle/>
          <a:p>
            <a:pPr marL="0" indent="0" algn="ctr">
              <a:buNone/>
            </a:pPr>
            <a:r>
              <a:rPr lang="en-US" sz="1600" b="1" dirty="0">
                <a:solidFill>
                  <a:schemeClr val="tx2"/>
                </a:solidFill>
                <a:latin typeface="Calibri" pitchFamily="34" charset="0"/>
                <a:ea typeface="Calibri" pitchFamily="34" charset="-122"/>
                <a:cs typeface="Calibri" pitchFamily="34" charset="-120"/>
              </a:rPr>
              <a:t>Autorizar</a:t>
            </a:r>
            <a:endParaRPr lang="en-US" sz="1600" dirty="0"/>
          </a:p>
        </p:txBody>
      </p:sp>
      <p:sp>
        <p:nvSpPr>
          <p:cNvPr id="12" name="Paso 2 detalle"/>
          <p:cNvSpPr txBox="1"/>
          <p:nvPr/>
        </p:nvSpPr>
        <p:spPr>
          <a:xfrm>
            <a:off x="2249424" y="2514600"/>
            <a:ext cx="1280160" cy="114300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Otra persona, el administrador, lo aprueba.</a:t>
            </a:r>
            <a:endParaRPr lang="en-US" sz="1400" dirty="0"/>
          </a:p>
        </p:txBody>
      </p:sp>
      <p:sp>
        <p:nvSpPr>
          <p:cNvPr id="13" name="Paso 3"/>
          <p:cNvSpPr/>
          <p:nvPr/>
        </p:nvSpPr>
        <p:spPr>
          <a:xfrm>
            <a:off x="3822192" y="1234440"/>
            <a:ext cx="1499616" cy="2514600"/>
          </a:xfrm>
          <a:prstGeom prst="roundRect">
            <a:avLst>
              <a:gd name="adj" fmla="val 6098"/>
            </a:avLst>
          </a:prstGeom>
          <a:solidFill>
            <a:schemeClr val="bg2"/>
          </a:solidFill>
          <a:ln w="12700">
            <a:solidFill>
              <a:srgbClr val="DCE4EA"/>
            </a:solidFill>
            <a:prstDash val="solid"/>
          </a:ln>
        </p:spPr>
        <p:txBody>
          <a:bodyPr/>
          <a:lstStyle/>
          <a:p>
            <a:endParaRPr lang="es-PE"/>
          </a:p>
        </p:txBody>
      </p:sp>
      <p:sp>
        <p:nvSpPr>
          <p:cNvPr id="14" name="Número 3"/>
          <p:cNvSpPr/>
          <p:nvPr/>
        </p:nvSpPr>
        <p:spPr>
          <a:xfrm>
            <a:off x="4297680" y="1417320"/>
            <a:ext cx="548640" cy="548640"/>
          </a:xfrm>
          <a:prstGeom prst="ellipse">
            <a:avLst/>
          </a:prstGeom>
          <a:solidFill>
            <a:schemeClr val="accent1"/>
          </a:solidFill>
          <a:ln/>
        </p:spPr>
        <p:txBody>
          <a:bodyPr/>
          <a:lstStyle/>
          <a:p>
            <a:endParaRPr lang="es-PE"/>
          </a:p>
        </p:txBody>
      </p:sp>
      <p:sp>
        <p:nvSpPr>
          <p:cNvPr id="15" name="Cifra 3"/>
          <p:cNvSpPr txBox="1"/>
          <p:nvPr/>
        </p:nvSpPr>
        <p:spPr>
          <a:xfrm>
            <a:off x="4297680" y="14173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6" name="Paso 3 título"/>
          <p:cNvSpPr txBox="1"/>
          <p:nvPr/>
        </p:nvSpPr>
        <p:spPr>
          <a:xfrm>
            <a:off x="3931920" y="2103120"/>
            <a:ext cx="1280160" cy="365760"/>
          </a:xfrm>
          <a:prstGeom prst="rect">
            <a:avLst/>
          </a:prstGeom>
          <a:noFill/>
          <a:ln/>
        </p:spPr>
        <p:txBody>
          <a:bodyPr wrap="square" lIns="0" tIns="0" rIns="0" bIns="0" rtlCol="0" anchor="ctr"/>
          <a:lstStyle/>
          <a:p>
            <a:pPr marL="0" indent="0" algn="ctr">
              <a:buNone/>
            </a:pPr>
            <a:r>
              <a:rPr lang="en-US" sz="1600" b="1" dirty="0">
                <a:solidFill>
                  <a:schemeClr val="tx2"/>
                </a:solidFill>
                <a:latin typeface="Calibri" pitchFamily="34" charset="0"/>
                <a:ea typeface="Calibri" pitchFamily="34" charset="-122"/>
                <a:cs typeface="Calibri" pitchFamily="34" charset="-120"/>
              </a:rPr>
              <a:t>Cuotas</a:t>
            </a:r>
            <a:endParaRPr lang="en-US" sz="1600" dirty="0"/>
          </a:p>
        </p:txBody>
      </p:sp>
      <p:sp>
        <p:nvSpPr>
          <p:cNvPr id="17" name="Paso 3 detalle"/>
          <p:cNvSpPr txBox="1"/>
          <p:nvPr/>
        </p:nvSpPr>
        <p:spPr>
          <a:xfrm>
            <a:off x="3931920" y="2514600"/>
            <a:ext cx="1280160" cy="114300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El sistema calcula las cuotas de cada mes.</a:t>
            </a:r>
            <a:endParaRPr lang="en-US" sz="1400" dirty="0"/>
          </a:p>
        </p:txBody>
      </p:sp>
      <p:sp>
        <p:nvSpPr>
          <p:cNvPr id="18" name="Paso 4"/>
          <p:cNvSpPr/>
          <p:nvPr/>
        </p:nvSpPr>
        <p:spPr>
          <a:xfrm>
            <a:off x="5504688" y="1234440"/>
            <a:ext cx="1499616" cy="2514600"/>
          </a:xfrm>
          <a:prstGeom prst="roundRect">
            <a:avLst>
              <a:gd name="adj" fmla="val 6098"/>
            </a:avLst>
          </a:prstGeom>
          <a:solidFill>
            <a:schemeClr val="bg2"/>
          </a:solidFill>
          <a:ln w="12700">
            <a:solidFill>
              <a:srgbClr val="DCE4EA"/>
            </a:solidFill>
            <a:prstDash val="solid"/>
          </a:ln>
        </p:spPr>
        <p:txBody>
          <a:bodyPr/>
          <a:lstStyle/>
          <a:p>
            <a:endParaRPr lang="es-PE"/>
          </a:p>
        </p:txBody>
      </p:sp>
      <p:sp>
        <p:nvSpPr>
          <p:cNvPr id="19" name="Número 4"/>
          <p:cNvSpPr/>
          <p:nvPr/>
        </p:nvSpPr>
        <p:spPr>
          <a:xfrm>
            <a:off x="5980176" y="1417320"/>
            <a:ext cx="548640" cy="548640"/>
          </a:xfrm>
          <a:prstGeom prst="ellipse">
            <a:avLst/>
          </a:prstGeom>
          <a:solidFill>
            <a:schemeClr val="accent1"/>
          </a:solidFill>
          <a:ln/>
        </p:spPr>
        <p:txBody>
          <a:bodyPr/>
          <a:lstStyle/>
          <a:p>
            <a:endParaRPr lang="es-PE"/>
          </a:p>
        </p:txBody>
      </p:sp>
      <p:sp>
        <p:nvSpPr>
          <p:cNvPr id="20" name="Cifra 4"/>
          <p:cNvSpPr txBox="1"/>
          <p:nvPr/>
        </p:nvSpPr>
        <p:spPr>
          <a:xfrm>
            <a:off x="5980176" y="14173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1" name="Paso 4 título"/>
          <p:cNvSpPr txBox="1"/>
          <p:nvPr/>
        </p:nvSpPr>
        <p:spPr>
          <a:xfrm>
            <a:off x="5614416" y="2103120"/>
            <a:ext cx="1280160" cy="365760"/>
          </a:xfrm>
          <a:prstGeom prst="rect">
            <a:avLst/>
          </a:prstGeom>
          <a:noFill/>
          <a:ln/>
        </p:spPr>
        <p:txBody>
          <a:bodyPr wrap="square" lIns="0" tIns="0" rIns="0" bIns="0" rtlCol="0" anchor="ctr"/>
          <a:lstStyle/>
          <a:p>
            <a:pPr marL="0" indent="0" algn="ctr">
              <a:buNone/>
            </a:pPr>
            <a:r>
              <a:rPr lang="en-US" sz="1600" b="1" dirty="0">
                <a:solidFill>
                  <a:schemeClr val="tx2"/>
                </a:solidFill>
                <a:latin typeface="Calibri" pitchFamily="34" charset="0"/>
                <a:ea typeface="Calibri" pitchFamily="34" charset="-122"/>
                <a:cs typeface="Calibri" pitchFamily="34" charset="-120"/>
              </a:rPr>
              <a:t>Cobrar</a:t>
            </a:r>
            <a:endParaRPr lang="en-US" sz="1600" dirty="0"/>
          </a:p>
        </p:txBody>
      </p:sp>
      <p:sp>
        <p:nvSpPr>
          <p:cNvPr id="22" name="Paso 4 detalle"/>
          <p:cNvSpPr txBox="1"/>
          <p:nvPr/>
        </p:nvSpPr>
        <p:spPr>
          <a:xfrm>
            <a:off x="5614416" y="2514600"/>
            <a:ext cx="1280160" cy="114300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Se registran pagos totales o parciales.</a:t>
            </a:r>
            <a:endParaRPr lang="en-US" sz="1400" dirty="0"/>
          </a:p>
        </p:txBody>
      </p:sp>
      <p:sp>
        <p:nvSpPr>
          <p:cNvPr id="23" name="Paso 5"/>
          <p:cNvSpPr/>
          <p:nvPr/>
        </p:nvSpPr>
        <p:spPr>
          <a:xfrm>
            <a:off x="7187184" y="1234440"/>
            <a:ext cx="1499616" cy="2514600"/>
          </a:xfrm>
          <a:prstGeom prst="roundRect">
            <a:avLst>
              <a:gd name="adj" fmla="val 6098"/>
            </a:avLst>
          </a:prstGeom>
          <a:solidFill>
            <a:schemeClr val="bg2"/>
          </a:solidFill>
          <a:ln w="12700">
            <a:solidFill>
              <a:srgbClr val="DCE4EA"/>
            </a:solidFill>
            <a:prstDash val="solid"/>
          </a:ln>
        </p:spPr>
        <p:txBody>
          <a:bodyPr/>
          <a:lstStyle/>
          <a:p>
            <a:endParaRPr lang="es-PE"/>
          </a:p>
        </p:txBody>
      </p:sp>
      <p:sp>
        <p:nvSpPr>
          <p:cNvPr id="24" name="Número 5"/>
          <p:cNvSpPr/>
          <p:nvPr/>
        </p:nvSpPr>
        <p:spPr>
          <a:xfrm>
            <a:off x="7662672" y="1417320"/>
            <a:ext cx="548640" cy="548640"/>
          </a:xfrm>
          <a:prstGeom prst="ellipse">
            <a:avLst/>
          </a:prstGeom>
          <a:solidFill>
            <a:schemeClr val="accent1"/>
          </a:solidFill>
          <a:ln/>
        </p:spPr>
        <p:txBody>
          <a:bodyPr/>
          <a:lstStyle/>
          <a:p>
            <a:endParaRPr lang="es-PE"/>
          </a:p>
        </p:txBody>
      </p:sp>
      <p:sp>
        <p:nvSpPr>
          <p:cNvPr id="25" name="Cifra 5"/>
          <p:cNvSpPr txBox="1"/>
          <p:nvPr/>
        </p:nvSpPr>
        <p:spPr>
          <a:xfrm>
            <a:off x="7662672" y="14173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26" name="Paso 5 título"/>
          <p:cNvSpPr txBox="1"/>
          <p:nvPr/>
        </p:nvSpPr>
        <p:spPr>
          <a:xfrm>
            <a:off x="7296912" y="2103120"/>
            <a:ext cx="1280160" cy="365760"/>
          </a:xfrm>
          <a:prstGeom prst="rect">
            <a:avLst/>
          </a:prstGeom>
          <a:noFill/>
          <a:ln/>
        </p:spPr>
        <p:txBody>
          <a:bodyPr wrap="square" lIns="0" tIns="0" rIns="0" bIns="0" rtlCol="0" anchor="ctr"/>
          <a:lstStyle/>
          <a:p>
            <a:pPr marL="0" indent="0" algn="ctr">
              <a:buNone/>
            </a:pPr>
            <a:r>
              <a:rPr lang="en-US" sz="1600" b="1" dirty="0">
                <a:solidFill>
                  <a:schemeClr val="tx2"/>
                </a:solidFill>
                <a:latin typeface="Calibri" pitchFamily="34" charset="0"/>
                <a:ea typeface="Calibri" pitchFamily="34" charset="-122"/>
                <a:cs typeface="Calibri" pitchFamily="34" charset="-120"/>
              </a:rPr>
              <a:t>Controlar</a:t>
            </a:r>
            <a:endParaRPr lang="en-US" sz="1600" dirty="0"/>
          </a:p>
        </p:txBody>
      </p:sp>
      <p:sp>
        <p:nvSpPr>
          <p:cNvPr id="27" name="Paso 5 detalle"/>
          <p:cNvSpPr txBox="1"/>
          <p:nvPr/>
        </p:nvSpPr>
        <p:spPr>
          <a:xfrm>
            <a:off x="7296912" y="2514600"/>
            <a:ext cx="1280160" cy="114300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El panel muestra deudas y vencimientos.</a:t>
            </a:r>
            <a:endParaRPr lang="en-US" sz="1400" dirty="0"/>
          </a:p>
        </p:txBody>
      </p:sp>
      <p:sp>
        <p:nvSpPr>
          <p:cNvPr id="28" name="Rol Operador"/>
          <p:cNvSpPr/>
          <p:nvPr/>
        </p:nvSpPr>
        <p:spPr>
          <a:xfrm>
            <a:off x="457200" y="3977640"/>
            <a:ext cx="4023360" cy="640080"/>
          </a:xfrm>
          <a:prstGeom prst="roundRect">
            <a:avLst>
              <a:gd name="adj" fmla="val 14286"/>
            </a:avLst>
          </a:prstGeom>
          <a:solidFill>
            <a:schemeClr val="accent6"/>
          </a:solidFill>
          <a:ln/>
        </p:spPr>
        <p:txBody>
          <a:bodyPr/>
          <a:lstStyle/>
          <a:p>
            <a:endParaRPr lang="es-PE"/>
          </a:p>
        </p:txBody>
      </p:sp>
      <p:pic>
        <p:nvPicPr>
          <p:cNvPr id="29" name="Icono Operador" descr="Operador"/>
          <p:cNvPicPr>
            <a:picLocks noChangeAspect="1"/>
          </p:cNvPicPr>
          <p:nvPr/>
        </p:nvPicPr>
        <p:blipFill>
          <a:blip r:embed="rId3"/>
          <a:stretch>
            <a:fillRect/>
          </a:stretch>
        </p:blipFill>
        <p:spPr>
          <a:xfrm>
            <a:off x="640080" y="4114800"/>
            <a:ext cx="365760" cy="365760"/>
          </a:xfrm>
          <a:prstGeom prst="rect">
            <a:avLst/>
          </a:prstGeom>
        </p:spPr>
      </p:pic>
      <p:sp>
        <p:nvSpPr>
          <p:cNvPr id="30" name="Texto Operador"/>
          <p:cNvSpPr txBox="1"/>
          <p:nvPr/>
        </p:nvSpPr>
        <p:spPr>
          <a:xfrm>
            <a:off x="1143000" y="3977640"/>
            <a:ext cx="3246120" cy="64008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Operador: </a:t>
            </a:r>
            <a:r>
              <a:rPr lang="en-US" sz="1400" dirty="0">
                <a:solidFill>
                  <a:schemeClr val="tx2"/>
                </a:solidFill>
                <a:latin typeface="Calibri" pitchFamily="34" charset="0"/>
                <a:ea typeface="Calibri" pitchFamily="34" charset="-122"/>
                <a:cs typeface="Calibri" pitchFamily="34" charset="-120"/>
              </a:rPr>
              <a:t>registra contratos y pagos</a:t>
            </a:r>
            <a:endParaRPr lang="en-US" sz="1400" dirty="0"/>
          </a:p>
        </p:txBody>
      </p:sp>
      <p:sp>
        <p:nvSpPr>
          <p:cNvPr id="31" name="Rol Administrador"/>
          <p:cNvSpPr/>
          <p:nvPr/>
        </p:nvSpPr>
        <p:spPr>
          <a:xfrm>
            <a:off x="4663440" y="3977640"/>
            <a:ext cx="4023360" cy="640080"/>
          </a:xfrm>
          <a:prstGeom prst="roundRect">
            <a:avLst>
              <a:gd name="adj" fmla="val 14286"/>
            </a:avLst>
          </a:prstGeom>
          <a:solidFill>
            <a:schemeClr val="accent6"/>
          </a:solidFill>
          <a:ln/>
        </p:spPr>
        <p:txBody>
          <a:bodyPr/>
          <a:lstStyle/>
          <a:p>
            <a:endParaRPr lang="es-PE"/>
          </a:p>
        </p:txBody>
      </p:sp>
      <p:pic>
        <p:nvPicPr>
          <p:cNvPr id="32" name="Icono Administrador" descr="Administrador"/>
          <p:cNvPicPr>
            <a:picLocks noChangeAspect="1"/>
          </p:cNvPicPr>
          <p:nvPr/>
        </p:nvPicPr>
        <p:blipFill>
          <a:blip r:embed="rId4"/>
          <a:stretch>
            <a:fillRect/>
          </a:stretch>
        </p:blipFill>
        <p:spPr>
          <a:xfrm>
            <a:off x="4846320" y="4114800"/>
            <a:ext cx="365760" cy="365760"/>
          </a:xfrm>
          <a:prstGeom prst="rect">
            <a:avLst/>
          </a:prstGeom>
        </p:spPr>
      </p:pic>
      <p:sp>
        <p:nvSpPr>
          <p:cNvPr id="33" name="Texto Administrador"/>
          <p:cNvSpPr txBox="1"/>
          <p:nvPr/>
        </p:nvSpPr>
        <p:spPr>
          <a:xfrm>
            <a:off x="5349240" y="3977640"/>
            <a:ext cx="3246120" cy="64008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Administrador: </a:t>
            </a:r>
            <a:r>
              <a:rPr lang="en-US" sz="1400" dirty="0">
                <a:solidFill>
                  <a:schemeClr val="tx2"/>
                </a:solidFill>
                <a:latin typeface="Calibri" pitchFamily="34" charset="0"/>
                <a:ea typeface="Calibri" pitchFamily="34" charset="-122"/>
                <a:cs typeface="Calibri" pitchFamily="34" charset="-120"/>
              </a:rPr>
              <a:t>autoriza, anula y administra</a:t>
            </a:r>
            <a:endParaRPr lang="en-US" sz="1400" dirty="0"/>
          </a:p>
        </p:txBody>
      </p:sp>
      <p:sp>
        <p:nvSpPr>
          <p:cNvPr id="3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
        <p:nvSpPr>
          <p:cNvPr id="35"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1 · INTRODUCCIÓN: PROBLEMA Y VALOR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Primero especificamos</a:t>
            </a:r>
            <a:endParaRPr lang="en-US" sz="3000" dirty="0"/>
          </a:p>
        </p:txBody>
      </p:sp>
      <p:sp>
        <p:nvSpPr>
          <p:cNvPr id="3" name="Cifra 1"/>
          <p:cNvSpPr/>
          <p:nvPr/>
        </p:nvSpPr>
        <p:spPr>
          <a:xfrm>
            <a:off x="457200" y="1234440"/>
            <a:ext cx="2560320" cy="2103120"/>
          </a:xfrm>
          <a:prstGeom prst="roundRect">
            <a:avLst>
              <a:gd name="adj" fmla="val 4348"/>
            </a:avLst>
          </a:prstGeom>
          <a:solidFill>
            <a:schemeClr val="bg2"/>
          </a:solidFill>
          <a:ln w="12700">
            <a:solidFill>
              <a:srgbClr val="DCE4EA"/>
            </a:solidFill>
            <a:prstDash val="solid"/>
          </a:ln>
        </p:spPr>
        <p:txBody>
          <a:bodyPr/>
          <a:lstStyle/>
          <a:p>
            <a:endParaRPr lang="es-PE"/>
          </a:p>
        </p:txBody>
      </p:sp>
      <p:sp>
        <p:nvSpPr>
          <p:cNvPr id="4" name="Número 22"/>
          <p:cNvSpPr txBox="1"/>
          <p:nvPr/>
        </p:nvSpPr>
        <p:spPr>
          <a:xfrm>
            <a:off x="640080" y="1325880"/>
            <a:ext cx="2194560" cy="868680"/>
          </a:xfrm>
          <a:prstGeom prst="rect">
            <a:avLst/>
          </a:prstGeom>
          <a:noFill/>
          <a:ln/>
        </p:spPr>
        <p:txBody>
          <a:bodyPr wrap="square" lIns="0" tIns="0" rIns="0" bIns="0" rtlCol="0" anchor="ctr"/>
          <a:lstStyle/>
          <a:p>
            <a:pPr marL="0" indent="0">
              <a:buNone/>
            </a:pPr>
            <a:r>
              <a:rPr lang="en-US" sz="5400" b="1" dirty="0">
                <a:solidFill>
                  <a:schemeClr val="accent1"/>
                </a:solidFill>
                <a:latin typeface="Cambria" pitchFamily="34" charset="0"/>
                <a:ea typeface="Cambria" pitchFamily="34" charset="-122"/>
                <a:cs typeface="Cambria" pitchFamily="34" charset="-120"/>
              </a:rPr>
              <a:t>22</a:t>
            </a:r>
            <a:endParaRPr lang="en-US" sz="5400" dirty="0"/>
          </a:p>
        </p:txBody>
      </p:sp>
      <p:sp>
        <p:nvSpPr>
          <p:cNvPr id="5" name="Etiqueta 22"/>
          <p:cNvSpPr txBox="1"/>
          <p:nvPr/>
        </p:nvSpPr>
        <p:spPr>
          <a:xfrm>
            <a:off x="640080" y="2194560"/>
            <a:ext cx="2194560" cy="5029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funciones del sistema</a:t>
            </a:r>
            <a:endParaRPr lang="en-US" sz="1600" dirty="0"/>
          </a:p>
        </p:txBody>
      </p:sp>
      <p:sp>
        <p:nvSpPr>
          <p:cNvPr id="6" name="Detalle 22"/>
          <p:cNvSpPr txBox="1"/>
          <p:nvPr/>
        </p:nvSpPr>
        <p:spPr>
          <a:xfrm>
            <a:off x="640080" y="2697480"/>
            <a:ext cx="2194560" cy="5486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Requisitos funcionales</a:t>
            </a:r>
            <a:endParaRPr lang="en-US" sz="1400" dirty="0"/>
          </a:p>
        </p:txBody>
      </p:sp>
      <p:sp>
        <p:nvSpPr>
          <p:cNvPr id="7" name="Cifra 2"/>
          <p:cNvSpPr/>
          <p:nvPr/>
        </p:nvSpPr>
        <p:spPr>
          <a:xfrm>
            <a:off x="3291840" y="1234440"/>
            <a:ext cx="2560320" cy="2103120"/>
          </a:xfrm>
          <a:prstGeom prst="roundRect">
            <a:avLst>
              <a:gd name="adj" fmla="val 4348"/>
            </a:avLst>
          </a:prstGeom>
          <a:solidFill>
            <a:schemeClr val="bg2"/>
          </a:solidFill>
          <a:ln w="12700">
            <a:solidFill>
              <a:srgbClr val="DCE4EA"/>
            </a:solidFill>
            <a:prstDash val="solid"/>
          </a:ln>
        </p:spPr>
        <p:txBody>
          <a:bodyPr/>
          <a:lstStyle/>
          <a:p>
            <a:endParaRPr lang="es-PE"/>
          </a:p>
        </p:txBody>
      </p:sp>
      <p:sp>
        <p:nvSpPr>
          <p:cNvPr id="8" name="Número 15"/>
          <p:cNvSpPr txBox="1"/>
          <p:nvPr/>
        </p:nvSpPr>
        <p:spPr>
          <a:xfrm>
            <a:off x="3474720" y="1325880"/>
            <a:ext cx="2194560" cy="868680"/>
          </a:xfrm>
          <a:prstGeom prst="rect">
            <a:avLst/>
          </a:prstGeom>
          <a:noFill/>
          <a:ln/>
        </p:spPr>
        <p:txBody>
          <a:bodyPr wrap="square" lIns="0" tIns="0" rIns="0" bIns="0" rtlCol="0" anchor="ctr"/>
          <a:lstStyle/>
          <a:p>
            <a:pPr marL="0" indent="0">
              <a:buNone/>
            </a:pPr>
            <a:r>
              <a:rPr lang="en-US" sz="5400" b="1" dirty="0">
                <a:solidFill>
                  <a:schemeClr val="accent1"/>
                </a:solidFill>
                <a:latin typeface="Cambria" pitchFamily="34" charset="0"/>
                <a:ea typeface="Cambria" pitchFamily="34" charset="-122"/>
                <a:cs typeface="Cambria" pitchFamily="34" charset="-120"/>
              </a:rPr>
              <a:t>15</a:t>
            </a:r>
            <a:endParaRPr lang="en-US" sz="5400" dirty="0"/>
          </a:p>
        </p:txBody>
      </p:sp>
      <p:sp>
        <p:nvSpPr>
          <p:cNvPr id="9" name="Etiqueta 15"/>
          <p:cNvSpPr txBox="1"/>
          <p:nvPr/>
        </p:nvSpPr>
        <p:spPr>
          <a:xfrm>
            <a:off x="3474720" y="2194560"/>
            <a:ext cx="2194560" cy="5029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reglas del negocio</a:t>
            </a:r>
            <a:endParaRPr lang="en-US" sz="1600" dirty="0"/>
          </a:p>
        </p:txBody>
      </p:sp>
      <p:sp>
        <p:nvSpPr>
          <p:cNvPr id="10" name="Detalle 15"/>
          <p:cNvSpPr txBox="1"/>
          <p:nvPr/>
        </p:nvSpPr>
        <p:spPr>
          <a:xfrm>
            <a:off x="3474720" y="2697480"/>
            <a:ext cx="2194560" cy="5486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Por ejemplo: un pago no puede superar la deuda</a:t>
            </a:r>
            <a:endParaRPr lang="en-US" sz="1400" dirty="0"/>
          </a:p>
        </p:txBody>
      </p:sp>
      <p:sp>
        <p:nvSpPr>
          <p:cNvPr id="11" name="Cifra 3"/>
          <p:cNvSpPr/>
          <p:nvPr/>
        </p:nvSpPr>
        <p:spPr>
          <a:xfrm>
            <a:off x="6126480" y="1234440"/>
            <a:ext cx="2560320" cy="2103120"/>
          </a:xfrm>
          <a:prstGeom prst="roundRect">
            <a:avLst>
              <a:gd name="adj" fmla="val 4348"/>
            </a:avLst>
          </a:prstGeom>
          <a:solidFill>
            <a:schemeClr val="bg2"/>
          </a:solidFill>
          <a:ln w="12700">
            <a:solidFill>
              <a:srgbClr val="DCE4EA"/>
            </a:solidFill>
            <a:prstDash val="solid"/>
          </a:ln>
        </p:spPr>
        <p:txBody>
          <a:bodyPr/>
          <a:lstStyle/>
          <a:p>
            <a:endParaRPr lang="es-PE"/>
          </a:p>
        </p:txBody>
      </p:sp>
      <p:sp>
        <p:nvSpPr>
          <p:cNvPr id="12" name="Número 8"/>
          <p:cNvSpPr txBox="1"/>
          <p:nvPr/>
        </p:nvSpPr>
        <p:spPr>
          <a:xfrm>
            <a:off x="6309360" y="1325880"/>
            <a:ext cx="2194560" cy="868680"/>
          </a:xfrm>
          <a:prstGeom prst="rect">
            <a:avLst/>
          </a:prstGeom>
          <a:noFill/>
          <a:ln/>
        </p:spPr>
        <p:txBody>
          <a:bodyPr wrap="square" lIns="0" tIns="0" rIns="0" bIns="0" rtlCol="0" anchor="ctr"/>
          <a:lstStyle/>
          <a:p>
            <a:pPr marL="0" indent="0">
              <a:buNone/>
            </a:pPr>
            <a:r>
              <a:rPr lang="en-US" sz="5400" b="1" dirty="0">
                <a:solidFill>
                  <a:schemeClr val="accent1"/>
                </a:solidFill>
                <a:latin typeface="Cambria" pitchFamily="34" charset="0"/>
                <a:ea typeface="Cambria" pitchFamily="34" charset="-122"/>
                <a:cs typeface="Cambria" pitchFamily="34" charset="-120"/>
              </a:rPr>
              <a:t>8</a:t>
            </a:r>
            <a:endParaRPr lang="en-US" sz="5400" dirty="0"/>
          </a:p>
        </p:txBody>
      </p:sp>
      <p:sp>
        <p:nvSpPr>
          <p:cNvPr id="13" name="Etiqueta 8"/>
          <p:cNvSpPr txBox="1"/>
          <p:nvPr/>
        </p:nvSpPr>
        <p:spPr>
          <a:xfrm>
            <a:off x="6309360" y="2194560"/>
            <a:ext cx="2194560" cy="5029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condiciones de calidad</a:t>
            </a:r>
            <a:endParaRPr lang="en-US" sz="1600" dirty="0"/>
          </a:p>
        </p:txBody>
      </p:sp>
      <p:sp>
        <p:nvSpPr>
          <p:cNvPr id="14" name="Detalle 8"/>
          <p:cNvSpPr txBox="1"/>
          <p:nvPr/>
        </p:nvSpPr>
        <p:spPr>
          <a:xfrm>
            <a:off x="6309360" y="2697480"/>
            <a:ext cx="2194560" cy="5486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Seguridad, errores, instalación...</a:t>
            </a:r>
            <a:endParaRPr lang="en-US" sz="1400" dirty="0"/>
          </a:p>
        </p:txBody>
      </p:sp>
      <p:sp>
        <p:nvSpPr>
          <p:cNvPr id="15" name="Mensaje SDD"/>
          <p:cNvSpPr/>
          <p:nvPr/>
        </p:nvSpPr>
        <p:spPr>
          <a:xfrm>
            <a:off x="457200" y="3520440"/>
            <a:ext cx="8229600" cy="1097280"/>
          </a:xfrm>
          <a:prstGeom prst="roundRect">
            <a:avLst>
              <a:gd name="adj" fmla="val 8333"/>
            </a:avLst>
          </a:prstGeom>
          <a:solidFill>
            <a:schemeClr val="accent6"/>
          </a:solidFill>
          <a:ln/>
        </p:spPr>
        <p:txBody>
          <a:bodyPr/>
          <a:lstStyle/>
          <a:p>
            <a:endParaRPr lang="es-PE"/>
          </a:p>
        </p:txBody>
      </p:sp>
      <p:pic>
        <p:nvPicPr>
          <p:cNvPr id="16" name="Icono especificación" descr="Lista de verificación"/>
          <p:cNvPicPr>
            <a:picLocks noChangeAspect="1"/>
          </p:cNvPicPr>
          <p:nvPr/>
        </p:nvPicPr>
        <p:blipFill>
          <a:blip r:embed="rId3"/>
          <a:stretch>
            <a:fillRect/>
          </a:stretch>
        </p:blipFill>
        <p:spPr>
          <a:xfrm>
            <a:off x="731520" y="3794760"/>
            <a:ext cx="548640" cy="548640"/>
          </a:xfrm>
          <a:prstGeom prst="rect">
            <a:avLst/>
          </a:prstGeom>
        </p:spPr>
      </p:pic>
      <p:sp>
        <p:nvSpPr>
          <p:cNvPr id="17" name="Texto SDD"/>
          <p:cNvSpPr txBox="1"/>
          <p:nvPr/>
        </p:nvSpPr>
        <p:spPr>
          <a:xfrm>
            <a:off x="1554480" y="3520440"/>
            <a:ext cx="6949440" cy="1097280"/>
          </a:xfrm>
          <a:prstGeom prst="rect">
            <a:avLst/>
          </a:prstGeom>
          <a:noFill/>
          <a:ln/>
        </p:spPr>
        <p:txBody>
          <a:bodyPr wrap="square" lIns="0" tIns="0" rIns="0" bIns="0" rtlCol="0" anchor="ctr"/>
          <a:lstStyle/>
          <a:p>
            <a:pPr marL="0" indent="0">
              <a:buNone/>
            </a:pPr>
            <a:r>
              <a:rPr lang="en-US" sz="1600" dirty="0">
                <a:solidFill>
                  <a:schemeClr val="tx2"/>
                </a:solidFill>
                <a:latin typeface="Calibri" pitchFamily="34" charset="0"/>
                <a:ea typeface="Calibri" pitchFamily="34" charset="-122"/>
                <a:cs typeface="Calibri" pitchFamily="34" charset="-120"/>
              </a:rPr>
              <a:t>Cada requisito (RF), regla (RN) y condición de calidad (RNF) tiene un código y una prueba que lo comprueba. Primero se escribió qué debía hacer el sistema; después se construyó.</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2 · ESPECIFICACIONES Y TRAZABILIDAD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Arquitectura en N capas</a:t>
            </a: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3 · ARQUITECTURA Y DECISIONES TÉCNICAS</a:t>
            </a:r>
          </a:p>
        </p:txBody>
      </p:sp>
      <p:sp>
        <p:nvSpPr>
          <p:cNvPr id="27" name="Capa API"/>
          <p:cNvSpPr/>
          <p:nvPr/>
        </p:nvSpPr>
        <p:spPr>
          <a:xfrm>
            <a:off x="457200" y="1143000"/>
            <a:ext cx="2468880" cy="640080"/>
          </a:xfrm>
          <a:prstGeom prst="roundRect">
            <a:avLst>
              <a:gd name="adj" fmla="val 5000"/>
            </a:avLst>
          </a:prstGeom>
          <a:solidFill>
            <a:schemeClr val="accent1"/>
          </a:solidFill>
          <a:ln>
            <a:noFill/>
          </a:ln>
        </p:spPr>
        <p:txBody>
          <a:bodyPr rtlCol="0" anchor="ctr"/>
          <a:lstStyle/>
          <a:p>
            <a:pPr algn="ctr"/>
          </a:p>
        </p:txBody>
      </p:sp>
      <p:sp>
        <p:nvSpPr>
          <p:cNvPr id="28" name="Nombre capa API"/>
          <p:cNvSpPr txBox="1"/>
          <p:nvPr/>
        </p:nvSpPr>
        <p:spPr>
          <a:xfrm>
            <a:off x="594360" y="1143000"/>
            <a:ext cx="2194560" cy="640080"/>
          </a:xfrm>
          <a:prstGeom prst="rect">
            <a:avLst/>
          </a:prstGeom>
          <a:noFill/>
        </p:spPr>
        <p:txBody>
          <a:bodyPr wrap="square" lIns="0" rIns="0" tIns="0" bIns="0" anchor="ctr">
            <a:spAutoFit/>
          </a:bodyPr>
          <a:lstStyle/>
          <a:p>
            <a:pPr algn="l"/>
            <a:r>
              <a:rPr sz="1800" b="1">
                <a:solidFill>
                  <a:srgbClr val="FFFFFF"/>
                </a:solidFill>
                <a:latin typeface="Cambria"/>
              </a:rPr>
              <a:t>API</a:t>
            </a:r>
          </a:p>
        </p:txBody>
      </p:sp>
      <p:sp>
        <p:nvSpPr>
          <p:cNvPr id="29" name="Proyecto API"/>
          <p:cNvSpPr/>
          <p:nvPr/>
        </p:nvSpPr>
        <p:spPr>
          <a:xfrm>
            <a:off x="3063240" y="1143000"/>
            <a:ext cx="5623560" cy="6400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0" name="Texto proyecto API"/>
          <p:cNvSpPr txBox="1"/>
          <p:nvPr/>
        </p:nvSpPr>
        <p:spPr>
          <a:xfrm>
            <a:off x="3246120" y="1188720"/>
            <a:ext cx="5303520" cy="548640"/>
          </a:xfrm>
          <a:prstGeom prst="rect">
            <a:avLst/>
          </a:prstGeom>
          <a:noFill/>
        </p:spPr>
        <p:txBody>
          <a:bodyPr wrap="square" lIns="0" rIns="0" tIns="0" bIns="0" anchor="ctr">
            <a:spAutoFit/>
          </a:bodyPr>
          <a:lstStyle/>
          <a:p>
            <a:pPr algn="l"/>
            <a:r>
              <a:rPr sz="1400" b="1">
                <a:solidFill>
                  <a:schemeClr val="tx2"/>
                </a:solidFill>
                <a:latin typeface="Calibri"/>
              </a:rPr>
              <a:t>GestionContratos.API</a:t>
            </a:r>
          </a:p>
          <a:p>
            <a:pPr algn="l"/>
            <a:r>
              <a:rPr sz="1400" b="0">
                <a:solidFill>
                  <a:schemeClr val="tx2"/>
                </a:solidFill>
                <a:latin typeface="Calibri"/>
              </a:rPr>
              <a:t>Controllers, JWT, OpenAPI. No tiene lógica de negocio</a:t>
            </a:r>
          </a:p>
        </p:txBody>
      </p:sp>
      <p:sp>
        <p:nvSpPr>
          <p:cNvPr id="31" name="Capa Negocio"/>
          <p:cNvSpPr/>
          <p:nvPr/>
        </p:nvSpPr>
        <p:spPr>
          <a:xfrm>
            <a:off x="457200" y="1874519"/>
            <a:ext cx="2468880" cy="640080"/>
          </a:xfrm>
          <a:prstGeom prst="roundRect">
            <a:avLst>
              <a:gd name="adj" fmla="val 5000"/>
            </a:avLst>
          </a:prstGeom>
          <a:solidFill>
            <a:schemeClr val="accent1"/>
          </a:solidFill>
          <a:ln>
            <a:noFill/>
          </a:ln>
        </p:spPr>
        <p:txBody>
          <a:bodyPr rtlCol="0" anchor="ctr"/>
          <a:lstStyle/>
          <a:p>
            <a:pPr algn="ctr"/>
          </a:p>
        </p:txBody>
      </p:sp>
      <p:sp>
        <p:nvSpPr>
          <p:cNvPr id="32" name="Nombre capa Negocio"/>
          <p:cNvSpPr txBox="1"/>
          <p:nvPr/>
        </p:nvSpPr>
        <p:spPr>
          <a:xfrm>
            <a:off x="594360" y="1874519"/>
            <a:ext cx="2194560" cy="640080"/>
          </a:xfrm>
          <a:prstGeom prst="rect">
            <a:avLst/>
          </a:prstGeom>
          <a:noFill/>
        </p:spPr>
        <p:txBody>
          <a:bodyPr wrap="square" lIns="0" rIns="0" tIns="0" bIns="0" anchor="ctr">
            <a:spAutoFit/>
          </a:bodyPr>
          <a:lstStyle/>
          <a:p>
            <a:pPr algn="l"/>
            <a:r>
              <a:rPr sz="1800" b="1">
                <a:solidFill>
                  <a:srgbClr val="FFFFFF"/>
                </a:solidFill>
                <a:latin typeface="Cambria"/>
              </a:rPr>
              <a:t>Negocio</a:t>
            </a:r>
          </a:p>
        </p:txBody>
      </p:sp>
      <p:sp>
        <p:nvSpPr>
          <p:cNvPr id="33" name="Proyecto Negocio"/>
          <p:cNvSpPr/>
          <p:nvPr/>
        </p:nvSpPr>
        <p:spPr>
          <a:xfrm>
            <a:off x="3063240" y="1874519"/>
            <a:ext cx="5623560" cy="6400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4" name="Texto proyecto Negocio"/>
          <p:cNvSpPr txBox="1"/>
          <p:nvPr/>
        </p:nvSpPr>
        <p:spPr>
          <a:xfrm>
            <a:off x="3246120" y="1920239"/>
            <a:ext cx="5303520" cy="548640"/>
          </a:xfrm>
          <a:prstGeom prst="rect">
            <a:avLst/>
          </a:prstGeom>
          <a:noFill/>
        </p:spPr>
        <p:txBody>
          <a:bodyPr wrap="square" lIns="0" rIns="0" tIns="0" bIns="0" anchor="ctr">
            <a:spAutoFit/>
          </a:bodyPr>
          <a:lstStyle/>
          <a:p>
            <a:pPr algn="l"/>
            <a:r>
              <a:rPr sz="1400" b="1">
                <a:solidFill>
                  <a:schemeClr val="tx2"/>
                </a:solidFill>
                <a:latin typeface="Calibri"/>
              </a:rPr>
              <a:t>GestionContratos.Negocio</a:t>
            </a:r>
          </a:p>
          <a:p>
            <a:pPr algn="l"/>
            <a:r>
              <a:rPr sz="1400" b="0">
                <a:solidFill>
                  <a:schemeClr val="tx2"/>
                </a:solidFill>
                <a:latin typeface="Calibri"/>
              </a:rPr>
              <a:t>Servicios, reglas del negocio y analíticas</a:t>
            </a:r>
          </a:p>
        </p:txBody>
      </p:sp>
      <p:sp>
        <p:nvSpPr>
          <p:cNvPr id="35" name="Capa Datos"/>
          <p:cNvSpPr/>
          <p:nvPr/>
        </p:nvSpPr>
        <p:spPr>
          <a:xfrm>
            <a:off x="457200" y="2606039"/>
            <a:ext cx="2468880" cy="640080"/>
          </a:xfrm>
          <a:prstGeom prst="roundRect">
            <a:avLst>
              <a:gd name="adj" fmla="val 5000"/>
            </a:avLst>
          </a:prstGeom>
          <a:solidFill>
            <a:schemeClr val="accent1"/>
          </a:solidFill>
          <a:ln>
            <a:noFill/>
          </a:ln>
        </p:spPr>
        <p:txBody>
          <a:bodyPr rtlCol="0" anchor="ctr"/>
          <a:lstStyle/>
          <a:p>
            <a:pPr algn="ctr"/>
          </a:p>
        </p:txBody>
      </p:sp>
      <p:sp>
        <p:nvSpPr>
          <p:cNvPr id="36" name="Nombre capa Datos"/>
          <p:cNvSpPr txBox="1"/>
          <p:nvPr/>
        </p:nvSpPr>
        <p:spPr>
          <a:xfrm>
            <a:off x="594360" y="2606039"/>
            <a:ext cx="2194560" cy="640080"/>
          </a:xfrm>
          <a:prstGeom prst="rect">
            <a:avLst/>
          </a:prstGeom>
          <a:noFill/>
        </p:spPr>
        <p:txBody>
          <a:bodyPr wrap="square" lIns="0" rIns="0" tIns="0" bIns="0" anchor="ctr">
            <a:spAutoFit/>
          </a:bodyPr>
          <a:lstStyle/>
          <a:p>
            <a:pPr algn="l"/>
            <a:r>
              <a:rPr sz="1800" b="1">
                <a:solidFill>
                  <a:srgbClr val="FFFFFF"/>
                </a:solidFill>
                <a:latin typeface="Cambria"/>
              </a:rPr>
              <a:t>Datos</a:t>
            </a:r>
          </a:p>
        </p:txBody>
      </p:sp>
      <p:sp>
        <p:nvSpPr>
          <p:cNvPr id="37" name="Proyecto Datos"/>
          <p:cNvSpPr/>
          <p:nvPr/>
        </p:nvSpPr>
        <p:spPr>
          <a:xfrm>
            <a:off x="3063240" y="2606039"/>
            <a:ext cx="5623560" cy="6400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8" name="Texto proyecto Datos"/>
          <p:cNvSpPr txBox="1"/>
          <p:nvPr/>
        </p:nvSpPr>
        <p:spPr>
          <a:xfrm>
            <a:off x="3246120" y="2651759"/>
            <a:ext cx="5303520" cy="548640"/>
          </a:xfrm>
          <a:prstGeom prst="rect">
            <a:avLst/>
          </a:prstGeom>
          <a:noFill/>
        </p:spPr>
        <p:txBody>
          <a:bodyPr wrap="square" lIns="0" rIns="0" tIns="0" bIns="0" anchor="ctr">
            <a:spAutoFit/>
          </a:bodyPr>
          <a:lstStyle/>
          <a:p>
            <a:pPr algn="l"/>
            <a:r>
              <a:rPr sz="1400" b="1">
                <a:solidFill>
                  <a:schemeClr val="tx2"/>
                </a:solidFill>
                <a:latin typeface="Calibri"/>
              </a:rPr>
              <a:t>GestionContratos.Datos</a:t>
            </a:r>
          </a:p>
          <a:p>
            <a:pPr algn="l"/>
            <a:r>
              <a:rPr sz="1400" b="0">
                <a:solidFill>
                  <a:schemeClr val="tx2"/>
                </a:solidFill>
                <a:latin typeface="Calibri"/>
              </a:rPr>
              <a:t>DbContext de EF Core, repositorios y Unit of Work</a:t>
            </a:r>
          </a:p>
        </p:txBody>
      </p:sp>
      <p:sp>
        <p:nvSpPr>
          <p:cNvPr id="39" name="Capa Entidades"/>
          <p:cNvSpPr/>
          <p:nvPr/>
        </p:nvSpPr>
        <p:spPr>
          <a:xfrm>
            <a:off x="457200" y="3337559"/>
            <a:ext cx="2468880" cy="640080"/>
          </a:xfrm>
          <a:prstGeom prst="roundRect">
            <a:avLst>
              <a:gd name="adj" fmla="val 5000"/>
            </a:avLst>
          </a:prstGeom>
          <a:solidFill>
            <a:schemeClr val="accent1"/>
          </a:solidFill>
          <a:ln>
            <a:noFill/>
          </a:ln>
        </p:spPr>
        <p:txBody>
          <a:bodyPr rtlCol="0" anchor="ctr"/>
          <a:lstStyle/>
          <a:p>
            <a:pPr algn="ctr"/>
          </a:p>
        </p:txBody>
      </p:sp>
      <p:sp>
        <p:nvSpPr>
          <p:cNvPr id="40" name="Nombre capa Entidades"/>
          <p:cNvSpPr txBox="1"/>
          <p:nvPr/>
        </p:nvSpPr>
        <p:spPr>
          <a:xfrm>
            <a:off x="594360" y="3337559"/>
            <a:ext cx="2194560" cy="640080"/>
          </a:xfrm>
          <a:prstGeom prst="rect">
            <a:avLst/>
          </a:prstGeom>
          <a:noFill/>
        </p:spPr>
        <p:txBody>
          <a:bodyPr wrap="square" lIns="0" rIns="0" tIns="0" bIns="0" anchor="ctr">
            <a:spAutoFit/>
          </a:bodyPr>
          <a:lstStyle/>
          <a:p>
            <a:pPr algn="l"/>
            <a:r>
              <a:rPr sz="1800" b="1">
                <a:solidFill>
                  <a:srgbClr val="FFFFFF"/>
                </a:solidFill>
                <a:latin typeface="Cambria"/>
              </a:rPr>
              <a:t>Entidades</a:t>
            </a:r>
          </a:p>
        </p:txBody>
      </p:sp>
      <p:sp>
        <p:nvSpPr>
          <p:cNvPr id="41" name="Proyecto Entidades"/>
          <p:cNvSpPr/>
          <p:nvPr/>
        </p:nvSpPr>
        <p:spPr>
          <a:xfrm>
            <a:off x="3063240" y="3337559"/>
            <a:ext cx="5623560" cy="6400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42" name="Texto proyecto Entidades"/>
          <p:cNvSpPr txBox="1"/>
          <p:nvPr/>
        </p:nvSpPr>
        <p:spPr>
          <a:xfrm>
            <a:off x="3246120" y="3383279"/>
            <a:ext cx="5303520" cy="548640"/>
          </a:xfrm>
          <a:prstGeom prst="rect">
            <a:avLst/>
          </a:prstGeom>
          <a:noFill/>
        </p:spPr>
        <p:txBody>
          <a:bodyPr wrap="square" lIns="0" rIns="0" tIns="0" bIns="0" anchor="ctr">
            <a:spAutoFit/>
          </a:bodyPr>
          <a:lstStyle/>
          <a:p>
            <a:pPr algn="l"/>
            <a:r>
              <a:rPr sz="1400" b="1">
                <a:solidFill>
                  <a:schemeClr val="tx2"/>
                </a:solidFill>
                <a:latin typeface="Calibri"/>
              </a:rPr>
              <a:t>GestionContratos.Entidades</a:t>
            </a:r>
          </a:p>
          <a:p>
            <a:pPr algn="l"/>
            <a:r>
              <a:rPr sz="1400" b="0">
                <a:solidFill>
                  <a:schemeClr val="tx2"/>
                </a:solidFill>
                <a:latin typeface="Calibri"/>
              </a:rPr>
              <a:t>Clases de las tablas; no depende de ninguna otra</a:t>
            </a:r>
          </a:p>
        </p:txBody>
      </p:sp>
      <p:sp>
        <p:nvSpPr>
          <p:cNvPr id="43" name="Mensaje arquitectura"/>
          <p:cNvSpPr/>
          <p:nvPr/>
        </p:nvSpPr>
        <p:spPr>
          <a:xfrm>
            <a:off x="457200" y="4069080"/>
            <a:ext cx="8229600" cy="640080"/>
          </a:xfrm>
          <a:prstGeom prst="roundRect">
            <a:avLst>
              <a:gd name="adj" fmla="val 15000"/>
            </a:avLst>
          </a:prstGeom>
          <a:solidFill>
            <a:schemeClr val="accent6"/>
          </a:solidFill>
          <a:ln>
            <a:noFill/>
          </a:ln>
        </p:spPr>
        <p:txBody>
          <a:bodyPr rtlCol="0" anchor="ctr"/>
          <a:lstStyle/>
          <a:p>
            <a:pPr algn="ctr"/>
          </a:p>
        </p:txBody>
      </p:sp>
      <p:sp>
        <p:nvSpPr>
          <p:cNvPr id="44" name="Texto arquitectura"/>
          <p:cNvSpPr txBox="1"/>
          <p:nvPr/>
        </p:nvSpPr>
        <p:spPr>
          <a:xfrm>
            <a:off x="731520" y="4069080"/>
            <a:ext cx="7680960" cy="640080"/>
          </a:xfrm>
          <a:prstGeom prst="rect">
            <a:avLst/>
          </a:prstGeom>
          <a:noFill/>
        </p:spPr>
        <p:txBody>
          <a:bodyPr wrap="square" lIns="0" rIns="0" tIns="0" bIns="0" anchor="ctr">
            <a:spAutoFit/>
          </a:bodyPr>
          <a:lstStyle/>
          <a:p>
            <a:pPr algn="l"/>
            <a:r>
              <a:rPr sz="1400" b="1">
                <a:solidFill>
                  <a:schemeClr val="tx2"/>
                </a:solidFill>
                <a:latin typeface="Calibri"/>
              </a:rPr>
              <a:t>Apoyo: DTOs · Comun · Integraciones · Pruebas</a:t>
            </a:r>
          </a:p>
          <a:p>
            <a:pPr algn="l"/>
            <a:r>
              <a:rPr sz="1400" b="1">
                <a:solidFill>
                  <a:schemeClr val="tx2"/>
                </a:solidFill>
                <a:latin typeface="Calibri"/>
              </a:rPr>
              <a:t>.NET 10 · Entity Framework Core · SQL Server · Angular 21 consume la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Decisiones técnicas clave (ADR)</a:t>
            </a:r>
            <a:endParaRPr lang="en-US" sz="3000" dirty="0"/>
          </a:p>
        </p:txBody>
      </p:sp>
      <p:sp>
        <p:nvSpPr>
          <p:cNvPr id="3" name="Decisión Base de datos primero"/>
          <p:cNvSpPr/>
          <p:nvPr/>
        </p:nvSpPr>
        <p:spPr>
          <a:xfrm>
            <a:off x="457200" y="1188720"/>
            <a:ext cx="4023360" cy="1609344"/>
          </a:xfrm>
          <a:prstGeom prst="roundRect">
            <a:avLst>
              <a:gd name="adj" fmla="val 5682"/>
            </a:avLst>
          </a:prstGeom>
          <a:solidFill>
            <a:schemeClr val="bg2"/>
          </a:solidFill>
          <a:ln w="12700">
            <a:solidFill>
              <a:srgbClr val="DCE4EA"/>
            </a:solidFill>
            <a:prstDash val="solid"/>
          </a:ln>
        </p:spPr>
        <p:txBody>
          <a:bodyPr/>
          <a:lstStyle/>
          <a:p>
            <a:endParaRPr lang="es-PE"/>
          </a:p>
        </p:txBody>
      </p:sp>
      <p:sp>
        <p:nvSpPr>
          <p:cNvPr id="4" name="Icono Base de datos primero (círculo)"/>
          <p:cNvSpPr/>
          <p:nvPr/>
        </p:nvSpPr>
        <p:spPr>
          <a:xfrm>
            <a:off x="685800" y="1371600"/>
            <a:ext cx="548640" cy="548640"/>
          </a:xfrm>
          <a:prstGeom prst="ellipse">
            <a:avLst/>
          </a:prstGeom>
          <a:solidFill>
            <a:srgbClr val="DCE9F1"/>
          </a:solidFill>
          <a:ln/>
        </p:spPr>
        <p:txBody>
          <a:bodyPr/>
          <a:lstStyle/>
          <a:p>
            <a:endParaRPr lang="es-PE"/>
          </a:p>
        </p:txBody>
      </p:sp>
      <p:pic>
        <p:nvPicPr>
          <p:cNvPr id="5" name="Icono Base de datos primero" descr="Icono Base de datos primero"/>
          <p:cNvPicPr>
            <a:picLocks noChangeAspect="1"/>
          </p:cNvPicPr>
          <p:nvPr/>
        </p:nvPicPr>
        <p:blipFill>
          <a:blip r:embed="rId3"/>
          <a:stretch>
            <a:fillRect/>
          </a:stretch>
        </p:blipFill>
        <p:spPr>
          <a:xfrm>
            <a:off x="822960" y="1508760"/>
            <a:ext cx="274320" cy="274320"/>
          </a:xfrm>
          <a:prstGeom prst="rect">
            <a:avLst/>
          </a:prstGeom>
        </p:spPr>
      </p:pic>
      <p:sp>
        <p:nvSpPr>
          <p:cNvPr id="6" name="Título Base de datos primero"/>
          <p:cNvSpPr txBox="1"/>
          <p:nvPr/>
        </p:nvSpPr>
        <p:spPr>
          <a:xfrm>
            <a:off x="1417320" y="1371600"/>
            <a:ext cx="2926080" cy="5486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ADR-1 · Base de datos primero</a:t>
            </a:r>
            <a:endParaRPr lang="en-US" sz="1800" dirty="0"/>
          </a:p>
        </p:txBody>
      </p:sp>
      <p:sp>
        <p:nvSpPr>
          <p:cNvPr id="7" name="Texto Base de datos primero"/>
          <p:cNvSpPr txBox="1"/>
          <p:nvPr/>
        </p:nvSpPr>
        <p:spPr>
          <a:xfrm>
            <a:off x="685800" y="2057400"/>
            <a:ext cx="35661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La BD es la fuente de verdad; las entidades se generan con EF Core scaffold.</a:t>
            </a:r>
            <a:endParaRPr lang="en-US" sz="1400" dirty="0"/>
          </a:p>
        </p:txBody>
      </p:sp>
      <p:sp>
        <p:nvSpPr>
          <p:cNvPr id="8" name="Decisión Claves protegidas"/>
          <p:cNvSpPr/>
          <p:nvPr/>
        </p:nvSpPr>
        <p:spPr>
          <a:xfrm>
            <a:off x="4663440" y="1188720"/>
            <a:ext cx="4023360" cy="1609344"/>
          </a:xfrm>
          <a:prstGeom prst="roundRect">
            <a:avLst>
              <a:gd name="adj" fmla="val 5682"/>
            </a:avLst>
          </a:prstGeom>
          <a:solidFill>
            <a:schemeClr val="bg2"/>
          </a:solidFill>
          <a:ln w="12700">
            <a:solidFill>
              <a:srgbClr val="DCE4EA"/>
            </a:solidFill>
            <a:prstDash val="solid"/>
          </a:ln>
        </p:spPr>
        <p:txBody>
          <a:bodyPr/>
          <a:lstStyle/>
          <a:p>
            <a:endParaRPr lang="es-PE"/>
          </a:p>
        </p:txBody>
      </p:sp>
      <p:sp>
        <p:nvSpPr>
          <p:cNvPr id="9" name="Icono Claves protegidas (círculo)"/>
          <p:cNvSpPr/>
          <p:nvPr/>
        </p:nvSpPr>
        <p:spPr>
          <a:xfrm>
            <a:off x="4892040" y="1371600"/>
            <a:ext cx="548640" cy="548640"/>
          </a:xfrm>
          <a:prstGeom prst="ellipse">
            <a:avLst/>
          </a:prstGeom>
          <a:solidFill>
            <a:srgbClr val="DCE9F1"/>
          </a:solidFill>
          <a:ln/>
        </p:spPr>
        <p:txBody>
          <a:bodyPr/>
          <a:lstStyle/>
          <a:p>
            <a:endParaRPr lang="es-PE"/>
          </a:p>
        </p:txBody>
      </p:sp>
      <p:pic>
        <p:nvPicPr>
          <p:cNvPr id="10" name="Icono Claves protegidas" descr="Icono Claves protegidas"/>
          <p:cNvPicPr>
            <a:picLocks noChangeAspect="1"/>
          </p:cNvPicPr>
          <p:nvPr/>
        </p:nvPicPr>
        <p:blipFill>
          <a:blip r:embed="rId4"/>
          <a:stretch>
            <a:fillRect/>
          </a:stretch>
        </p:blipFill>
        <p:spPr>
          <a:xfrm>
            <a:off x="5029200" y="1508760"/>
            <a:ext cx="274320" cy="274320"/>
          </a:xfrm>
          <a:prstGeom prst="rect">
            <a:avLst/>
          </a:prstGeom>
        </p:spPr>
      </p:pic>
      <p:sp>
        <p:nvSpPr>
          <p:cNvPr id="11" name="Título Claves protegidas"/>
          <p:cNvSpPr txBox="1"/>
          <p:nvPr/>
        </p:nvSpPr>
        <p:spPr>
          <a:xfrm>
            <a:off x="5623560" y="1371600"/>
            <a:ext cx="2926080" cy="5486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ADR-2 · Claves protegidas</a:t>
            </a:r>
            <a:endParaRPr lang="en-US" sz="1800" dirty="0"/>
          </a:p>
        </p:txBody>
      </p:sp>
      <p:sp>
        <p:nvSpPr>
          <p:cNvPr id="12" name="Texto Claves protegidas"/>
          <p:cNvSpPr txBox="1"/>
          <p:nvPr/>
        </p:nvSpPr>
        <p:spPr>
          <a:xfrm>
            <a:off x="4892040" y="2057400"/>
            <a:ext cx="35661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Cadena de conexión y clave JWT en user-secrets, nunca en el repositorio.</a:t>
            </a:r>
            <a:endParaRPr lang="en-US" sz="1400" dirty="0"/>
          </a:p>
        </p:txBody>
      </p:sp>
      <p:sp>
        <p:nvSpPr>
          <p:cNvPr id="13" name="Decisión Nada se borra de verdad"/>
          <p:cNvSpPr/>
          <p:nvPr/>
        </p:nvSpPr>
        <p:spPr>
          <a:xfrm>
            <a:off x="457200" y="2926080"/>
            <a:ext cx="4023360" cy="1609344"/>
          </a:xfrm>
          <a:prstGeom prst="roundRect">
            <a:avLst>
              <a:gd name="adj" fmla="val 5682"/>
            </a:avLst>
          </a:prstGeom>
          <a:solidFill>
            <a:schemeClr val="bg2"/>
          </a:solidFill>
          <a:ln w="12700">
            <a:solidFill>
              <a:srgbClr val="DCE4EA"/>
            </a:solidFill>
            <a:prstDash val="solid"/>
          </a:ln>
        </p:spPr>
        <p:txBody>
          <a:bodyPr/>
          <a:lstStyle/>
          <a:p>
            <a:endParaRPr lang="es-PE"/>
          </a:p>
        </p:txBody>
      </p:sp>
      <p:sp>
        <p:nvSpPr>
          <p:cNvPr id="14" name="Icono Nada se borra de verdad (círculo)"/>
          <p:cNvSpPr/>
          <p:nvPr/>
        </p:nvSpPr>
        <p:spPr>
          <a:xfrm>
            <a:off x="685800" y="3108960"/>
            <a:ext cx="548640" cy="548640"/>
          </a:xfrm>
          <a:prstGeom prst="ellipse">
            <a:avLst/>
          </a:prstGeom>
          <a:solidFill>
            <a:srgbClr val="DCE9F1"/>
          </a:solidFill>
          <a:ln/>
        </p:spPr>
        <p:txBody>
          <a:bodyPr/>
          <a:lstStyle/>
          <a:p>
            <a:endParaRPr lang="es-PE"/>
          </a:p>
        </p:txBody>
      </p:sp>
      <p:pic>
        <p:nvPicPr>
          <p:cNvPr id="15" name="Icono Nada se borra de verdad" descr="Icono Nada se borra de verdad"/>
          <p:cNvPicPr>
            <a:picLocks noChangeAspect="1"/>
          </p:cNvPicPr>
          <p:nvPr/>
        </p:nvPicPr>
        <p:blipFill>
          <a:blip r:embed="rId5"/>
          <a:stretch>
            <a:fillRect/>
          </a:stretch>
        </p:blipFill>
        <p:spPr>
          <a:xfrm>
            <a:off x="822960" y="3246120"/>
            <a:ext cx="274320" cy="274320"/>
          </a:xfrm>
          <a:prstGeom prst="rect">
            <a:avLst/>
          </a:prstGeom>
        </p:spPr>
      </p:pic>
      <p:sp>
        <p:nvSpPr>
          <p:cNvPr id="16" name="Título Nada se borra de verdad"/>
          <p:cNvSpPr txBox="1"/>
          <p:nvPr/>
        </p:nvSpPr>
        <p:spPr>
          <a:xfrm>
            <a:off x="1417320" y="3108960"/>
            <a:ext cx="2926080" cy="5486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ADR-3 · Baja lógica</a:t>
            </a:r>
            <a:endParaRPr lang="en-US" sz="1800" dirty="0"/>
          </a:p>
        </p:txBody>
      </p:sp>
      <p:sp>
        <p:nvSpPr>
          <p:cNvPr id="17" name="Texto Nada se borra de verdad"/>
          <p:cNvSpPr txBox="1"/>
          <p:nvPr/>
        </p:nvSpPr>
        <p:spPr>
          <a:xfrm>
            <a:off x="685800" y="3794760"/>
            <a:ext cx="35661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Filtro global de EF Core: los registros se desactivan y queda el historial.</a:t>
            </a:r>
            <a:endParaRPr lang="en-US" sz="1400" dirty="0"/>
          </a:p>
        </p:txBody>
      </p:sp>
      <p:sp>
        <p:nvSpPr>
          <p:cNvPr id="18" name="Decisión Un solo sitio"/>
          <p:cNvSpPr/>
          <p:nvPr/>
        </p:nvSpPr>
        <p:spPr>
          <a:xfrm>
            <a:off x="4663440" y="2926080"/>
            <a:ext cx="4023360" cy="1609344"/>
          </a:xfrm>
          <a:prstGeom prst="roundRect">
            <a:avLst>
              <a:gd name="adj" fmla="val 5682"/>
            </a:avLst>
          </a:prstGeom>
          <a:solidFill>
            <a:schemeClr val="bg2"/>
          </a:solidFill>
          <a:ln w="12700">
            <a:solidFill>
              <a:srgbClr val="DCE4EA"/>
            </a:solidFill>
            <a:prstDash val="solid"/>
          </a:ln>
        </p:spPr>
        <p:txBody>
          <a:bodyPr/>
          <a:lstStyle/>
          <a:p>
            <a:endParaRPr lang="es-PE"/>
          </a:p>
        </p:txBody>
      </p:sp>
      <p:sp>
        <p:nvSpPr>
          <p:cNvPr id="19" name="Icono Un solo sitio (círculo)"/>
          <p:cNvSpPr/>
          <p:nvPr/>
        </p:nvSpPr>
        <p:spPr>
          <a:xfrm>
            <a:off x="4892040" y="3108960"/>
            <a:ext cx="548640" cy="548640"/>
          </a:xfrm>
          <a:prstGeom prst="ellipse">
            <a:avLst/>
          </a:prstGeom>
          <a:solidFill>
            <a:srgbClr val="DCE9F1"/>
          </a:solidFill>
          <a:ln/>
        </p:spPr>
        <p:txBody>
          <a:bodyPr/>
          <a:lstStyle/>
          <a:p>
            <a:endParaRPr lang="es-PE"/>
          </a:p>
        </p:txBody>
      </p:sp>
      <p:pic>
        <p:nvPicPr>
          <p:cNvPr id="20" name="Icono Un solo sitio" descr="Icono Un solo sitio"/>
          <p:cNvPicPr>
            <a:picLocks noChangeAspect="1"/>
          </p:cNvPicPr>
          <p:nvPr/>
        </p:nvPicPr>
        <p:blipFill>
          <a:blip r:embed="rId6"/>
          <a:stretch>
            <a:fillRect/>
          </a:stretch>
        </p:blipFill>
        <p:spPr>
          <a:xfrm>
            <a:off x="5029200" y="3246120"/>
            <a:ext cx="274320" cy="274320"/>
          </a:xfrm>
          <a:prstGeom prst="rect">
            <a:avLst/>
          </a:prstGeom>
        </p:spPr>
      </p:pic>
      <p:sp>
        <p:nvSpPr>
          <p:cNvPr id="21" name="Título Un solo sitio"/>
          <p:cNvSpPr txBox="1"/>
          <p:nvPr/>
        </p:nvSpPr>
        <p:spPr>
          <a:xfrm>
            <a:off x="5623560" y="3108960"/>
            <a:ext cx="2926080" cy="5486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ADR-4 · Despliegue en IIS</a:t>
            </a:r>
            <a:endParaRPr lang="en-US" sz="1800" dirty="0"/>
          </a:p>
        </p:txBody>
      </p:sp>
      <p:sp>
        <p:nvSpPr>
          <p:cNvPr id="22" name="Texto Un solo sitio"/>
          <p:cNvSpPr txBox="1"/>
          <p:nvPr/>
        </p:nvSpPr>
        <p:spPr>
          <a:xfrm>
            <a:off x="4892040" y="3794760"/>
            <a:ext cx="35661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La API sirve la web compilada: se instala un solo sitio.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3 · ARQUITECTURA Y DECISIONES TÉCNICAS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Cómo usamos la inteligencia artificial</a:t>
            </a:r>
            <a:endParaRPr lang="en-US" sz="3000" dirty="0"/>
          </a:p>
        </p:txBody>
      </p:sp>
      <p:sp>
        <p:nvSpPr>
          <p:cNvPr id="3" name="Columna Yo decidí"/>
          <p:cNvSpPr/>
          <p:nvPr/>
        </p:nvSpPr>
        <p:spPr>
          <a:xfrm>
            <a:off x="457200" y="1188720"/>
            <a:ext cx="2560320" cy="2743200"/>
          </a:xfrm>
          <a:prstGeom prst="roundRect">
            <a:avLst>
              <a:gd name="adj" fmla="val 3571"/>
            </a:avLst>
          </a:prstGeom>
          <a:solidFill>
            <a:schemeClr val="bg2"/>
          </a:solidFill>
          <a:ln w="12700">
            <a:solidFill>
              <a:srgbClr val="DCE4EA"/>
            </a:solidFill>
            <a:prstDash val="solid"/>
          </a:ln>
        </p:spPr>
        <p:txBody>
          <a:bodyPr/>
          <a:lstStyle/>
          <a:p>
            <a:endParaRPr lang="es-PE"/>
          </a:p>
        </p:txBody>
      </p:sp>
      <p:sp>
        <p:nvSpPr>
          <p:cNvPr id="4" name="Icono Yo decidí (círculo)"/>
          <p:cNvSpPr/>
          <p:nvPr/>
        </p:nvSpPr>
        <p:spPr>
          <a:xfrm>
            <a:off x="640080" y="1325880"/>
            <a:ext cx="548640" cy="548640"/>
          </a:xfrm>
          <a:prstGeom prst="ellipse">
            <a:avLst/>
          </a:prstGeom>
          <a:solidFill>
            <a:srgbClr val="2F6F8F"/>
          </a:solidFill>
          <a:ln/>
        </p:spPr>
        <p:txBody>
          <a:bodyPr/>
          <a:lstStyle/>
          <a:p>
            <a:endParaRPr lang="es-PE"/>
          </a:p>
        </p:txBody>
      </p:sp>
      <p:pic>
        <p:nvPicPr>
          <p:cNvPr id="5" name="Icono Yo decidí" descr="Icono Yo decidí"/>
          <p:cNvPicPr>
            <a:picLocks noChangeAspect="1"/>
          </p:cNvPicPr>
          <p:nvPr/>
        </p:nvPicPr>
        <p:blipFill>
          <a:blip r:embed="rId3"/>
          <a:stretch>
            <a:fillRect/>
          </a:stretch>
        </p:blipFill>
        <p:spPr>
          <a:xfrm>
            <a:off x="777240" y="1463040"/>
            <a:ext cx="274320" cy="274320"/>
          </a:xfrm>
          <a:prstGeom prst="rect">
            <a:avLst/>
          </a:prstGeom>
        </p:spPr>
      </p:pic>
      <p:sp>
        <p:nvSpPr>
          <p:cNvPr id="6" name="Título Yo decidí"/>
          <p:cNvSpPr txBox="1"/>
          <p:nvPr/>
        </p:nvSpPr>
        <p:spPr>
          <a:xfrm>
            <a:off x="1325880" y="1325880"/>
            <a:ext cx="1554480" cy="54864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Yo decidí</a:t>
            </a:r>
            <a:endParaRPr lang="en-US" sz="1800" dirty="0"/>
          </a:p>
        </p:txBody>
      </p:sp>
      <p:sp>
        <p:nvSpPr>
          <p:cNvPr id="7" name="Lista Yo decidí"/>
          <p:cNvSpPr txBox="1"/>
          <p:nvPr/>
        </p:nvSpPr>
        <p:spPr>
          <a:xfrm>
            <a:off x="640080" y="2011680"/>
            <a:ext cx="22402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El problema y las reglas del negocio</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Que las claves nunca se suban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El orden de trabajo por fases</a:t>
            </a:r>
            <a:endParaRPr lang="en-US" sz="1400" dirty="0"/>
          </a:p>
        </p:txBody>
      </p:sp>
      <p:sp>
        <p:nvSpPr>
          <p:cNvPr id="8" name="Columna La IA construyó"/>
          <p:cNvSpPr/>
          <p:nvPr/>
        </p:nvSpPr>
        <p:spPr>
          <a:xfrm>
            <a:off x="3291840" y="1188720"/>
            <a:ext cx="2560320" cy="2743200"/>
          </a:xfrm>
          <a:prstGeom prst="roundRect">
            <a:avLst>
              <a:gd name="adj" fmla="val 3571"/>
            </a:avLst>
          </a:prstGeom>
          <a:solidFill>
            <a:schemeClr val="bg2"/>
          </a:solidFill>
          <a:ln w="12700">
            <a:solidFill>
              <a:srgbClr val="DCE4EA"/>
            </a:solidFill>
            <a:prstDash val="solid"/>
          </a:ln>
        </p:spPr>
        <p:txBody>
          <a:bodyPr/>
          <a:lstStyle/>
          <a:p>
            <a:endParaRPr lang="es-PE"/>
          </a:p>
        </p:txBody>
      </p:sp>
      <p:sp>
        <p:nvSpPr>
          <p:cNvPr id="9" name="Icono La IA construyó (círculo)"/>
          <p:cNvSpPr/>
          <p:nvPr/>
        </p:nvSpPr>
        <p:spPr>
          <a:xfrm>
            <a:off x="3474720" y="1325880"/>
            <a:ext cx="548640" cy="548640"/>
          </a:xfrm>
          <a:prstGeom prst="ellipse">
            <a:avLst/>
          </a:prstGeom>
          <a:solidFill>
            <a:srgbClr val="2F6F8F"/>
          </a:solidFill>
          <a:ln/>
        </p:spPr>
        <p:txBody>
          <a:bodyPr/>
          <a:lstStyle/>
          <a:p>
            <a:endParaRPr lang="es-PE"/>
          </a:p>
        </p:txBody>
      </p:sp>
      <p:pic>
        <p:nvPicPr>
          <p:cNvPr id="10" name="Icono La IA construyó" descr="Icono La IA construyó"/>
          <p:cNvPicPr>
            <a:picLocks noChangeAspect="1"/>
          </p:cNvPicPr>
          <p:nvPr/>
        </p:nvPicPr>
        <p:blipFill>
          <a:blip r:embed="rId4"/>
          <a:stretch>
            <a:fillRect/>
          </a:stretch>
        </p:blipFill>
        <p:spPr>
          <a:xfrm>
            <a:off x="3611880" y="1463040"/>
            <a:ext cx="274320" cy="274320"/>
          </a:xfrm>
          <a:prstGeom prst="rect">
            <a:avLst/>
          </a:prstGeom>
        </p:spPr>
      </p:pic>
      <p:sp>
        <p:nvSpPr>
          <p:cNvPr id="11" name="Título La IA construyó"/>
          <p:cNvSpPr txBox="1"/>
          <p:nvPr/>
        </p:nvSpPr>
        <p:spPr>
          <a:xfrm>
            <a:off x="4160520" y="1325880"/>
            <a:ext cx="1554480" cy="54864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La IA construyó</a:t>
            </a:r>
            <a:endParaRPr lang="en-US" sz="1800" dirty="0"/>
          </a:p>
        </p:txBody>
      </p:sp>
      <p:sp>
        <p:nvSpPr>
          <p:cNvPr id="12" name="Lista La IA construyó"/>
          <p:cNvSpPr txBox="1"/>
          <p:nvPr/>
        </p:nvSpPr>
        <p:spPr>
          <a:xfrm>
            <a:off x="3474720" y="2011680"/>
            <a:ext cx="22402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Implementó las N capas que indiqué</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Escribió el código y las pruebas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Redactó la documentación</a:t>
            </a:r>
            <a:endParaRPr lang="en-US" sz="1400" dirty="0"/>
          </a:p>
        </p:txBody>
      </p:sp>
      <p:sp>
        <p:nvSpPr>
          <p:cNvPr id="13" name="Columna Se verificó"/>
          <p:cNvSpPr/>
          <p:nvPr/>
        </p:nvSpPr>
        <p:spPr>
          <a:xfrm>
            <a:off x="6126480" y="1188720"/>
            <a:ext cx="2560320" cy="2743200"/>
          </a:xfrm>
          <a:prstGeom prst="roundRect">
            <a:avLst>
              <a:gd name="adj" fmla="val 3571"/>
            </a:avLst>
          </a:prstGeom>
          <a:solidFill>
            <a:schemeClr val="bg2"/>
          </a:solidFill>
          <a:ln w="12700">
            <a:solidFill>
              <a:srgbClr val="DCE4EA"/>
            </a:solidFill>
            <a:prstDash val="solid"/>
          </a:ln>
        </p:spPr>
        <p:txBody>
          <a:bodyPr/>
          <a:lstStyle/>
          <a:p>
            <a:endParaRPr lang="es-PE"/>
          </a:p>
        </p:txBody>
      </p:sp>
      <p:sp>
        <p:nvSpPr>
          <p:cNvPr id="14" name="Icono Se verificó (círculo)"/>
          <p:cNvSpPr/>
          <p:nvPr/>
        </p:nvSpPr>
        <p:spPr>
          <a:xfrm>
            <a:off x="6309360" y="1325880"/>
            <a:ext cx="548640" cy="548640"/>
          </a:xfrm>
          <a:prstGeom prst="ellipse">
            <a:avLst/>
          </a:prstGeom>
          <a:solidFill>
            <a:srgbClr val="2F6F8F"/>
          </a:solidFill>
          <a:ln/>
        </p:spPr>
        <p:txBody>
          <a:bodyPr/>
          <a:lstStyle/>
          <a:p>
            <a:endParaRPr lang="es-PE"/>
          </a:p>
        </p:txBody>
      </p:sp>
      <p:pic>
        <p:nvPicPr>
          <p:cNvPr id="15" name="Icono Se verificó" descr="Icono Se verificó"/>
          <p:cNvPicPr>
            <a:picLocks noChangeAspect="1"/>
          </p:cNvPicPr>
          <p:nvPr/>
        </p:nvPicPr>
        <p:blipFill>
          <a:blip r:embed="rId5"/>
          <a:stretch>
            <a:fillRect/>
          </a:stretch>
        </p:blipFill>
        <p:spPr>
          <a:xfrm>
            <a:off x="6446520" y="1463040"/>
            <a:ext cx="274320" cy="274320"/>
          </a:xfrm>
          <a:prstGeom prst="rect">
            <a:avLst/>
          </a:prstGeom>
        </p:spPr>
      </p:pic>
      <p:sp>
        <p:nvSpPr>
          <p:cNvPr id="16" name="Título Se verificó"/>
          <p:cNvSpPr txBox="1"/>
          <p:nvPr/>
        </p:nvSpPr>
        <p:spPr>
          <a:xfrm>
            <a:off x="6995160" y="1325880"/>
            <a:ext cx="1554480" cy="54864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Se verificó</a:t>
            </a:r>
            <a:endParaRPr lang="en-US" sz="1800" dirty="0"/>
          </a:p>
        </p:txBody>
      </p:sp>
      <p:sp>
        <p:nvSpPr>
          <p:cNvPr id="17" name="Lista Se verificó"/>
          <p:cNvSpPr txBox="1"/>
          <p:nvPr/>
        </p:nvSpPr>
        <p:spPr>
          <a:xfrm>
            <a:off x="6309360" y="2011680"/>
            <a:ext cx="22402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Más de 300 pruebas automáticas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Prueba manual en un IIS real</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Revisión antes de cada commit</a:t>
            </a:r>
            <a:endParaRPr lang="en-US" sz="1400" dirty="0"/>
          </a:p>
        </p:txBody>
      </p:sp>
      <p:sp>
        <p:nvSpPr>
          <p:cNvPr id="18" name="Datos de uso"/>
          <p:cNvSpPr/>
          <p:nvPr/>
        </p:nvSpPr>
        <p:spPr>
          <a:xfrm>
            <a:off x="457200" y="4114800"/>
            <a:ext cx="8229600" cy="548640"/>
          </a:xfrm>
          <a:prstGeom prst="roundRect">
            <a:avLst>
              <a:gd name="adj" fmla="val 16667"/>
            </a:avLst>
          </a:prstGeom>
          <a:solidFill>
            <a:schemeClr val="accent6"/>
          </a:solidFill>
          <a:ln/>
        </p:spPr>
        <p:txBody>
          <a:bodyPr/>
          <a:lstStyle/>
          <a:p>
            <a:endParaRPr lang="es-PE"/>
          </a:p>
        </p:txBody>
      </p:sp>
      <p:sp>
        <p:nvSpPr>
          <p:cNvPr id="19" name="Texto datos de uso"/>
          <p:cNvSpPr txBox="1"/>
          <p:nvPr/>
        </p:nvSpPr>
        <p:spPr>
          <a:xfrm>
            <a:off x="640080" y="4114800"/>
            <a:ext cx="7863840" cy="5486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15 commits · 3 documentos de prompts · la IA figura como coautora en cada commit</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4 · INTELIGENCIA ARTIFICIAL Y EVIDENCIA DE REVISIÓN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La IA también se equivoca: revisión crítica</a:t>
            </a:r>
            <a:endParaRPr lang="en-US" sz="3000" dirty="0"/>
          </a:p>
        </p:txBody>
      </p:sp>
      <p:sp>
        <p:nvSpPr>
          <p:cNvPr id="3" name="Fallo 1"/>
          <p:cNvSpPr/>
          <p:nvPr/>
        </p:nvSpPr>
        <p:spPr>
          <a:xfrm>
            <a:off x="457200" y="1188720"/>
            <a:ext cx="2560320" cy="2651760"/>
          </a:xfrm>
          <a:prstGeom prst="roundRect">
            <a:avLst>
              <a:gd name="adj" fmla="val 3571"/>
            </a:avLst>
          </a:prstGeom>
          <a:solidFill>
            <a:schemeClr val="bg2"/>
          </a:solidFill>
          <a:ln w="12700">
            <a:solidFill>
              <a:srgbClr val="DCE4EA"/>
            </a:solidFill>
            <a:prstDash val="solid"/>
          </a:ln>
        </p:spPr>
        <p:txBody>
          <a:bodyPr/>
          <a:lstStyle/>
          <a:p>
            <a:endParaRPr lang="es-PE"/>
          </a:p>
        </p:txBody>
      </p:sp>
      <p:sp>
        <p:nvSpPr>
          <p:cNvPr id="4" name="Marca 1"/>
          <p:cNvSpPr/>
          <p:nvPr/>
        </p:nvSpPr>
        <p:spPr>
          <a:xfrm>
            <a:off x="640080" y="1371600"/>
            <a:ext cx="457200" cy="457200"/>
          </a:xfrm>
          <a:prstGeom prst="ellipse">
            <a:avLst/>
          </a:prstGeom>
          <a:solidFill>
            <a:schemeClr val="accent3"/>
          </a:solidFill>
          <a:ln/>
        </p:spPr>
        <p:txBody>
          <a:bodyPr/>
          <a:lstStyle/>
          <a:p>
            <a:endParaRPr lang="es-PE"/>
          </a:p>
        </p:txBody>
      </p:sp>
      <p:sp>
        <p:nvSpPr>
          <p:cNvPr id="5" name="Cifra fallo 1"/>
          <p:cNvSpPr txBox="1"/>
          <p:nvPr/>
        </p:nvSpPr>
        <p:spPr>
          <a:xfrm>
            <a:off x="640080"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Fallo título 1"/>
          <p:cNvSpPr txBox="1"/>
          <p:nvPr/>
        </p:nvSpPr>
        <p:spPr>
          <a:xfrm>
            <a:off x="640080" y="1920240"/>
            <a:ext cx="2194560" cy="7772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El botón «Anular pago» recargaba la página</a:t>
            </a:r>
            <a:endParaRPr lang="en-US" sz="1600" dirty="0"/>
          </a:p>
        </p:txBody>
      </p:sp>
      <p:sp>
        <p:nvSpPr>
          <p:cNvPr id="7" name="Fallo detalle 1"/>
          <p:cNvSpPr txBox="1"/>
          <p:nvPr/>
        </p:nvSpPr>
        <p:spPr>
          <a:xfrm>
            <a:off x="640080" y="2697480"/>
            <a:ext cx="21945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Las pruebas automáticas no lo vieron; apareció al probar en un IIS real. Se corrigió y se agregaron 6 pruebas.</a:t>
            </a:r>
            <a:endParaRPr lang="en-US" sz="1400" dirty="0"/>
          </a:p>
        </p:txBody>
      </p:sp>
      <p:sp>
        <p:nvSpPr>
          <p:cNvPr id="8" name="Fallo 2"/>
          <p:cNvSpPr/>
          <p:nvPr/>
        </p:nvSpPr>
        <p:spPr>
          <a:xfrm>
            <a:off x="3291840" y="1188720"/>
            <a:ext cx="2560320" cy="2651760"/>
          </a:xfrm>
          <a:prstGeom prst="roundRect">
            <a:avLst>
              <a:gd name="adj" fmla="val 3571"/>
            </a:avLst>
          </a:prstGeom>
          <a:solidFill>
            <a:schemeClr val="bg2"/>
          </a:solidFill>
          <a:ln w="12700">
            <a:solidFill>
              <a:srgbClr val="DCE4EA"/>
            </a:solidFill>
            <a:prstDash val="solid"/>
          </a:ln>
        </p:spPr>
        <p:txBody>
          <a:bodyPr/>
          <a:lstStyle/>
          <a:p>
            <a:endParaRPr lang="es-PE"/>
          </a:p>
        </p:txBody>
      </p:sp>
      <p:sp>
        <p:nvSpPr>
          <p:cNvPr id="9" name="Marca 2"/>
          <p:cNvSpPr/>
          <p:nvPr/>
        </p:nvSpPr>
        <p:spPr>
          <a:xfrm>
            <a:off x="3474720" y="1371600"/>
            <a:ext cx="457200" cy="457200"/>
          </a:xfrm>
          <a:prstGeom prst="ellipse">
            <a:avLst/>
          </a:prstGeom>
          <a:solidFill>
            <a:schemeClr val="accent3"/>
          </a:solidFill>
          <a:ln/>
        </p:spPr>
        <p:txBody>
          <a:bodyPr/>
          <a:lstStyle/>
          <a:p>
            <a:endParaRPr lang="es-PE"/>
          </a:p>
        </p:txBody>
      </p:sp>
      <p:sp>
        <p:nvSpPr>
          <p:cNvPr id="10" name="Cifra fallo 2"/>
          <p:cNvSpPr txBox="1"/>
          <p:nvPr/>
        </p:nvSpPr>
        <p:spPr>
          <a:xfrm>
            <a:off x="3474720"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1" name="Fallo título 2"/>
          <p:cNvSpPr txBox="1"/>
          <p:nvPr/>
        </p:nvSpPr>
        <p:spPr>
          <a:xfrm>
            <a:off x="3474720" y="1920240"/>
            <a:ext cx="2194560" cy="7772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Se subieron archivos que no debían estar</a:t>
            </a:r>
            <a:endParaRPr lang="en-US" sz="1600" dirty="0"/>
          </a:p>
        </p:txBody>
      </p:sp>
      <p:sp>
        <p:nvSpPr>
          <p:cNvPr id="12" name="Fallo detalle 2"/>
          <p:cNvSpPr txBox="1"/>
          <p:nvPr/>
        </p:nvSpPr>
        <p:spPr>
          <a:xfrm>
            <a:off x="3474720" y="2697480"/>
            <a:ext cx="21945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Eran archivos generados por las herramientas. Se revirtieron para mantener limpio el repositorio.</a:t>
            </a:r>
            <a:endParaRPr lang="en-US" sz="1400" dirty="0"/>
          </a:p>
        </p:txBody>
      </p:sp>
      <p:sp>
        <p:nvSpPr>
          <p:cNvPr id="13" name="Fallo 3"/>
          <p:cNvSpPr/>
          <p:nvPr/>
        </p:nvSpPr>
        <p:spPr>
          <a:xfrm>
            <a:off x="6126480" y="1188720"/>
            <a:ext cx="2560320" cy="2651760"/>
          </a:xfrm>
          <a:prstGeom prst="roundRect">
            <a:avLst>
              <a:gd name="adj" fmla="val 3571"/>
            </a:avLst>
          </a:prstGeom>
          <a:solidFill>
            <a:schemeClr val="bg2"/>
          </a:solidFill>
          <a:ln w="12700">
            <a:solidFill>
              <a:srgbClr val="DCE4EA"/>
            </a:solidFill>
            <a:prstDash val="solid"/>
          </a:ln>
        </p:spPr>
        <p:txBody>
          <a:bodyPr/>
          <a:lstStyle/>
          <a:p>
            <a:endParaRPr lang="es-PE"/>
          </a:p>
        </p:txBody>
      </p:sp>
      <p:sp>
        <p:nvSpPr>
          <p:cNvPr id="14" name="Marca 3"/>
          <p:cNvSpPr/>
          <p:nvPr/>
        </p:nvSpPr>
        <p:spPr>
          <a:xfrm>
            <a:off x="6309360" y="1371600"/>
            <a:ext cx="457200" cy="457200"/>
          </a:xfrm>
          <a:prstGeom prst="ellipse">
            <a:avLst/>
          </a:prstGeom>
          <a:solidFill>
            <a:schemeClr val="accent3"/>
          </a:solidFill>
          <a:ln/>
        </p:spPr>
        <p:txBody>
          <a:bodyPr/>
          <a:lstStyle/>
          <a:p>
            <a:endParaRPr lang="es-PE"/>
          </a:p>
        </p:txBody>
      </p:sp>
      <p:sp>
        <p:nvSpPr>
          <p:cNvPr id="15" name="Cifra fallo 3"/>
          <p:cNvSpPr txBox="1"/>
          <p:nvPr/>
        </p:nvSpPr>
        <p:spPr>
          <a:xfrm>
            <a:off x="6309360" y="1371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6" name="Fallo título 3"/>
          <p:cNvSpPr txBox="1"/>
          <p:nvPr/>
        </p:nvSpPr>
        <p:spPr>
          <a:xfrm>
            <a:off x="6309360" y="1920240"/>
            <a:ext cx="2194560" cy="7772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Una prueba fallaba al correr junto a otras</a:t>
            </a:r>
            <a:endParaRPr lang="en-US" sz="1600" dirty="0"/>
          </a:p>
        </p:txBody>
      </p:sp>
      <p:sp>
        <p:nvSpPr>
          <p:cNvPr id="17" name="Fallo detalle 3"/>
          <p:cNvSpPr txBox="1"/>
          <p:nvPr/>
        </p:nvSpPr>
        <p:spPr>
          <a:xfrm>
            <a:off x="6309360" y="2697480"/>
            <a:ext cx="21945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Fallaba cuando varias pruebas corrían al mismo tiempo. Se reescribió para que no dependa de eso.</a:t>
            </a:r>
            <a:endParaRPr lang="en-US" sz="1400" dirty="0"/>
          </a:p>
        </p:txBody>
      </p:sp>
      <p:sp>
        <p:nvSpPr>
          <p:cNvPr id="18" name="Mensaje de responsabilidad"/>
          <p:cNvSpPr/>
          <p:nvPr/>
        </p:nvSpPr>
        <p:spPr>
          <a:xfrm>
            <a:off x="457200" y="4023360"/>
            <a:ext cx="8229600" cy="640080"/>
          </a:xfrm>
          <a:prstGeom prst="roundRect">
            <a:avLst>
              <a:gd name="adj" fmla="val 14286"/>
            </a:avLst>
          </a:prstGeom>
          <a:solidFill>
            <a:schemeClr val="tx2"/>
          </a:solidFill>
          <a:ln/>
        </p:spPr>
        <p:txBody>
          <a:bodyPr/>
          <a:lstStyle/>
          <a:p>
            <a:endParaRPr lang="es-PE"/>
          </a:p>
        </p:txBody>
      </p:sp>
      <p:sp>
        <p:nvSpPr>
          <p:cNvPr id="19" name="Texto de responsabilidad"/>
          <p:cNvSpPr txBox="1"/>
          <p:nvPr/>
        </p:nvSpPr>
        <p:spPr>
          <a:xfrm>
            <a:off x="685800" y="4023360"/>
            <a:ext cx="7772400" cy="640080"/>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Registramos 7 fallos así: la responsabilidad final es de quien desarrolla.</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4 · INTELIGENCIA ARTIFICIAL Y EVIDENCIA DE REVISIÓN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Validación técnica del sistema</a:t>
            </a:r>
            <a:endParaRPr lang="en-US" sz="3000" dirty="0"/>
          </a:p>
        </p:txBody>
      </p:sp>
      <p:sp>
        <p:nvSpPr>
          <p:cNvPr id="3" name="Total 176"/>
          <p:cNvSpPr/>
          <p:nvPr/>
        </p:nvSpPr>
        <p:spPr>
          <a:xfrm>
            <a:off x="457200" y="1188720"/>
            <a:ext cx="4023360" cy="1600200"/>
          </a:xfrm>
          <a:prstGeom prst="roundRect">
            <a:avLst>
              <a:gd name="adj" fmla="val 5714"/>
            </a:avLst>
          </a:prstGeom>
          <a:solidFill>
            <a:schemeClr val="bg2"/>
          </a:solidFill>
          <a:ln w="12700">
            <a:solidFill>
              <a:srgbClr val="DCE4EA"/>
            </a:solidFill>
            <a:prstDash val="solid"/>
          </a:ln>
        </p:spPr>
        <p:txBody>
          <a:bodyPr/>
          <a:lstStyle/>
          <a:p>
            <a:endParaRPr lang="es-PE"/>
          </a:p>
        </p:txBody>
      </p:sp>
      <p:sp>
        <p:nvSpPr>
          <p:cNvPr id="4" name="Número 176"/>
          <p:cNvSpPr txBox="1"/>
          <p:nvPr/>
        </p:nvSpPr>
        <p:spPr>
          <a:xfrm>
            <a:off x="731520" y="1280160"/>
            <a:ext cx="173736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176</a:t>
            </a:r>
            <a:endParaRPr lang="en-US" sz="6000" dirty="0"/>
          </a:p>
        </p:txBody>
      </p:sp>
      <p:sp>
        <p:nvSpPr>
          <p:cNvPr id="5" name="Detalle 176"/>
          <p:cNvSpPr txBox="1"/>
          <p:nvPr/>
        </p:nvSpPr>
        <p:spPr>
          <a:xfrm>
            <a:off x="2240280" y="1280160"/>
            <a:ext cx="2103120" cy="141732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pruebas del servidor</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Reglas, permisos, pagos y analíticas</a:t>
            </a:r>
            <a:endParaRPr lang="en-US" sz="1400" dirty="0"/>
          </a:p>
        </p:txBody>
      </p:sp>
      <p:sp>
        <p:nvSpPr>
          <p:cNvPr id="6" name="Total 154"/>
          <p:cNvSpPr/>
          <p:nvPr/>
        </p:nvSpPr>
        <p:spPr>
          <a:xfrm>
            <a:off x="4663440" y="1188720"/>
            <a:ext cx="4023360" cy="1600200"/>
          </a:xfrm>
          <a:prstGeom prst="roundRect">
            <a:avLst>
              <a:gd name="adj" fmla="val 5714"/>
            </a:avLst>
          </a:prstGeom>
          <a:solidFill>
            <a:schemeClr val="bg2"/>
          </a:solidFill>
          <a:ln w="12700">
            <a:solidFill>
              <a:srgbClr val="DCE4EA"/>
            </a:solidFill>
            <a:prstDash val="solid"/>
          </a:ln>
        </p:spPr>
        <p:txBody>
          <a:bodyPr/>
          <a:lstStyle/>
          <a:p>
            <a:endParaRPr lang="es-PE"/>
          </a:p>
        </p:txBody>
      </p:sp>
      <p:sp>
        <p:nvSpPr>
          <p:cNvPr id="7" name="Número 154"/>
          <p:cNvSpPr txBox="1"/>
          <p:nvPr/>
        </p:nvSpPr>
        <p:spPr>
          <a:xfrm>
            <a:off x="4937760" y="1280160"/>
            <a:ext cx="1737360" cy="141732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154</a:t>
            </a:r>
            <a:endParaRPr lang="en-US" sz="6000" dirty="0"/>
          </a:p>
        </p:txBody>
      </p:sp>
      <p:sp>
        <p:nvSpPr>
          <p:cNvPr id="8" name="Detalle 154"/>
          <p:cNvSpPr txBox="1"/>
          <p:nvPr/>
        </p:nvSpPr>
        <p:spPr>
          <a:xfrm>
            <a:off x="6446520" y="1280160"/>
            <a:ext cx="2103120" cy="141732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pruebas de las pantallas</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Formularios, sesión y formatos</a:t>
            </a:r>
            <a:endParaRPr lang="en-US" sz="1400" dirty="0"/>
          </a:p>
        </p:txBody>
      </p:sp>
      <p:sp>
        <p:nvSpPr>
          <p:cNvPr id="9" name="Forma Pagos a la vez"/>
          <p:cNvSpPr/>
          <p:nvPr/>
        </p:nvSpPr>
        <p:spPr>
          <a:xfrm>
            <a:off x="457200" y="3017520"/>
            <a:ext cx="2560320" cy="1600200"/>
          </a:xfrm>
          <a:prstGeom prst="roundRect">
            <a:avLst>
              <a:gd name="adj" fmla="val 5714"/>
            </a:avLst>
          </a:prstGeom>
          <a:solidFill>
            <a:schemeClr val="bg2"/>
          </a:solidFill>
          <a:ln w="12700">
            <a:solidFill>
              <a:srgbClr val="DCE4EA"/>
            </a:solidFill>
            <a:prstDash val="solid"/>
          </a:ln>
        </p:spPr>
        <p:txBody>
          <a:bodyPr/>
          <a:lstStyle/>
          <a:p>
            <a:endParaRPr lang="es-PE"/>
          </a:p>
        </p:txBody>
      </p:sp>
      <p:sp>
        <p:nvSpPr>
          <p:cNvPr id="10" name="Icono Pagos a la vez (círculo)"/>
          <p:cNvSpPr/>
          <p:nvPr/>
        </p:nvSpPr>
        <p:spPr>
          <a:xfrm>
            <a:off x="640080" y="3154680"/>
            <a:ext cx="502920" cy="502920"/>
          </a:xfrm>
          <a:prstGeom prst="ellipse">
            <a:avLst/>
          </a:prstGeom>
          <a:solidFill>
            <a:srgbClr val="DCE9F1"/>
          </a:solidFill>
          <a:ln/>
        </p:spPr>
        <p:txBody>
          <a:bodyPr/>
          <a:lstStyle/>
          <a:p>
            <a:endParaRPr lang="es-PE"/>
          </a:p>
        </p:txBody>
      </p:sp>
      <p:pic>
        <p:nvPicPr>
          <p:cNvPr id="11" name="Icono Pagos a la vez" descr="Icono Pagos a la vez"/>
          <p:cNvPicPr>
            <a:picLocks noChangeAspect="1"/>
          </p:cNvPicPr>
          <p:nvPr/>
        </p:nvPicPr>
        <p:blipFill>
          <a:blip r:embed="rId3"/>
          <a:stretch>
            <a:fillRect/>
          </a:stretch>
        </p:blipFill>
        <p:spPr>
          <a:xfrm>
            <a:off x="765810" y="3280410"/>
            <a:ext cx="251460" cy="251460"/>
          </a:xfrm>
          <a:prstGeom prst="rect">
            <a:avLst/>
          </a:prstGeom>
        </p:spPr>
      </p:pic>
      <p:sp>
        <p:nvSpPr>
          <p:cNvPr id="12" name="Título Pagos a la vez"/>
          <p:cNvSpPr txBox="1"/>
          <p:nvPr/>
        </p:nvSpPr>
        <p:spPr>
          <a:xfrm>
            <a:off x="1280160" y="3154680"/>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Pagos a la vez</a:t>
            </a:r>
            <a:endParaRPr lang="en-US" sz="1600" dirty="0"/>
          </a:p>
        </p:txBody>
      </p:sp>
      <p:sp>
        <p:nvSpPr>
          <p:cNvPr id="13" name="Texto Pagos a la vez"/>
          <p:cNvSpPr txBox="1"/>
          <p:nvPr/>
        </p:nvSpPr>
        <p:spPr>
          <a:xfrm>
            <a:off x="640080" y="3749040"/>
            <a:ext cx="224028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 lanzan 5 pagos juntos y solo uno se acepta.</a:t>
            </a:r>
            <a:endParaRPr lang="en-US" sz="1400" dirty="0"/>
          </a:p>
        </p:txBody>
      </p:sp>
      <p:sp>
        <p:nvSpPr>
          <p:cNvPr id="14" name="Forma Datos contrastados"/>
          <p:cNvSpPr/>
          <p:nvPr/>
        </p:nvSpPr>
        <p:spPr>
          <a:xfrm>
            <a:off x="3291840" y="3017520"/>
            <a:ext cx="2560320" cy="1600200"/>
          </a:xfrm>
          <a:prstGeom prst="roundRect">
            <a:avLst>
              <a:gd name="adj" fmla="val 5714"/>
            </a:avLst>
          </a:prstGeom>
          <a:solidFill>
            <a:schemeClr val="bg2"/>
          </a:solidFill>
          <a:ln w="12700">
            <a:solidFill>
              <a:srgbClr val="DCE4EA"/>
            </a:solidFill>
            <a:prstDash val="solid"/>
          </a:ln>
        </p:spPr>
        <p:txBody>
          <a:bodyPr/>
          <a:lstStyle/>
          <a:p>
            <a:endParaRPr lang="es-PE"/>
          </a:p>
        </p:txBody>
      </p:sp>
      <p:sp>
        <p:nvSpPr>
          <p:cNvPr id="15" name="Icono Datos contrastados (círculo)"/>
          <p:cNvSpPr/>
          <p:nvPr/>
        </p:nvSpPr>
        <p:spPr>
          <a:xfrm>
            <a:off x="3474720" y="3154680"/>
            <a:ext cx="502920" cy="502920"/>
          </a:xfrm>
          <a:prstGeom prst="ellipse">
            <a:avLst/>
          </a:prstGeom>
          <a:solidFill>
            <a:srgbClr val="DCE9F1"/>
          </a:solidFill>
          <a:ln/>
        </p:spPr>
        <p:txBody>
          <a:bodyPr/>
          <a:lstStyle/>
          <a:p>
            <a:endParaRPr lang="es-PE"/>
          </a:p>
        </p:txBody>
      </p:sp>
      <p:pic>
        <p:nvPicPr>
          <p:cNvPr id="16" name="Icono Datos contrastados" descr="Icono Datos contrastados"/>
          <p:cNvPicPr>
            <a:picLocks noChangeAspect="1"/>
          </p:cNvPicPr>
          <p:nvPr/>
        </p:nvPicPr>
        <p:blipFill>
          <a:blip r:embed="rId4"/>
          <a:stretch>
            <a:fillRect/>
          </a:stretch>
        </p:blipFill>
        <p:spPr>
          <a:xfrm>
            <a:off x="3600450" y="3280410"/>
            <a:ext cx="251460" cy="251460"/>
          </a:xfrm>
          <a:prstGeom prst="rect">
            <a:avLst/>
          </a:prstGeom>
        </p:spPr>
      </p:pic>
      <p:sp>
        <p:nvSpPr>
          <p:cNvPr id="17" name="Título Datos contrastados"/>
          <p:cNvSpPr txBox="1"/>
          <p:nvPr/>
        </p:nvSpPr>
        <p:spPr>
          <a:xfrm>
            <a:off x="4114800" y="3154680"/>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Datos contrastados</a:t>
            </a:r>
            <a:endParaRPr lang="en-US" sz="1600" dirty="0"/>
          </a:p>
        </p:txBody>
      </p:sp>
      <p:sp>
        <p:nvSpPr>
          <p:cNvPr id="18" name="Texto Datos contrastados"/>
          <p:cNvSpPr txBox="1"/>
          <p:nvPr/>
        </p:nvSpPr>
        <p:spPr>
          <a:xfrm>
            <a:off x="3474720" y="3749040"/>
            <a:ext cx="224028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El panel coincide con las consultas de la base de datos.</a:t>
            </a:r>
            <a:endParaRPr lang="en-US" sz="1400" dirty="0"/>
          </a:p>
        </p:txBody>
      </p:sp>
      <p:sp>
        <p:nvSpPr>
          <p:cNvPr id="19" name="Forma Prueba real"/>
          <p:cNvSpPr/>
          <p:nvPr/>
        </p:nvSpPr>
        <p:spPr>
          <a:xfrm>
            <a:off x="6126480" y="3017520"/>
            <a:ext cx="2560320" cy="1600200"/>
          </a:xfrm>
          <a:prstGeom prst="roundRect">
            <a:avLst>
              <a:gd name="adj" fmla="val 5714"/>
            </a:avLst>
          </a:prstGeom>
          <a:solidFill>
            <a:schemeClr val="bg2"/>
          </a:solidFill>
          <a:ln w="12700">
            <a:solidFill>
              <a:srgbClr val="DCE4EA"/>
            </a:solidFill>
            <a:prstDash val="solid"/>
          </a:ln>
        </p:spPr>
        <p:txBody>
          <a:bodyPr/>
          <a:lstStyle/>
          <a:p>
            <a:endParaRPr lang="es-PE"/>
          </a:p>
        </p:txBody>
      </p:sp>
      <p:sp>
        <p:nvSpPr>
          <p:cNvPr id="20" name="Icono Prueba real (círculo)"/>
          <p:cNvSpPr/>
          <p:nvPr/>
        </p:nvSpPr>
        <p:spPr>
          <a:xfrm>
            <a:off x="6309360" y="3154680"/>
            <a:ext cx="502920" cy="502920"/>
          </a:xfrm>
          <a:prstGeom prst="ellipse">
            <a:avLst/>
          </a:prstGeom>
          <a:solidFill>
            <a:srgbClr val="DCE9F1"/>
          </a:solidFill>
          <a:ln/>
        </p:spPr>
        <p:txBody>
          <a:bodyPr/>
          <a:lstStyle/>
          <a:p>
            <a:endParaRPr lang="es-PE"/>
          </a:p>
        </p:txBody>
      </p:sp>
      <p:pic>
        <p:nvPicPr>
          <p:cNvPr id="21" name="Icono Prueba real" descr="Icono Prueba real"/>
          <p:cNvPicPr>
            <a:picLocks noChangeAspect="1"/>
          </p:cNvPicPr>
          <p:nvPr/>
        </p:nvPicPr>
        <p:blipFill>
          <a:blip r:embed="rId5"/>
          <a:stretch>
            <a:fillRect/>
          </a:stretch>
        </p:blipFill>
        <p:spPr>
          <a:xfrm>
            <a:off x="6435090" y="3280410"/>
            <a:ext cx="251460" cy="251460"/>
          </a:xfrm>
          <a:prstGeom prst="rect">
            <a:avLst/>
          </a:prstGeom>
        </p:spPr>
      </p:pic>
      <p:sp>
        <p:nvSpPr>
          <p:cNvPr id="22" name="Título Prueba real"/>
          <p:cNvSpPr txBox="1"/>
          <p:nvPr/>
        </p:nvSpPr>
        <p:spPr>
          <a:xfrm>
            <a:off x="6949440" y="3154680"/>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Prueba real</a:t>
            </a:r>
            <a:endParaRPr lang="en-US" sz="1600" dirty="0"/>
          </a:p>
        </p:txBody>
      </p:sp>
      <p:sp>
        <p:nvSpPr>
          <p:cNvPr id="23" name="Texto Prueba real"/>
          <p:cNvSpPr txBox="1"/>
          <p:nvPr/>
        </p:nvSpPr>
        <p:spPr>
          <a:xfrm>
            <a:off x="6309360" y="3749040"/>
            <a:ext cx="224028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 instaló y probó en un IIS real.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2 · ESPECIFICACIONES Y TRAZABILIDAD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Demostración del sistema</a:t>
            </a:r>
            <a:endParaRPr lang="en-US" sz="3000" dirty="0"/>
          </a:p>
        </p:txBody>
      </p:sp>
      <p:sp>
        <p:nvSpPr>
          <p:cNvPr id="3" name="Número demo 1"/>
          <p:cNvSpPr/>
          <p:nvPr/>
        </p:nvSpPr>
        <p:spPr>
          <a:xfrm>
            <a:off x="457200" y="1225296"/>
            <a:ext cx="384048" cy="384048"/>
          </a:xfrm>
          <a:prstGeom prst="ellipse">
            <a:avLst/>
          </a:prstGeom>
          <a:solidFill>
            <a:schemeClr val="accent1"/>
          </a:solidFill>
          <a:ln/>
        </p:spPr>
        <p:txBody>
          <a:bodyPr/>
          <a:lstStyle/>
          <a:p>
            <a:endParaRPr lang="es-PE"/>
          </a:p>
        </p:txBody>
      </p:sp>
      <p:sp>
        <p:nvSpPr>
          <p:cNvPr id="4" name="Cifra demo 1"/>
          <p:cNvSpPr txBox="1"/>
          <p:nvPr/>
        </p:nvSpPr>
        <p:spPr>
          <a:xfrm>
            <a:off x="457200" y="122529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Paso demo 1"/>
          <p:cNvSpPr txBox="1"/>
          <p:nvPr/>
        </p:nvSpPr>
        <p:spPr>
          <a:xfrm>
            <a:off x="1005840" y="1188720"/>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Entrar y ver el panel</a:t>
            </a:r>
            <a:endParaRPr lang="en-US" sz="1600" dirty="0"/>
          </a:p>
        </p:txBody>
      </p:sp>
      <p:sp>
        <p:nvSpPr>
          <p:cNvPr id="6" name="Número demo 2"/>
          <p:cNvSpPr/>
          <p:nvPr/>
        </p:nvSpPr>
        <p:spPr>
          <a:xfrm>
            <a:off x="457200" y="1719072"/>
            <a:ext cx="384048" cy="384048"/>
          </a:xfrm>
          <a:prstGeom prst="ellipse">
            <a:avLst/>
          </a:prstGeom>
          <a:solidFill>
            <a:schemeClr val="accent1"/>
          </a:solidFill>
          <a:ln/>
        </p:spPr>
        <p:txBody>
          <a:bodyPr/>
          <a:lstStyle/>
          <a:p>
            <a:endParaRPr lang="es-PE"/>
          </a:p>
        </p:txBody>
      </p:sp>
      <p:sp>
        <p:nvSpPr>
          <p:cNvPr id="7" name="Cifra demo 2"/>
          <p:cNvSpPr txBox="1"/>
          <p:nvPr/>
        </p:nvSpPr>
        <p:spPr>
          <a:xfrm>
            <a:off x="457200" y="171907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Paso demo 2"/>
          <p:cNvSpPr txBox="1"/>
          <p:nvPr/>
        </p:nvSpPr>
        <p:spPr>
          <a:xfrm>
            <a:off x="1005840" y="1682496"/>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Crear un cliente</a:t>
            </a:r>
            <a:endParaRPr lang="en-US" sz="1600" dirty="0"/>
          </a:p>
        </p:txBody>
      </p:sp>
      <p:sp>
        <p:nvSpPr>
          <p:cNvPr id="9" name="Número demo 3"/>
          <p:cNvSpPr/>
          <p:nvPr/>
        </p:nvSpPr>
        <p:spPr>
          <a:xfrm>
            <a:off x="457200" y="2212848"/>
            <a:ext cx="384048" cy="384048"/>
          </a:xfrm>
          <a:prstGeom prst="ellipse">
            <a:avLst/>
          </a:prstGeom>
          <a:solidFill>
            <a:schemeClr val="accent1"/>
          </a:solidFill>
          <a:ln/>
        </p:spPr>
        <p:txBody>
          <a:bodyPr/>
          <a:lstStyle/>
          <a:p>
            <a:endParaRPr lang="es-PE"/>
          </a:p>
        </p:txBody>
      </p:sp>
      <p:sp>
        <p:nvSpPr>
          <p:cNvPr id="10" name="Cifra demo 3"/>
          <p:cNvSpPr txBox="1"/>
          <p:nvPr/>
        </p:nvSpPr>
        <p:spPr>
          <a:xfrm>
            <a:off x="457200" y="22128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1" name="Paso demo 3"/>
          <p:cNvSpPr txBox="1"/>
          <p:nvPr/>
        </p:nvSpPr>
        <p:spPr>
          <a:xfrm>
            <a:off x="1005840" y="2176272"/>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Registrar un contrato (operador)</a:t>
            </a:r>
            <a:endParaRPr lang="en-US" sz="1600" dirty="0"/>
          </a:p>
        </p:txBody>
      </p:sp>
      <p:sp>
        <p:nvSpPr>
          <p:cNvPr id="12" name="Número demo 4"/>
          <p:cNvSpPr/>
          <p:nvPr/>
        </p:nvSpPr>
        <p:spPr>
          <a:xfrm>
            <a:off x="457200" y="2706624"/>
            <a:ext cx="384048" cy="384048"/>
          </a:xfrm>
          <a:prstGeom prst="ellipse">
            <a:avLst/>
          </a:prstGeom>
          <a:solidFill>
            <a:schemeClr val="accent1"/>
          </a:solidFill>
          <a:ln/>
        </p:spPr>
        <p:txBody>
          <a:bodyPr/>
          <a:lstStyle/>
          <a:p>
            <a:endParaRPr lang="es-PE"/>
          </a:p>
        </p:txBody>
      </p:sp>
      <p:sp>
        <p:nvSpPr>
          <p:cNvPr id="13" name="Cifra demo 4"/>
          <p:cNvSpPr txBox="1"/>
          <p:nvPr/>
        </p:nvSpPr>
        <p:spPr>
          <a:xfrm>
            <a:off x="457200" y="270662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4" name="Paso demo 4"/>
          <p:cNvSpPr txBox="1"/>
          <p:nvPr/>
        </p:nvSpPr>
        <p:spPr>
          <a:xfrm>
            <a:off x="1005840" y="2670048"/>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Autorizarlo (administrador)</a:t>
            </a:r>
            <a:endParaRPr lang="en-US" sz="1600" dirty="0"/>
          </a:p>
        </p:txBody>
      </p:sp>
      <p:sp>
        <p:nvSpPr>
          <p:cNvPr id="15" name="Número demo 5"/>
          <p:cNvSpPr/>
          <p:nvPr/>
        </p:nvSpPr>
        <p:spPr>
          <a:xfrm>
            <a:off x="457200" y="3200400"/>
            <a:ext cx="384048" cy="384048"/>
          </a:xfrm>
          <a:prstGeom prst="ellipse">
            <a:avLst/>
          </a:prstGeom>
          <a:solidFill>
            <a:schemeClr val="accent1"/>
          </a:solidFill>
          <a:ln/>
        </p:spPr>
        <p:txBody>
          <a:bodyPr/>
          <a:lstStyle/>
          <a:p>
            <a:endParaRPr lang="es-PE"/>
          </a:p>
        </p:txBody>
      </p:sp>
      <p:sp>
        <p:nvSpPr>
          <p:cNvPr id="16" name="Cifra demo 5"/>
          <p:cNvSpPr txBox="1"/>
          <p:nvPr/>
        </p:nvSpPr>
        <p:spPr>
          <a:xfrm>
            <a:off x="457200" y="320040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17" name="Paso demo 5"/>
          <p:cNvSpPr txBox="1"/>
          <p:nvPr/>
        </p:nvSpPr>
        <p:spPr>
          <a:xfrm>
            <a:off x="1005840" y="3163824"/>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Ver las cuotas generadas</a:t>
            </a:r>
            <a:endParaRPr lang="en-US" sz="1600" dirty="0"/>
          </a:p>
        </p:txBody>
      </p:sp>
      <p:sp>
        <p:nvSpPr>
          <p:cNvPr id="18" name="Número demo 6"/>
          <p:cNvSpPr/>
          <p:nvPr/>
        </p:nvSpPr>
        <p:spPr>
          <a:xfrm>
            <a:off x="457200" y="3694176"/>
            <a:ext cx="384048" cy="384048"/>
          </a:xfrm>
          <a:prstGeom prst="ellipse">
            <a:avLst/>
          </a:prstGeom>
          <a:solidFill>
            <a:schemeClr val="accent1"/>
          </a:solidFill>
          <a:ln/>
        </p:spPr>
        <p:txBody>
          <a:bodyPr/>
          <a:lstStyle/>
          <a:p>
            <a:endParaRPr lang="es-PE"/>
          </a:p>
        </p:txBody>
      </p:sp>
      <p:sp>
        <p:nvSpPr>
          <p:cNvPr id="19" name="Cifra demo 6"/>
          <p:cNvSpPr txBox="1"/>
          <p:nvPr/>
        </p:nvSpPr>
        <p:spPr>
          <a:xfrm>
            <a:off x="457200" y="369417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20" name="Paso demo 6"/>
          <p:cNvSpPr txBox="1"/>
          <p:nvPr/>
        </p:nvSpPr>
        <p:spPr>
          <a:xfrm>
            <a:off x="1005840" y="3657600"/>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Registrar un pago</a:t>
            </a:r>
            <a:endParaRPr lang="en-US" sz="1600" dirty="0"/>
          </a:p>
        </p:txBody>
      </p:sp>
      <p:sp>
        <p:nvSpPr>
          <p:cNvPr id="21" name="Número demo 7"/>
          <p:cNvSpPr/>
          <p:nvPr/>
        </p:nvSpPr>
        <p:spPr>
          <a:xfrm>
            <a:off x="457200" y="4187952"/>
            <a:ext cx="384048" cy="384048"/>
          </a:xfrm>
          <a:prstGeom prst="ellipse">
            <a:avLst/>
          </a:prstGeom>
          <a:solidFill>
            <a:schemeClr val="accent1"/>
          </a:solidFill>
          <a:ln/>
        </p:spPr>
        <p:txBody>
          <a:bodyPr/>
          <a:lstStyle/>
          <a:p>
            <a:endParaRPr lang="es-PE"/>
          </a:p>
        </p:txBody>
      </p:sp>
      <p:sp>
        <p:nvSpPr>
          <p:cNvPr id="22" name="Cifra demo 7"/>
          <p:cNvSpPr txBox="1"/>
          <p:nvPr/>
        </p:nvSpPr>
        <p:spPr>
          <a:xfrm>
            <a:off x="457200" y="418795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7</a:t>
            </a:r>
            <a:endParaRPr lang="en-US" sz="1400" dirty="0"/>
          </a:p>
        </p:txBody>
      </p:sp>
      <p:sp>
        <p:nvSpPr>
          <p:cNvPr id="23" name="Paso demo 7"/>
          <p:cNvSpPr txBox="1"/>
          <p:nvPr/>
        </p:nvSpPr>
        <p:spPr>
          <a:xfrm>
            <a:off x="1005840" y="4151376"/>
            <a:ext cx="4480560" cy="45720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Volver al panel y ver los cambios</a:t>
            </a:r>
            <a:endParaRPr lang="en-US" sz="1600" dirty="0"/>
          </a:p>
        </p:txBody>
      </p:sp>
      <p:sp>
        <p:nvSpPr>
          <p:cNvPr id="24" name="Tarjeta de demo"/>
          <p:cNvSpPr/>
          <p:nvPr/>
        </p:nvSpPr>
        <p:spPr>
          <a:xfrm>
            <a:off x="5760720" y="1188720"/>
            <a:ext cx="2926080" cy="3383280"/>
          </a:xfrm>
          <a:prstGeom prst="roundRect">
            <a:avLst>
              <a:gd name="adj" fmla="val 3750"/>
            </a:avLst>
          </a:prstGeom>
          <a:solidFill>
            <a:schemeClr val="tx2"/>
          </a:solidFill>
          <a:ln/>
          <a:effectLst>
            <a:outerShdw blurRad="76200" dist="25400" dir="5400000" algn="bl" rotWithShape="0">
              <a:srgbClr val="000000">
                <a:alpha val="12000"/>
              </a:srgbClr>
            </a:outerShdw>
          </a:effectLst>
        </p:spPr>
        <p:txBody>
          <a:bodyPr/>
          <a:lstStyle/>
          <a:p>
            <a:endParaRPr lang="es-PE"/>
          </a:p>
        </p:txBody>
      </p:sp>
      <p:pic>
        <p:nvPicPr>
          <p:cNvPr id="25" name="Icono demo" descr="Pantalla"/>
          <p:cNvPicPr>
            <a:picLocks noChangeAspect="1"/>
          </p:cNvPicPr>
          <p:nvPr/>
        </p:nvPicPr>
        <p:blipFill>
          <a:blip r:embed="rId3"/>
          <a:stretch>
            <a:fillRect/>
          </a:stretch>
        </p:blipFill>
        <p:spPr>
          <a:xfrm>
            <a:off x="6766560" y="1600200"/>
            <a:ext cx="914400" cy="914400"/>
          </a:xfrm>
          <a:prstGeom prst="rect">
            <a:avLst/>
          </a:prstGeom>
        </p:spPr>
      </p:pic>
      <p:sp>
        <p:nvSpPr>
          <p:cNvPr id="26" name="Título demo"/>
          <p:cNvSpPr txBox="1"/>
          <p:nvPr/>
        </p:nvSpPr>
        <p:spPr>
          <a:xfrm>
            <a:off x="5943600" y="2697480"/>
            <a:ext cx="2560320" cy="45720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Demo en vivo</a:t>
            </a:r>
            <a:endParaRPr lang="en-US" sz="2400" dirty="0"/>
          </a:p>
        </p:txBody>
      </p:sp>
      <p:sp>
        <p:nvSpPr>
          <p:cNvPr id="27" name="Texto demo"/>
          <p:cNvSpPr txBox="1"/>
          <p:nvPr/>
        </p:nvSpPr>
        <p:spPr>
          <a:xfrm>
            <a:off x="5989320" y="3246120"/>
            <a:ext cx="2468880" cy="1097280"/>
          </a:xfrm>
          <a:prstGeom prst="rect">
            <a:avLst/>
          </a:prstGeom>
          <a:noFill/>
          <a:ln/>
        </p:spPr>
        <p:txBody>
          <a:bodyPr wrap="square" lIns="0" tIns="0" rIns="0" bIns="0" rtlCol="0" anchor="t"/>
          <a:lstStyle/>
          <a:p>
            <a:pPr marL="0" indent="0" algn="ctr">
              <a:buNone/>
            </a:pPr>
            <a:r>
              <a:rPr lang="en-US" sz="1400" dirty="0">
                <a:solidFill>
                  <a:schemeClr val="accent6"/>
                </a:solidFill>
                <a:latin typeface="Calibri" pitchFamily="34" charset="0"/>
                <a:ea typeface="Calibri" pitchFamily="34" charset="-122"/>
                <a:cs typeface="Calibri" pitchFamily="34" charset="-120"/>
              </a:rPr>
              <a:t>Un operador registra, un administrador autoriza, se cobra y el panel se actualiza.</a:t>
            </a:r>
            <a:endParaRPr lang="en-US" sz="1400" dirty="0"/>
          </a:p>
        </p:txBody>
      </p:sp>
      <p:sp>
        <p:nvSpPr>
          <p:cNvPr id="2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
        <p:nvSpPr>
          <p:cNvPr id="29"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5 · DEMOSTRACIÓN FUNCIONAL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Aprendizajes y mejoras pendientes</a:t>
            </a:r>
            <a:endParaRPr lang="en-US" sz="3000" dirty="0"/>
          </a:p>
        </p:txBody>
      </p:sp>
      <p:sp>
        <p:nvSpPr>
          <p:cNvPr id="3" name="Bloque Lo que aprendimos"/>
          <p:cNvSpPr/>
          <p:nvPr/>
        </p:nvSpPr>
        <p:spPr>
          <a:xfrm>
            <a:off x="457200" y="1188720"/>
            <a:ext cx="4023360" cy="3429000"/>
          </a:xfrm>
          <a:prstGeom prst="roundRect">
            <a:avLst>
              <a:gd name="adj" fmla="val 2667"/>
            </a:avLst>
          </a:prstGeom>
          <a:solidFill>
            <a:schemeClr val="bg2"/>
          </a:solidFill>
          <a:ln w="12700">
            <a:solidFill>
              <a:srgbClr val="DCE4EA"/>
            </a:solidFill>
            <a:prstDash val="solid"/>
          </a:ln>
        </p:spPr>
        <p:txBody>
          <a:bodyPr/>
          <a:lstStyle/>
          <a:p>
            <a:endParaRPr lang="es-PE"/>
          </a:p>
        </p:txBody>
      </p:sp>
      <p:sp>
        <p:nvSpPr>
          <p:cNvPr id="4" name="Icono Lo que aprendimos (círculo)"/>
          <p:cNvSpPr/>
          <p:nvPr/>
        </p:nvSpPr>
        <p:spPr>
          <a:xfrm>
            <a:off x="685800" y="1325880"/>
            <a:ext cx="548640" cy="548640"/>
          </a:xfrm>
          <a:prstGeom prst="ellipse">
            <a:avLst/>
          </a:prstGeom>
          <a:solidFill>
            <a:srgbClr val="2F6F8F"/>
          </a:solidFill>
          <a:ln/>
        </p:spPr>
        <p:txBody>
          <a:bodyPr/>
          <a:lstStyle/>
          <a:p>
            <a:endParaRPr lang="es-PE"/>
          </a:p>
        </p:txBody>
      </p:sp>
      <p:pic>
        <p:nvPicPr>
          <p:cNvPr id="5" name="Icono Lo que aprendimos" descr="Icono Lo que aprendimos"/>
          <p:cNvPicPr>
            <a:picLocks noChangeAspect="1"/>
          </p:cNvPicPr>
          <p:nvPr/>
        </p:nvPicPr>
        <p:blipFill>
          <a:blip r:embed="rId3"/>
          <a:stretch>
            <a:fillRect/>
          </a:stretch>
        </p:blipFill>
        <p:spPr>
          <a:xfrm>
            <a:off x="822960" y="1463040"/>
            <a:ext cx="274320" cy="274320"/>
          </a:xfrm>
          <a:prstGeom prst="rect">
            <a:avLst/>
          </a:prstGeom>
        </p:spPr>
      </p:pic>
      <p:sp>
        <p:nvSpPr>
          <p:cNvPr id="6" name="Título Lo que aprendimos"/>
          <p:cNvSpPr txBox="1"/>
          <p:nvPr/>
        </p:nvSpPr>
        <p:spPr>
          <a:xfrm>
            <a:off x="1371600" y="1325880"/>
            <a:ext cx="2926080" cy="54864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Lo que aprendimos</a:t>
            </a:r>
            <a:endParaRPr lang="en-US" sz="2000" dirty="0"/>
          </a:p>
        </p:txBody>
      </p:sp>
      <p:sp>
        <p:nvSpPr>
          <p:cNvPr id="7" name="Lista Lo que aprendimos"/>
          <p:cNvSpPr txBox="1"/>
          <p:nvPr/>
        </p:nvSpPr>
        <p:spPr>
          <a:xfrm>
            <a:off x="731520" y="2057400"/>
            <a:ext cx="3520440" cy="2423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Especificar primero evita correcciones después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Probar en un entorno real revela fallos ocultos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La IA acelera, pero todo se debe revisar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Lo que no está documentado, no existe</a:t>
            </a:r>
            <a:endParaRPr lang="en-US" sz="1600" dirty="0"/>
          </a:p>
        </p:txBody>
      </p:sp>
      <p:sp>
        <p:nvSpPr>
          <p:cNvPr id="8" name="Bloque Lo que sigue"/>
          <p:cNvSpPr/>
          <p:nvPr/>
        </p:nvSpPr>
        <p:spPr>
          <a:xfrm>
            <a:off x="4663440" y="1188720"/>
            <a:ext cx="4023360" cy="3429000"/>
          </a:xfrm>
          <a:prstGeom prst="roundRect">
            <a:avLst>
              <a:gd name="adj" fmla="val 2667"/>
            </a:avLst>
          </a:prstGeom>
          <a:solidFill>
            <a:schemeClr val="bg2"/>
          </a:solidFill>
          <a:ln w="12700">
            <a:solidFill>
              <a:srgbClr val="DCE4EA"/>
            </a:solidFill>
            <a:prstDash val="solid"/>
          </a:ln>
        </p:spPr>
        <p:txBody>
          <a:bodyPr/>
          <a:lstStyle/>
          <a:p>
            <a:endParaRPr lang="es-PE"/>
          </a:p>
        </p:txBody>
      </p:sp>
      <p:sp>
        <p:nvSpPr>
          <p:cNvPr id="9" name="Icono Lo que sigue (círculo)"/>
          <p:cNvSpPr/>
          <p:nvPr/>
        </p:nvSpPr>
        <p:spPr>
          <a:xfrm>
            <a:off x="4892040" y="1325880"/>
            <a:ext cx="548640" cy="548640"/>
          </a:xfrm>
          <a:prstGeom prst="ellipse">
            <a:avLst/>
          </a:prstGeom>
          <a:solidFill>
            <a:srgbClr val="D9822B"/>
          </a:solidFill>
          <a:ln/>
        </p:spPr>
        <p:txBody>
          <a:bodyPr/>
          <a:lstStyle/>
          <a:p>
            <a:endParaRPr lang="es-PE"/>
          </a:p>
        </p:txBody>
      </p:sp>
      <p:pic>
        <p:nvPicPr>
          <p:cNvPr id="10" name="Icono Lo que sigue" descr="Icono Lo que sigue"/>
          <p:cNvPicPr>
            <a:picLocks noChangeAspect="1"/>
          </p:cNvPicPr>
          <p:nvPr/>
        </p:nvPicPr>
        <p:blipFill>
          <a:blip r:embed="rId4"/>
          <a:stretch>
            <a:fillRect/>
          </a:stretch>
        </p:blipFill>
        <p:spPr>
          <a:xfrm>
            <a:off x="5029200" y="1463040"/>
            <a:ext cx="274320" cy="274320"/>
          </a:xfrm>
          <a:prstGeom prst="rect">
            <a:avLst/>
          </a:prstGeom>
        </p:spPr>
      </p:pic>
      <p:sp>
        <p:nvSpPr>
          <p:cNvPr id="11" name="Título Lo que sigue"/>
          <p:cNvSpPr txBox="1"/>
          <p:nvPr/>
        </p:nvSpPr>
        <p:spPr>
          <a:xfrm>
            <a:off x="5577840" y="1325880"/>
            <a:ext cx="2926080" cy="54864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Lo que sigue</a:t>
            </a:r>
            <a:endParaRPr lang="en-US" sz="2000" dirty="0"/>
          </a:p>
        </p:txBody>
      </p:sp>
      <p:sp>
        <p:nvSpPr>
          <p:cNvPr id="12" name="Lista Lo que sigue"/>
          <p:cNvSpPr txBox="1"/>
          <p:nvPr/>
        </p:nvSpPr>
        <p:spPr>
          <a:xfrm>
            <a:off x="4937760" y="2057400"/>
            <a:ext cx="3520440" cy="2423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Facturación electrónica y comprobantes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Cambios al contrato (adendas)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Garantías y documentos adjuntos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Un pago que cubra varias cuotas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Avisos por correo y reportes exportables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6 · CONCLUSIONES, APRENDIZAJES Y MEJORAS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bg1"/>
                </a:solidFill>
                <a:latin typeface="Cambria" pitchFamily="34" charset="0"/>
                <a:ea typeface="Cambria" pitchFamily="34" charset="-122"/>
                <a:cs typeface="Cambria" pitchFamily="34" charset="-120"/>
              </a:rPr>
              <a:t>Conclusiones</a:t>
            </a:r>
            <a:endParaRPr lang="en-US" sz="3000" dirty="0"/>
          </a:p>
        </p:txBody>
      </p:sp>
      <p:sp>
        <p:nvSpPr>
          <p:cNvPr id="3" name="Conclusión 1"/>
          <p:cNvSpPr/>
          <p:nvPr/>
        </p:nvSpPr>
        <p:spPr>
          <a:xfrm>
            <a:off x="457200" y="1188720"/>
            <a:ext cx="8229600" cy="621792"/>
          </a:xfrm>
          <a:prstGeom prst="roundRect">
            <a:avLst>
              <a:gd name="adj" fmla="val 14706"/>
            </a:avLst>
          </a:prstGeom>
          <a:solidFill>
            <a:schemeClr val="accent2"/>
          </a:solidFill>
          <a:ln/>
        </p:spPr>
        <p:txBody>
          <a:bodyPr/>
          <a:lstStyle/>
          <a:p>
            <a:endParaRPr lang="es-PE"/>
          </a:p>
        </p:txBody>
      </p:sp>
      <p:pic>
        <p:nvPicPr>
          <p:cNvPr id="4" name="Check 1" descr="Listo"/>
          <p:cNvPicPr>
            <a:picLocks noChangeAspect="1"/>
          </p:cNvPicPr>
          <p:nvPr/>
        </p:nvPicPr>
        <p:blipFill>
          <a:blip r:embed="rId3"/>
          <a:stretch>
            <a:fillRect/>
          </a:stretch>
        </p:blipFill>
        <p:spPr>
          <a:xfrm>
            <a:off x="640080" y="1316736"/>
            <a:ext cx="365760" cy="365760"/>
          </a:xfrm>
          <a:prstGeom prst="rect">
            <a:avLst/>
          </a:prstGeom>
        </p:spPr>
      </p:pic>
      <p:sp>
        <p:nvSpPr>
          <p:cNvPr id="5" name="Texto conclusión 1"/>
          <p:cNvSpPr txBox="1"/>
          <p:nvPr/>
        </p:nvSpPr>
        <p:spPr>
          <a:xfrm>
            <a:off x="1188720" y="1188720"/>
            <a:ext cx="7315200" cy="621792"/>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Construimos un sistema completo que responde al negocio: qué está ocupado, cuánto se debe y qué vence.</a:t>
            </a:r>
            <a:endParaRPr lang="en-US" sz="1600" dirty="0"/>
          </a:p>
        </p:txBody>
      </p:sp>
      <p:sp>
        <p:nvSpPr>
          <p:cNvPr id="6" name="Conclusión 2"/>
          <p:cNvSpPr/>
          <p:nvPr/>
        </p:nvSpPr>
        <p:spPr>
          <a:xfrm>
            <a:off x="457200" y="1920240"/>
            <a:ext cx="8229600" cy="621792"/>
          </a:xfrm>
          <a:prstGeom prst="roundRect">
            <a:avLst>
              <a:gd name="adj" fmla="val 14706"/>
            </a:avLst>
          </a:prstGeom>
          <a:solidFill>
            <a:schemeClr val="accent2"/>
          </a:solidFill>
          <a:ln/>
        </p:spPr>
        <p:txBody>
          <a:bodyPr/>
          <a:lstStyle/>
          <a:p>
            <a:endParaRPr lang="es-PE"/>
          </a:p>
        </p:txBody>
      </p:sp>
      <p:pic>
        <p:nvPicPr>
          <p:cNvPr id="7" name="Check 2" descr="Listo"/>
          <p:cNvPicPr>
            <a:picLocks noChangeAspect="1"/>
          </p:cNvPicPr>
          <p:nvPr/>
        </p:nvPicPr>
        <p:blipFill>
          <a:blip r:embed="rId3"/>
          <a:stretch>
            <a:fillRect/>
          </a:stretch>
        </p:blipFill>
        <p:spPr>
          <a:xfrm>
            <a:off x="640080" y="2048256"/>
            <a:ext cx="365760" cy="365760"/>
          </a:xfrm>
          <a:prstGeom prst="rect">
            <a:avLst/>
          </a:prstGeom>
        </p:spPr>
      </p:pic>
      <p:sp>
        <p:nvSpPr>
          <p:cNvPr id="8" name="Texto conclusión 2"/>
          <p:cNvSpPr txBox="1"/>
          <p:nvPr/>
        </p:nvSpPr>
        <p:spPr>
          <a:xfrm>
            <a:off x="1188720" y="1920240"/>
            <a:ext cx="7315200" cy="621792"/>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Especificar primero permitió seguir cada regla hasta su prueba.</a:t>
            </a:r>
            <a:endParaRPr lang="en-US" sz="1600" dirty="0"/>
          </a:p>
        </p:txBody>
      </p:sp>
      <p:sp>
        <p:nvSpPr>
          <p:cNvPr id="9" name="Conclusión 3"/>
          <p:cNvSpPr/>
          <p:nvPr/>
        </p:nvSpPr>
        <p:spPr>
          <a:xfrm>
            <a:off x="457200" y="2651760"/>
            <a:ext cx="8229600" cy="621792"/>
          </a:xfrm>
          <a:prstGeom prst="roundRect">
            <a:avLst>
              <a:gd name="adj" fmla="val 14706"/>
            </a:avLst>
          </a:prstGeom>
          <a:solidFill>
            <a:schemeClr val="accent2"/>
          </a:solidFill>
          <a:ln/>
        </p:spPr>
        <p:txBody>
          <a:bodyPr/>
          <a:lstStyle/>
          <a:p>
            <a:endParaRPr lang="es-PE"/>
          </a:p>
        </p:txBody>
      </p:sp>
      <p:pic>
        <p:nvPicPr>
          <p:cNvPr id="10" name="Check 3" descr="Listo"/>
          <p:cNvPicPr>
            <a:picLocks noChangeAspect="1"/>
          </p:cNvPicPr>
          <p:nvPr/>
        </p:nvPicPr>
        <p:blipFill>
          <a:blip r:embed="rId3"/>
          <a:stretch>
            <a:fillRect/>
          </a:stretch>
        </p:blipFill>
        <p:spPr>
          <a:xfrm>
            <a:off x="640080" y="2779776"/>
            <a:ext cx="365760" cy="365760"/>
          </a:xfrm>
          <a:prstGeom prst="rect">
            <a:avLst/>
          </a:prstGeom>
        </p:spPr>
      </p:pic>
      <p:sp>
        <p:nvSpPr>
          <p:cNvPr id="11" name="Texto conclusión 3"/>
          <p:cNvSpPr txBox="1"/>
          <p:nvPr/>
        </p:nvSpPr>
        <p:spPr>
          <a:xfrm>
            <a:off x="1188720" y="2651760"/>
            <a:ext cx="7315200" cy="621792"/>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La IA aceleró el trabajo, pero las decisiones y la responsabilidad fueron humanas.</a:t>
            </a:r>
            <a:endParaRPr lang="en-US" sz="1600" dirty="0"/>
          </a:p>
        </p:txBody>
      </p:sp>
      <p:sp>
        <p:nvSpPr>
          <p:cNvPr id="12" name="Conclusión 4"/>
          <p:cNvSpPr/>
          <p:nvPr/>
        </p:nvSpPr>
        <p:spPr>
          <a:xfrm>
            <a:off x="457200" y="3383280"/>
            <a:ext cx="8229600" cy="621792"/>
          </a:xfrm>
          <a:prstGeom prst="roundRect">
            <a:avLst>
              <a:gd name="adj" fmla="val 14706"/>
            </a:avLst>
          </a:prstGeom>
          <a:solidFill>
            <a:schemeClr val="accent2"/>
          </a:solidFill>
          <a:ln/>
        </p:spPr>
        <p:txBody>
          <a:bodyPr/>
          <a:lstStyle/>
          <a:p>
            <a:endParaRPr lang="es-PE"/>
          </a:p>
        </p:txBody>
      </p:sp>
      <p:pic>
        <p:nvPicPr>
          <p:cNvPr id="13" name="Check 4" descr="Listo"/>
          <p:cNvPicPr>
            <a:picLocks noChangeAspect="1"/>
          </p:cNvPicPr>
          <p:nvPr/>
        </p:nvPicPr>
        <p:blipFill>
          <a:blip r:embed="rId3"/>
          <a:stretch>
            <a:fillRect/>
          </a:stretch>
        </p:blipFill>
        <p:spPr>
          <a:xfrm>
            <a:off x="640080" y="3511296"/>
            <a:ext cx="365760" cy="365760"/>
          </a:xfrm>
          <a:prstGeom prst="rect">
            <a:avLst/>
          </a:prstGeom>
        </p:spPr>
      </p:pic>
      <p:sp>
        <p:nvSpPr>
          <p:cNvPr id="14" name="Texto conclusión 4"/>
          <p:cNvSpPr txBox="1"/>
          <p:nvPr/>
        </p:nvSpPr>
        <p:spPr>
          <a:xfrm>
            <a:off x="1188720" y="3383280"/>
            <a:ext cx="7315200" cy="621792"/>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Más de 300 pruebas y una instalación real en IIS respaldan que funciona.</a:t>
            </a:r>
            <a:endParaRPr lang="en-US" sz="1600" dirty="0"/>
          </a:p>
        </p:txBody>
      </p:sp>
      <p:sp>
        <p:nvSpPr>
          <p:cNvPr id="15" name="Mensaje final"/>
          <p:cNvSpPr txBox="1"/>
          <p:nvPr/>
        </p:nvSpPr>
        <p:spPr>
          <a:xfrm>
            <a:off x="457200" y="4160520"/>
            <a:ext cx="6766560" cy="457200"/>
          </a:xfrm>
          <a:prstGeom prst="rect">
            <a:avLst/>
          </a:prstGeom>
          <a:noFill/>
          <a:ln/>
        </p:spPr>
        <p:txBody>
          <a:bodyPr wrap="square" lIns="0" tIns="0" rIns="0" bIns="0" rtlCol="0" anchor="ctr"/>
          <a:lstStyle/>
          <a:p>
            <a:pPr marL="0" indent="0">
              <a:buNone/>
            </a:pPr>
            <a:r>
              <a:rPr lang="en-US" sz="1600" i="1" dirty="0">
                <a:solidFill>
                  <a:schemeClr val="accent6"/>
                </a:solidFill>
                <a:latin typeface="Calibri" pitchFamily="34" charset="0"/>
                <a:ea typeface="Calibri" pitchFamily="34" charset="-122"/>
                <a:cs typeface="Calibri" pitchFamily="34" charset="-120"/>
              </a:rPr>
              <a:t>La IA no reemplaza al desarrollador: lo ayuda a construir mejor y más rápido.</a:t>
            </a:r>
            <a:endParaRPr lang="en-US" sz="1600" dirty="0"/>
          </a:p>
        </p:txBody>
      </p:sp>
      <p:sp>
        <p:nvSpPr>
          <p:cNvPr id="16" name="Agradecimiento"/>
          <p:cNvSpPr txBox="1"/>
          <p:nvPr/>
        </p:nvSpPr>
        <p:spPr>
          <a:xfrm>
            <a:off x="7223760" y="4114800"/>
            <a:ext cx="1463040" cy="548640"/>
          </a:xfrm>
          <a:prstGeom prst="rect">
            <a:avLst/>
          </a:prstGeom>
          <a:noFill/>
          <a:ln/>
        </p:spPr>
        <p:txBody>
          <a:bodyPr wrap="square" lIns="0" tIns="0" rIns="0" bIns="0" rtlCol="0" anchor="ctr"/>
          <a:lstStyle/>
          <a:p>
            <a:pPr marL="0" indent="0" algn="r">
              <a:buNone/>
            </a:pPr>
            <a:r>
              <a:rPr lang="en-US" sz="2400" b="1" dirty="0">
                <a:solidFill>
                  <a:schemeClr val="bg1"/>
                </a:solidFill>
                <a:latin typeface="Cambria" pitchFamily="34" charset="0"/>
                <a:ea typeface="Cambria" pitchFamily="34" charset="-122"/>
                <a:cs typeface="Cambria" pitchFamily="34" charset="-120"/>
              </a:rPr>
              <a:t>¡Gracias!</a:t>
            </a:r>
            <a:endParaRPr lang="en-US" sz="2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5"/>
                </a:solidFill>
                <a:latin typeface="Calibri"/>
              </a:rPr>
              <a:t>6 · CONCLUSIONES, APRENDIZAJES Y MEJORAS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Del requisito a la prueba</a:t>
            </a: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2 · ESPECIFICACIONES Y TRAZABILIDAD</a:t>
            </a:r>
          </a:p>
        </p:txBody>
      </p:sp>
      <p:sp>
        <p:nvSpPr>
          <p:cNvPr id="27" name="Paso 1"/>
          <p:cNvSpPr/>
          <p:nvPr/>
        </p:nvSpPr>
        <p:spPr>
          <a:xfrm>
            <a:off x="457200" y="1188720"/>
            <a:ext cx="1828800" cy="2148840"/>
          </a:xfrm>
          <a:prstGeom prst="roundRect">
            <a:avLst>
              <a:gd name="adj" fmla="val 5000"/>
            </a:avLst>
          </a:prstGeom>
          <a:solidFill>
            <a:schemeClr val="bg2"/>
          </a:solidFill>
          <a:ln w="12700">
            <a:solidFill>
              <a:srgbClr val="DCE4EA"/>
            </a:solidFill>
          </a:ln>
        </p:spPr>
        <p:txBody>
          <a:bodyPr rtlCol="0" anchor="ctr"/>
          <a:lstStyle/>
          <a:p>
            <a:pPr algn="ctr"/>
          </a:p>
        </p:txBody>
      </p:sp>
      <p:sp>
        <p:nvSpPr>
          <p:cNvPr id="28" name="Cabecera paso 1"/>
          <p:cNvSpPr txBox="1"/>
          <p:nvPr/>
        </p:nvSpPr>
        <p:spPr>
          <a:xfrm>
            <a:off x="594360" y="1325880"/>
            <a:ext cx="1554480" cy="274320"/>
          </a:xfrm>
          <a:prstGeom prst="rect">
            <a:avLst/>
          </a:prstGeom>
          <a:noFill/>
        </p:spPr>
        <p:txBody>
          <a:bodyPr wrap="square" lIns="0" rIns="0" tIns="0" bIns="0" anchor="t">
            <a:spAutoFit/>
          </a:bodyPr>
          <a:lstStyle/>
          <a:p>
            <a:pPr algn="l"/>
            <a:r>
              <a:rPr sz="1400" b="1">
                <a:solidFill>
                  <a:schemeClr val="accent1"/>
                </a:solidFill>
                <a:latin typeface="Calibri"/>
              </a:rPr>
              <a:t>Requisito</a:t>
            </a:r>
          </a:p>
        </p:txBody>
      </p:sp>
      <p:sp>
        <p:nvSpPr>
          <p:cNvPr id="29" name="Código paso 1"/>
          <p:cNvSpPr txBox="1"/>
          <p:nvPr/>
        </p:nvSpPr>
        <p:spPr>
          <a:xfrm>
            <a:off x="594360" y="1645920"/>
            <a:ext cx="1554480" cy="457200"/>
          </a:xfrm>
          <a:prstGeom prst="rect">
            <a:avLst/>
          </a:prstGeom>
          <a:noFill/>
        </p:spPr>
        <p:txBody>
          <a:bodyPr wrap="square" lIns="0" rIns="0" tIns="0" bIns="0" anchor="t">
            <a:spAutoFit/>
          </a:bodyPr>
          <a:lstStyle/>
          <a:p>
            <a:pPr algn="l"/>
            <a:r>
              <a:rPr sz="2400" b="1">
                <a:solidFill>
                  <a:schemeClr val="tx2"/>
                </a:solidFill>
                <a:latin typeface="Cambria"/>
              </a:rPr>
              <a:t>RF-09</a:t>
            </a:r>
          </a:p>
        </p:txBody>
      </p:sp>
      <p:sp>
        <p:nvSpPr>
          <p:cNvPr id="30" name="Detalle paso 1"/>
          <p:cNvSpPr txBox="1"/>
          <p:nvPr/>
        </p:nvSpPr>
        <p:spPr>
          <a:xfrm>
            <a:off x="594360" y="2194560"/>
            <a:ext cx="1554480" cy="1051560"/>
          </a:xfrm>
          <a:prstGeom prst="rect">
            <a:avLst/>
          </a:prstGeom>
          <a:noFill/>
        </p:spPr>
        <p:txBody>
          <a:bodyPr wrap="square" lIns="0" rIns="0" tIns="0" bIns="0" anchor="t">
            <a:spAutoFit/>
          </a:bodyPr>
          <a:lstStyle/>
          <a:p>
            <a:pPr algn="l"/>
            <a:r>
              <a:rPr sz="1400" b="0">
                <a:solidFill>
                  <a:schemeClr val="tx2"/>
                </a:solidFill>
                <a:latin typeface="Calibri"/>
              </a:rPr>
              <a:t>Autorizar un contrato</a:t>
            </a:r>
          </a:p>
        </p:txBody>
      </p:sp>
      <p:sp>
        <p:nvSpPr>
          <p:cNvPr id="31" name="Flecha 1"/>
          <p:cNvSpPr txBox="1"/>
          <p:nvPr/>
        </p:nvSpPr>
        <p:spPr>
          <a:xfrm>
            <a:off x="2286000" y="2080260"/>
            <a:ext cx="304495" cy="365760"/>
          </a:xfrm>
          <a:prstGeom prst="rect">
            <a:avLst/>
          </a:prstGeom>
          <a:noFill/>
        </p:spPr>
        <p:txBody>
          <a:bodyPr wrap="square" lIns="0" rIns="0" tIns="0" bIns="0" anchor="ctr">
            <a:spAutoFit/>
          </a:bodyPr>
          <a:lstStyle/>
          <a:p>
            <a:pPr algn="ctr"/>
            <a:r>
              <a:rPr sz="2200" b="1">
                <a:solidFill>
                  <a:schemeClr val="accent3"/>
                </a:solidFill>
                <a:latin typeface="Calibri"/>
              </a:rPr>
              <a:t>→</a:t>
            </a:r>
          </a:p>
        </p:txBody>
      </p:sp>
      <p:sp>
        <p:nvSpPr>
          <p:cNvPr id="32" name="Paso 2"/>
          <p:cNvSpPr/>
          <p:nvPr/>
        </p:nvSpPr>
        <p:spPr>
          <a:xfrm>
            <a:off x="2590495" y="1188720"/>
            <a:ext cx="1828800" cy="214884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3" name="Cabecera paso 2"/>
          <p:cNvSpPr txBox="1"/>
          <p:nvPr/>
        </p:nvSpPr>
        <p:spPr>
          <a:xfrm>
            <a:off x="2727655" y="1325880"/>
            <a:ext cx="1554480" cy="274320"/>
          </a:xfrm>
          <a:prstGeom prst="rect">
            <a:avLst/>
          </a:prstGeom>
          <a:noFill/>
        </p:spPr>
        <p:txBody>
          <a:bodyPr wrap="square" lIns="0" rIns="0" tIns="0" bIns="0" anchor="t">
            <a:spAutoFit/>
          </a:bodyPr>
          <a:lstStyle/>
          <a:p>
            <a:pPr algn="l"/>
            <a:r>
              <a:rPr sz="1400" b="1">
                <a:solidFill>
                  <a:schemeClr val="accent1"/>
                </a:solidFill>
                <a:latin typeface="Calibri"/>
              </a:rPr>
              <a:t>Regla de negocio</a:t>
            </a:r>
          </a:p>
        </p:txBody>
      </p:sp>
      <p:sp>
        <p:nvSpPr>
          <p:cNvPr id="34" name="Código paso 2"/>
          <p:cNvSpPr txBox="1"/>
          <p:nvPr/>
        </p:nvSpPr>
        <p:spPr>
          <a:xfrm>
            <a:off x="2727655" y="1645920"/>
            <a:ext cx="1554480" cy="457200"/>
          </a:xfrm>
          <a:prstGeom prst="rect">
            <a:avLst/>
          </a:prstGeom>
          <a:noFill/>
        </p:spPr>
        <p:txBody>
          <a:bodyPr wrap="square" lIns="0" rIns="0" tIns="0" bIns="0" anchor="t">
            <a:spAutoFit/>
          </a:bodyPr>
          <a:lstStyle/>
          <a:p>
            <a:pPr algn="l"/>
            <a:r>
              <a:rPr sz="2400" b="1">
                <a:solidFill>
                  <a:schemeClr val="tx2"/>
                </a:solidFill>
                <a:latin typeface="Cambria"/>
              </a:rPr>
              <a:t>RN-07</a:t>
            </a:r>
          </a:p>
        </p:txBody>
      </p:sp>
      <p:sp>
        <p:nvSpPr>
          <p:cNvPr id="35" name="Detalle paso 2"/>
          <p:cNvSpPr txBox="1"/>
          <p:nvPr/>
        </p:nvSpPr>
        <p:spPr>
          <a:xfrm>
            <a:off x="2727655" y="2194560"/>
            <a:ext cx="1554480" cy="1051560"/>
          </a:xfrm>
          <a:prstGeom prst="rect">
            <a:avLst/>
          </a:prstGeom>
          <a:noFill/>
        </p:spPr>
        <p:txBody>
          <a:bodyPr wrap="square" lIns="0" rIns="0" tIns="0" bIns="0" anchor="t">
            <a:spAutoFit/>
          </a:bodyPr>
          <a:lstStyle/>
          <a:p>
            <a:pPr algn="l"/>
            <a:r>
              <a:rPr sz="1400" b="0">
                <a:solidFill>
                  <a:schemeClr val="tx2"/>
                </a:solidFill>
                <a:latin typeface="Calibri"/>
              </a:rPr>
              <a:t>Lo autoriza un administrador distinto del que lo registró</a:t>
            </a:r>
          </a:p>
        </p:txBody>
      </p:sp>
      <p:sp>
        <p:nvSpPr>
          <p:cNvPr id="36" name="Flecha 2"/>
          <p:cNvSpPr txBox="1"/>
          <p:nvPr/>
        </p:nvSpPr>
        <p:spPr>
          <a:xfrm>
            <a:off x="4419295" y="2080260"/>
            <a:ext cx="304495" cy="365760"/>
          </a:xfrm>
          <a:prstGeom prst="rect">
            <a:avLst/>
          </a:prstGeom>
          <a:noFill/>
        </p:spPr>
        <p:txBody>
          <a:bodyPr wrap="square" lIns="0" rIns="0" tIns="0" bIns="0" anchor="ctr">
            <a:spAutoFit/>
          </a:bodyPr>
          <a:lstStyle/>
          <a:p>
            <a:pPr algn="ctr"/>
            <a:r>
              <a:rPr sz="2200" b="1">
                <a:solidFill>
                  <a:schemeClr val="accent3"/>
                </a:solidFill>
                <a:latin typeface="Calibri"/>
              </a:rPr>
              <a:t>→</a:t>
            </a:r>
          </a:p>
        </p:txBody>
      </p:sp>
      <p:sp>
        <p:nvSpPr>
          <p:cNvPr id="37" name="Paso 3"/>
          <p:cNvSpPr/>
          <p:nvPr/>
        </p:nvSpPr>
        <p:spPr>
          <a:xfrm>
            <a:off x="4723790" y="1188720"/>
            <a:ext cx="1828800" cy="214884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8" name="Cabecera paso 3"/>
          <p:cNvSpPr txBox="1"/>
          <p:nvPr/>
        </p:nvSpPr>
        <p:spPr>
          <a:xfrm>
            <a:off x="4860950" y="1325880"/>
            <a:ext cx="1554480" cy="274320"/>
          </a:xfrm>
          <a:prstGeom prst="rect">
            <a:avLst/>
          </a:prstGeom>
          <a:noFill/>
        </p:spPr>
        <p:txBody>
          <a:bodyPr wrap="square" lIns="0" rIns="0" tIns="0" bIns="0" anchor="t">
            <a:spAutoFit/>
          </a:bodyPr>
          <a:lstStyle/>
          <a:p>
            <a:pPr algn="l"/>
            <a:r>
              <a:rPr sz="1400" b="1">
                <a:solidFill>
                  <a:schemeClr val="accent1"/>
                </a:solidFill>
                <a:latin typeface="Calibri"/>
              </a:rPr>
              <a:t>Código</a:t>
            </a:r>
          </a:p>
        </p:txBody>
      </p:sp>
      <p:sp>
        <p:nvSpPr>
          <p:cNvPr id="39" name="Código paso 3"/>
          <p:cNvSpPr txBox="1"/>
          <p:nvPr/>
        </p:nvSpPr>
        <p:spPr>
          <a:xfrm>
            <a:off x="4860950" y="1645920"/>
            <a:ext cx="1554480" cy="457200"/>
          </a:xfrm>
          <a:prstGeom prst="rect">
            <a:avLst/>
          </a:prstGeom>
          <a:noFill/>
        </p:spPr>
        <p:txBody>
          <a:bodyPr wrap="square" lIns="0" rIns="0" tIns="0" bIns="0" anchor="t">
            <a:spAutoFit/>
          </a:bodyPr>
          <a:lstStyle/>
          <a:p>
            <a:pPr algn="l"/>
            <a:r>
              <a:rPr sz="2400" b="1">
                <a:solidFill>
                  <a:schemeClr val="tx2"/>
                </a:solidFill>
                <a:latin typeface="Cambria"/>
              </a:rPr>
              <a:t>Autorizar</a:t>
            </a:r>
          </a:p>
        </p:txBody>
      </p:sp>
      <p:sp>
        <p:nvSpPr>
          <p:cNvPr id="40" name="Detalle paso 3"/>
          <p:cNvSpPr txBox="1"/>
          <p:nvPr/>
        </p:nvSpPr>
        <p:spPr>
          <a:xfrm>
            <a:off x="4860950" y="2194560"/>
            <a:ext cx="1554480" cy="1051560"/>
          </a:xfrm>
          <a:prstGeom prst="rect">
            <a:avLst/>
          </a:prstGeom>
          <a:noFill/>
        </p:spPr>
        <p:txBody>
          <a:bodyPr wrap="square" lIns="0" rIns="0" tIns="0" bIns="0" anchor="t">
            <a:spAutoFit/>
          </a:bodyPr>
          <a:lstStyle/>
          <a:p>
            <a:pPr algn="l"/>
            <a:r>
              <a:rPr sz="1400" b="0">
                <a:solidFill>
                  <a:schemeClr val="tx2"/>
                </a:solidFill>
                <a:latin typeface="Calibri"/>
              </a:rPr>
              <a:t>Método de ContratosServicio expuesto en la API</a:t>
            </a:r>
          </a:p>
        </p:txBody>
      </p:sp>
      <p:sp>
        <p:nvSpPr>
          <p:cNvPr id="41" name="Flecha 3"/>
          <p:cNvSpPr txBox="1"/>
          <p:nvPr/>
        </p:nvSpPr>
        <p:spPr>
          <a:xfrm>
            <a:off x="6552590" y="2080260"/>
            <a:ext cx="304495" cy="365760"/>
          </a:xfrm>
          <a:prstGeom prst="rect">
            <a:avLst/>
          </a:prstGeom>
          <a:noFill/>
        </p:spPr>
        <p:txBody>
          <a:bodyPr wrap="square" lIns="0" rIns="0" tIns="0" bIns="0" anchor="ctr">
            <a:spAutoFit/>
          </a:bodyPr>
          <a:lstStyle/>
          <a:p>
            <a:pPr algn="ctr"/>
            <a:r>
              <a:rPr sz="2200" b="1">
                <a:solidFill>
                  <a:schemeClr val="accent3"/>
                </a:solidFill>
                <a:latin typeface="Calibri"/>
              </a:rPr>
              <a:t>→</a:t>
            </a:r>
          </a:p>
        </p:txBody>
      </p:sp>
      <p:sp>
        <p:nvSpPr>
          <p:cNvPr id="42" name="Paso 4"/>
          <p:cNvSpPr/>
          <p:nvPr/>
        </p:nvSpPr>
        <p:spPr>
          <a:xfrm>
            <a:off x="6857085" y="1188720"/>
            <a:ext cx="1828800" cy="2148840"/>
          </a:xfrm>
          <a:prstGeom prst="roundRect">
            <a:avLst>
              <a:gd name="adj" fmla="val 5000"/>
            </a:avLst>
          </a:prstGeom>
          <a:solidFill>
            <a:schemeClr val="bg2"/>
          </a:solidFill>
          <a:ln w="12700">
            <a:solidFill>
              <a:srgbClr val="DCE4EA"/>
            </a:solidFill>
          </a:ln>
        </p:spPr>
        <p:txBody>
          <a:bodyPr rtlCol="0" anchor="ctr"/>
          <a:lstStyle/>
          <a:p>
            <a:pPr algn="ctr"/>
          </a:p>
        </p:txBody>
      </p:sp>
      <p:sp>
        <p:nvSpPr>
          <p:cNvPr id="43" name="Cabecera paso 4"/>
          <p:cNvSpPr txBox="1"/>
          <p:nvPr/>
        </p:nvSpPr>
        <p:spPr>
          <a:xfrm>
            <a:off x="6994245" y="1325880"/>
            <a:ext cx="1554480" cy="274320"/>
          </a:xfrm>
          <a:prstGeom prst="rect">
            <a:avLst/>
          </a:prstGeom>
          <a:noFill/>
        </p:spPr>
        <p:txBody>
          <a:bodyPr wrap="square" lIns="0" rIns="0" tIns="0" bIns="0" anchor="t">
            <a:spAutoFit/>
          </a:bodyPr>
          <a:lstStyle/>
          <a:p>
            <a:pPr algn="l"/>
            <a:r>
              <a:rPr sz="1400" b="1">
                <a:solidFill>
                  <a:schemeClr val="accent1"/>
                </a:solidFill>
                <a:latin typeface="Calibri"/>
              </a:rPr>
              <a:t>Prueba</a:t>
            </a:r>
          </a:p>
        </p:txBody>
      </p:sp>
      <p:sp>
        <p:nvSpPr>
          <p:cNvPr id="44" name="Código paso 4"/>
          <p:cNvSpPr txBox="1"/>
          <p:nvPr/>
        </p:nvSpPr>
        <p:spPr>
          <a:xfrm>
            <a:off x="6994245" y="1645920"/>
            <a:ext cx="1554480" cy="457200"/>
          </a:xfrm>
          <a:prstGeom prst="rect">
            <a:avLst/>
          </a:prstGeom>
          <a:noFill/>
        </p:spPr>
        <p:txBody>
          <a:bodyPr wrap="square" lIns="0" rIns="0" tIns="0" bIns="0" anchor="t">
            <a:spAutoFit/>
          </a:bodyPr>
          <a:lstStyle/>
          <a:p>
            <a:pPr algn="l"/>
            <a:r>
              <a:rPr sz="2400" b="1">
                <a:solidFill>
                  <a:schemeClr val="tx2"/>
                </a:solidFill>
                <a:latin typeface="Cambria"/>
              </a:rPr>
              <a:t>xUnit</a:t>
            </a:r>
          </a:p>
        </p:txBody>
      </p:sp>
      <p:sp>
        <p:nvSpPr>
          <p:cNvPr id="45" name="Detalle paso 4"/>
          <p:cNvSpPr txBox="1"/>
          <p:nvPr/>
        </p:nvSpPr>
        <p:spPr>
          <a:xfrm>
            <a:off x="6994245" y="2194560"/>
            <a:ext cx="1554480" cy="1051560"/>
          </a:xfrm>
          <a:prstGeom prst="rect">
            <a:avLst/>
          </a:prstGeom>
          <a:noFill/>
        </p:spPr>
        <p:txBody>
          <a:bodyPr wrap="square" lIns="0" rIns="0" tIns="0" bIns="0" anchor="t">
            <a:spAutoFit/>
          </a:bodyPr>
          <a:lstStyle/>
          <a:p>
            <a:pPr algn="l"/>
            <a:r>
              <a:rPr sz="1400" b="0">
                <a:solidFill>
                  <a:schemeClr val="tx2"/>
                </a:solidFill>
                <a:latin typeface="Calibri"/>
              </a:rPr>
              <a:t>Autorizar con el mismo usuario devuelve 400</a:t>
            </a:r>
          </a:p>
        </p:txBody>
      </p:sp>
      <p:sp>
        <p:nvSpPr>
          <p:cNvPr id="46" name="Mensaje trazabilidad"/>
          <p:cNvSpPr/>
          <p:nvPr/>
        </p:nvSpPr>
        <p:spPr>
          <a:xfrm>
            <a:off x="457200" y="3520440"/>
            <a:ext cx="8229600" cy="1097280"/>
          </a:xfrm>
          <a:prstGeom prst="roundRect">
            <a:avLst>
              <a:gd name="adj" fmla="val 8300"/>
            </a:avLst>
          </a:prstGeom>
          <a:solidFill>
            <a:schemeClr val="accent6"/>
          </a:solidFill>
          <a:ln>
            <a:noFill/>
          </a:ln>
        </p:spPr>
        <p:txBody>
          <a:bodyPr rtlCol="0" anchor="ctr"/>
          <a:lstStyle/>
          <a:p>
            <a:pPr algn="ctr"/>
          </a:p>
        </p:txBody>
      </p:sp>
      <p:sp>
        <p:nvSpPr>
          <p:cNvPr id="47" name="Texto trazabilidad"/>
          <p:cNvSpPr txBox="1"/>
          <p:nvPr/>
        </p:nvSpPr>
        <p:spPr>
          <a:xfrm>
            <a:off x="731520" y="3520440"/>
            <a:ext cx="7680960" cy="1097280"/>
          </a:xfrm>
          <a:prstGeom prst="rect">
            <a:avLst/>
          </a:prstGeom>
          <a:noFill/>
        </p:spPr>
        <p:txBody>
          <a:bodyPr wrap="square" lIns="0" rIns="0" tIns="0" bIns="0" anchor="ctr">
            <a:spAutoFit/>
          </a:bodyPr>
          <a:lstStyle/>
          <a:p>
            <a:pPr algn="l"/>
            <a:r>
              <a:rPr sz="1600" b="0">
                <a:solidFill>
                  <a:schemeClr val="tx2"/>
                </a:solidFill>
                <a:latin typeface="Calibri"/>
              </a:rPr>
              <a:t>La cadena también se recorre al revés: desde una prueba se llega a la regla y al requisito que la justifica. Las 15 reglas de negocio tienen al menos una prueba automática.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Evidencia: prompts, diffs y criterio humano</a:t>
            </a: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4 · INTELIGENCIA ARTIFICIAL Y EVIDENCIA DE REVISIÓN</a:t>
            </a:r>
          </a:p>
        </p:txBody>
      </p:sp>
      <p:sp>
        <p:nvSpPr>
          <p:cNvPr id="27" name="Evidencia 1"/>
          <p:cNvSpPr/>
          <p:nvPr/>
        </p:nvSpPr>
        <p:spPr>
          <a:xfrm>
            <a:off x="457200" y="1097280"/>
            <a:ext cx="8229600" cy="10972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28" name="Número 1"/>
          <p:cNvSpPr/>
          <p:nvPr/>
        </p:nvSpPr>
        <p:spPr>
          <a:xfrm>
            <a:off x="640080" y="1417319"/>
            <a:ext cx="457200" cy="457200"/>
          </a:xfrm>
          <a:prstGeom prst="ellipse">
            <a:avLst/>
          </a:prstGeom>
          <a:solidFill>
            <a:srgbClr val="DCE9F1"/>
          </a:solidFill>
          <a:ln>
            <a:noFill/>
          </a:ln>
        </p:spPr>
        <p:txBody>
          <a:bodyPr rtlCol="0" anchor="ctr"/>
          <a:lstStyle/>
          <a:p>
            <a:pPr algn="ctr"/>
          </a:p>
        </p:txBody>
      </p:sp>
      <p:sp>
        <p:nvSpPr>
          <p:cNvPr id="29" name="Texto número 1"/>
          <p:cNvSpPr txBox="1"/>
          <p:nvPr/>
        </p:nvSpPr>
        <p:spPr>
          <a:xfrm>
            <a:off x="640080" y="1417319"/>
            <a:ext cx="457200" cy="457200"/>
          </a:xfrm>
          <a:prstGeom prst="rect">
            <a:avLst/>
          </a:prstGeom>
          <a:noFill/>
        </p:spPr>
        <p:txBody>
          <a:bodyPr wrap="square" lIns="0" rIns="0" tIns="0" bIns="0" anchor="ctr">
            <a:spAutoFit/>
          </a:bodyPr>
          <a:lstStyle/>
          <a:p>
            <a:pPr algn="ctr"/>
            <a:r>
              <a:rPr sz="1800" b="1">
                <a:solidFill>
                  <a:schemeClr val="tx2"/>
                </a:solidFill>
                <a:latin typeface="Cambria"/>
              </a:rPr>
              <a:t>1</a:t>
            </a:r>
          </a:p>
        </p:txBody>
      </p:sp>
      <p:sp>
        <p:nvSpPr>
          <p:cNvPr id="30" name="Entrada 1"/>
          <p:cNvSpPr txBox="1"/>
          <p:nvPr/>
        </p:nvSpPr>
        <p:spPr>
          <a:xfrm>
            <a:off x="1280160" y="1188720"/>
            <a:ext cx="3474720" cy="914400"/>
          </a:xfrm>
          <a:prstGeom prst="rect">
            <a:avLst/>
          </a:prstGeom>
          <a:noFill/>
        </p:spPr>
        <p:txBody>
          <a:bodyPr wrap="square" lIns="0" rIns="0" tIns="0" bIns="0" anchor="ctr">
            <a:spAutoFit/>
          </a:bodyPr>
          <a:lstStyle/>
          <a:p>
            <a:pPr algn="l"/>
            <a:r>
              <a:rPr sz="1400" b="1">
                <a:solidFill>
                  <a:schemeClr val="tx2"/>
                </a:solidFill>
                <a:latin typeface="Calibri"/>
              </a:rPr>
              <a:t>Prompt, fase 2: </a:t>
            </a:r>
            <a:r>
              <a:rPr sz="1400" b="0">
                <a:solidFill>
                  <a:schemeClr val="tx2"/>
                </a:solidFill>
                <a:latin typeface="Calibri"/>
              </a:rPr>
              <a:t>«Usa user-secrets y variables de entorno; estos valores nunca deben subirse a GitHub.»</a:t>
            </a:r>
          </a:p>
        </p:txBody>
      </p:sp>
      <p:sp>
        <p:nvSpPr>
          <p:cNvPr id="31" name="Resultado 1"/>
          <p:cNvSpPr txBox="1"/>
          <p:nvPr/>
        </p:nvSpPr>
        <p:spPr>
          <a:xfrm>
            <a:off x="4937760" y="1188720"/>
            <a:ext cx="3566160" cy="914400"/>
          </a:xfrm>
          <a:prstGeom prst="rect">
            <a:avLst/>
          </a:prstGeom>
          <a:noFill/>
        </p:spPr>
        <p:txBody>
          <a:bodyPr wrap="square" lIns="0" rIns="0" tIns="0" bIns="0" anchor="ctr">
            <a:spAutoFit/>
          </a:bodyPr>
          <a:lstStyle/>
          <a:p>
            <a:pPr algn="l"/>
            <a:r>
              <a:rPr sz="1400" b="1">
                <a:solidFill>
                  <a:schemeClr val="tx2"/>
                </a:solidFill>
                <a:latin typeface="Calibri"/>
              </a:rPr>
              <a:t>Diff 0c6a73c: </a:t>
            </a:r>
            <a:r>
              <a:rPr sz="1400" b="0">
                <a:solidFill>
                  <a:schemeClr val="tx2"/>
                </a:solidFill>
                <a:latin typeface="Calibri"/>
              </a:rPr>
              <a:t>login JWT y 18 pruebas. El humano impuso la restricción de seguridad antes del código.</a:t>
            </a:r>
          </a:p>
        </p:txBody>
      </p:sp>
      <p:sp>
        <p:nvSpPr>
          <p:cNvPr id="32" name="Evidencia 2"/>
          <p:cNvSpPr/>
          <p:nvPr/>
        </p:nvSpPr>
        <p:spPr>
          <a:xfrm>
            <a:off x="457200" y="2286000"/>
            <a:ext cx="8229600" cy="10972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3" name="Número 2"/>
          <p:cNvSpPr/>
          <p:nvPr/>
        </p:nvSpPr>
        <p:spPr>
          <a:xfrm>
            <a:off x="640080" y="2606040"/>
            <a:ext cx="457200" cy="457200"/>
          </a:xfrm>
          <a:prstGeom prst="ellipse">
            <a:avLst/>
          </a:prstGeom>
          <a:solidFill>
            <a:srgbClr val="DCE9F1"/>
          </a:solidFill>
          <a:ln>
            <a:noFill/>
          </a:ln>
        </p:spPr>
        <p:txBody>
          <a:bodyPr rtlCol="0" anchor="ctr"/>
          <a:lstStyle/>
          <a:p>
            <a:pPr algn="ctr"/>
          </a:p>
        </p:txBody>
      </p:sp>
      <p:sp>
        <p:nvSpPr>
          <p:cNvPr id="34" name="Texto número 2"/>
          <p:cNvSpPr txBox="1"/>
          <p:nvPr/>
        </p:nvSpPr>
        <p:spPr>
          <a:xfrm>
            <a:off x="640080" y="2606040"/>
            <a:ext cx="457200" cy="457200"/>
          </a:xfrm>
          <a:prstGeom prst="rect">
            <a:avLst/>
          </a:prstGeom>
          <a:noFill/>
        </p:spPr>
        <p:txBody>
          <a:bodyPr wrap="square" lIns="0" rIns="0" tIns="0" bIns="0" anchor="ctr">
            <a:spAutoFit/>
          </a:bodyPr>
          <a:lstStyle/>
          <a:p>
            <a:pPr algn="ctr"/>
            <a:r>
              <a:rPr sz="1800" b="1">
                <a:solidFill>
                  <a:schemeClr val="tx2"/>
                </a:solidFill>
                <a:latin typeface="Cambria"/>
              </a:rPr>
              <a:t>2</a:t>
            </a:r>
          </a:p>
        </p:txBody>
      </p:sp>
      <p:sp>
        <p:nvSpPr>
          <p:cNvPr id="35" name="Entrada 2"/>
          <p:cNvSpPr txBox="1"/>
          <p:nvPr/>
        </p:nvSpPr>
        <p:spPr>
          <a:xfrm>
            <a:off x="1280160" y="2377440"/>
            <a:ext cx="3474720" cy="914400"/>
          </a:xfrm>
          <a:prstGeom prst="rect">
            <a:avLst/>
          </a:prstGeom>
          <a:noFill/>
        </p:spPr>
        <p:txBody>
          <a:bodyPr wrap="square" lIns="0" rIns="0" tIns="0" bIns="0" anchor="ctr">
            <a:spAutoFit/>
          </a:bodyPr>
          <a:lstStyle/>
          <a:p>
            <a:pPr algn="l"/>
            <a:r>
              <a:rPr sz="1400" b="1">
                <a:solidFill>
                  <a:schemeClr val="tx2"/>
                </a:solidFill>
                <a:latin typeface="Calibri"/>
              </a:rPr>
              <a:t>Prompt, decisión técnica: </a:t>
            </a:r>
            <a:r>
              <a:rPr sz="1400" b="0">
                <a:solidFill>
                  <a:schemeClr val="tx2"/>
                </a:solidFill>
                <a:latin typeface="Calibri"/>
              </a:rPr>
              <a:t>«¿Qué elección sería más óptima, Vitest o Karma?»</a:t>
            </a:r>
          </a:p>
        </p:txBody>
      </p:sp>
      <p:sp>
        <p:nvSpPr>
          <p:cNvPr id="36" name="Resultado 2"/>
          <p:cNvSpPr txBox="1"/>
          <p:nvPr/>
        </p:nvSpPr>
        <p:spPr>
          <a:xfrm>
            <a:off x="4937760" y="2377440"/>
            <a:ext cx="3566160" cy="914400"/>
          </a:xfrm>
          <a:prstGeom prst="rect">
            <a:avLst/>
          </a:prstGeom>
          <a:noFill/>
        </p:spPr>
        <p:txBody>
          <a:bodyPr wrap="square" lIns="0" rIns="0" tIns="0" bIns="0" anchor="ctr">
            <a:spAutoFit/>
          </a:bodyPr>
          <a:lstStyle/>
          <a:p>
            <a:pPr algn="l"/>
            <a:r>
              <a:rPr sz="1400" b="1">
                <a:solidFill>
                  <a:schemeClr val="tx2"/>
                </a:solidFill>
                <a:latin typeface="Calibri"/>
              </a:rPr>
              <a:t>Criterio humano: </a:t>
            </a:r>
            <a:r>
              <a:rPr sz="1400" b="0">
                <a:solidFill>
                  <a:schemeClr val="tx2"/>
                </a:solidFill>
                <a:latin typeface="Calibri"/>
              </a:rPr>
              <a:t>la IA comparó esfuerzo y tokens; el humano decidió usar Vitest.</a:t>
            </a:r>
          </a:p>
        </p:txBody>
      </p:sp>
      <p:sp>
        <p:nvSpPr>
          <p:cNvPr id="37" name="Evidencia 3"/>
          <p:cNvSpPr/>
          <p:nvPr/>
        </p:nvSpPr>
        <p:spPr>
          <a:xfrm>
            <a:off x="457200" y="3474720"/>
            <a:ext cx="8229600" cy="109728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8" name="Número 3"/>
          <p:cNvSpPr/>
          <p:nvPr/>
        </p:nvSpPr>
        <p:spPr>
          <a:xfrm>
            <a:off x="640080" y="3794759"/>
            <a:ext cx="457200" cy="457200"/>
          </a:xfrm>
          <a:prstGeom prst="ellipse">
            <a:avLst/>
          </a:prstGeom>
          <a:solidFill>
            <a:srgbClr val="DCE9F1"/>
          </a:solidFill>
          <a:ln>
            <a:noFill/>
          </a:ln>
        </p:spPr>
        <p:txBody>
          <a:bodyPr rtlCol="0" anchor="ctr"/>
          <a:lstStyle/>
          <a:p>
            <a:pPr algn="ctr"/>
          </a:p>
        </p:txBody>
      </p:sp>
      <p:sp>
        <p:nvSpPr>
          <p:cNvPr id="39" name="Texto número 3"/>
          <p:cNvSpPr txBox="1"/>
          <p:nvPr/>
        </p:nvSpPr>
        <p:spPr>
          <a:xfrm>
            <a:off x="640080" y="3794759"/>
            <a:ext cx="457200" cy="457200"/>
          </a:xfrm>
          <a:prstGeom prst="rect">
            <a:avLst/>
          </a:prstGeom>
          <a:noFill/>
        </p:spPr>
        <p:txBody>
          <a:bodyPr wrap="square" lIns="0" rIns="0" tIns="0" bIns="0" anchor="ctr">
            <a:spAutoFit/>
          </a:bodyPr>
          <a:lstStyle/>
          <a:p>
            <a:pPr algn="ctr"/>
            <a:r>
              <a:rPr sz="1800" b="1">
                <a:solidFill>
                  <a:schemeClr val="tx2"/>
                </a:solidFill>
                <a:latin typeface="Cambria"/>
              </a:rPr>
              <a:t>3</a:t>
            </a:r>
          </a:p>
        </p:txBody>
      </p:sp>
      <p:sp>
        <p:nvSpPr>
          <p:cNvPr id="40" name="Entrada 3"/>
          <p:cNvSpPr txBox="1"/>
          <p:nvPr/>
        </p:nvSpPr>
        <p:spPr>
          <a:xfrm>
            <a:off x="1280160" y="3566160"/>
            <a:ext cx="3474720" cy="914400"/>
          </a:xfrm>
          <a:prstGeom prst="rect">
            <a:avLst/>
          </a:prstGeom>
          <a:noFill/>
        </p:spPr>
        <p:txBody>
          <a:bodyPr wrap="square" lIns="0" rIns="0" tIns="0" bIns="0" anchor="ctr">
            <a:spAutoFit/>
          </a:bodyPr>
          <a:lstStyle/>
          <a:p>
            <a:pPr algn="l"/>
            <a:r>
              <a:rPr sz="1400" b="1">
                <a:solidFill>
                  <a:schemeClr val="tx2"/>
                </a:solidFill>
                <a:latin typeface="Calibri"/>
              </a:rPr>
              <a:t>Diff 747cce4: </a:t>
            </a:r>
            <a:r>
              <a:rPr sz="1400" b="0">
                <a:solidFill>
                  <a:schemeClr val="tx2"/>
                </a:solidFill>
                <a:latin typeface="Calibri"/>
              </a:rPr>
              <a:t>Tablas.sql con +238 y −47 líneas; la IA corrigió el script de base de datos.</a:t>
            </a:r>
          </a:p>
        </p:txBody>
      </p:sp>
      <p:sp>
        <p:nvSpPr>
          <p:cNvPr id="41" name="Resultado 3"/>
          <p:cNvSpPr txBox="1"/>
          <p:nvPr/>
        </p:nvSpPr>
        <p:spPr>
          <a:xfrm>
            <a:off x="4937760" y="3566160"/>
            <a:ext cx="3566160" cy="914400"/>
          </a:xfrm>
          <a:prstGeom prst="rect">
            <a:avLst/>
          </a:prstGeom>
          <a:noFill/>
        </p:spPr>
        <p:txBody>
          <a:bodyPr wrap="square" lIns="0" rIns="0" tIns="0" bIns="0" anchor="ctr">
            <a:spAutoFit/>
          </a:bodyPr>
          <a:lstStyle/>
          <a:p>
            <a:pPr algn="l"/>
            <a:r>
              <a:rPr sz="1400" b="1">
                <a:solidFill>
                  <a:schemeClr val="tx2"/>
                </a:solidFill>
                <a:latin typeface="Calibri"/>
              </a:rPr>
              <a:t>Revisión: </a:t>
            </a:r>
            <a:r>
              <a:rPr sz="1400" b="0">
                <a:solidFill>
                  <a:schemeClr val="tx2"/>
                </a:solidFill>
                <a:latin typeface="Calibri"/>
              </a:rPr>
              <a:t>se ejecutó Instalar.sql en SQL Server antes de generar código; lo mal subido se revirtió.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2" hasCustomPrompt="1"/>
          </p:nvPr>
        </p:nvSpPr>
        <p:spPr>
          <a:xfrm>
            <a:off x="457200" y="274320"/>
            <a:ext cx="7589520"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Demo: API documentada y reglas en acción</a:t>
            </a: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
        <p:nvSpPr>
          <p:cNvPr id="26" name="Etiqueta de sección"/>
          <p:cNvSpPr txBox="1"/>
          <p:nvPr/>
        </p:nvSpPr>
        <p:spPr>
          <a:xfrm>
            <a:off x="457200" y="91440"/>
            <a:ext cx="7863840" cy="228600"/>
          </a:xfrm>
          <a:prstGeom prst="rect">
            <a:avLst/>
          </a:prstGeom>
          <a:noFill/>
        </p:spPr>
        <p:txBody>
          <a:bodyPr wrap="square" lIns="0" rIns="0" tIns="0" bIns="0" anchor="ctr">
            <a:spAutoFit/>
          </a:bodyPr>
          <a:lstStyle/>
          <a:p>
            <a:pPr algn="l"/>
            <a:r>
              <a:rPr sz="1100" b="1">
                <a:solidFill>
                  <a:schemeClr val="accent1"/>
                </a:solidFill>
                <a:latin typeface="Calibri"/>
              </a:rPr>
              <a:t>5 · DEMOSTRACIÓN FUNCIONAL</a:t>
            </a:r>
          </a:p>
        </p:txBody>
      </p:sp>
      <p:sp>
        <p:nvSpPr>
          <p:cNvPr id="27" name="Tarjeta endpoints"/>
          <p:cNvSpPr/>
          <p:nvPr/>
        </p:nvSpPr>
        <p:spPr>
          <a:xfrm>
            <a:off x="457200" y="1143000"/>
            <a:ext cx="4023360" cy="2606040"/>
          </a:xfrm>
          <a:prstGeom prst="roundRect">
            <a:avLst>
              <a:gd name="adj" fmla="val 5000"/>
            </a:avLst>
          </a:prstGeom>
          <a:solidFill>
            <a:schemeClr val="bg2"/>
          </a:solidFill>
          <a:ln w="12700">
            <a:solidFill>
              <a:srgbClr val="DCE4EA"/>
            </a:solidFill>
          </a:ln>
        </p:spPr>
        <p:txBody>
          <a:bodyPr rtlCol="0" anchor="ctr"/>
          <a:lstStyle/>
          <a:p>
            <a:pPr algn="ctr"/>
          </a:p>
        </p:txBody>
      </p:sp>
      <p:sp>
        <p:nvSpPr>
          <p:cNvPr id="28" name="Título endpoints"/>
          <p:cNvSpPr txBox="1"/>
          <p:nvPr/>
        </p:nvSpPr>
        <p:spPr>
          <a:xfrm>
            <a:off x="640080" y="1280160"/>
            <a:ext cx="3657600" cy="365760"/>
          </a:xfrm>
          <a:prstGeom prst="rect">
            <a:avLst/>
          </a:prstGeom>
          <a:noFill/>
        </p:spPr>
        <p:txBody>
          <a:bodyPr wrap="square" lIns="0" rIns="0" tIns="0" bIns="0" anchor="t">
            <a:spAutoFit/>
          </a:bodyPr>
          <a:lstStyle/>
          <a:p>
            <a:pPr algn="l"/>
            <a:r>
              <a:rPr sz="1800" b="1">
                <a:solidFill>
                  <a:schemeClr val="tx2"/>
                </a:solidFill>
                <a:latin typeface="Calibri"/>
              </a:rPr>
              <a:t>Endpoints principales (OpenAPI)</a:t>
            </a:r>
          </a:p>
        </p:txBody>
      </p:sp>
      <p:sp>
        <p:nvSpPr>
          <p:cNvPr id="29" name="Lista endpoints"/>
          <p:cNvSpPr txBox="1"/>
          <p:nvPr/>
        </p:nvSpPr>
        <p:spPr>
          <a:xfrm>
            <a:off x="640080" y="1737360"/>
            <a:ext cx="3657600" cy="1920240"/>
          </a:xfrm>
          <a:prstGeom prst="rect">
            <a:avLst/>
          </a:prstGeom>
          <a:noFill/>
        </p:spPr>
        <p:txBody>
          <a:bodyPr wrap="square" lIns="0" rIns="0" tIns="0" bIns="0" anchor="t">
            <a:spAutoFit/>
          </a:bodyPr>
          <a:lstStyle/>
          <a:p>
            <a:pPr algn="l"/>
            <a:r>
              <a:rPr sz="1400" b="0">
                <a:solidFill>
                  <a:schemeClr val="tx2"/>
                </a:solidFill>
                <a:latin typeface="Calibri"/>
              </a:rPr>
              <a:t>POST /api/auth/login</a:t>
            </a:r>
          </a:p>
          <a:p>
            <a:pPr algn="l">
              <a:spcBef>
                <a:spcPts val="600"/>
              </a:spcBef>
            </a:pPr>
            <a:r>
              <a:rPr sz="1400" b="0">
                <a:solidFill>
                  <a:schemeClr val="tx2"/>
                </a:solidFill>
                <a:latin typeface="Calibri"/>
              </a:rPr>
              <a:t>GET · POST · PUT · DELETE /api/clientes</a:t>
            </a:r>
          </a:p>
          <a:p>
            <a:pPr algn="l">
              <a:spcBef>
                <a:spcPts val="600"/>
              </a:spcBef>
            </a:pPr>
            <a:r>
              <a:rPr sz="1400" b="0">
                <a:solidFill>
                  <a:schemeClr val="tx2"/>
                </a:solidFill>
                <a:latin typeface="Calibri"/>
              </a:rPr>
              <a:t>POST /api/contratos/{id}/autorizar</a:t>
            </a:r>
          </a:p>
          <a:p>
            <a:pPr algn="l">
              <a:spcBef>
                <a:spcPts val="600"/>
              </a:spcBef>
            </a:pPr>
            <a:r>
              <a:rPr sz="1400" b="0">
                <a:solidFill>
                  <a:schemeClr val="tx2"/>
                </a:solidFill>
                <a:latin typeface="Calibri"/>
              </a:rPr>
              <a:t>POST /api/pagos · /api/pagos/{id}/anular</a:t>
            </a:r>
          </a:p>
          <a:p>
            <a:pPr algn="l">
              <a:spcBef>
                <a:spcPts val="600"/>
              </a:spcBef>
            </a:pPr>
            <a:r>
              <a:rPr sz="1400" b="0">
                <a:solidFill>
                  <a:schemeClr val="tx2"/>
                </a:solidFill>
                <a:latin typeface="Calibri"/>
              </a:rPr>
              <a:t>GET /api/analiticas/resumen</a:t>
            </a:r>
          </a:p>
        </p:txBody>
      </p:sp>
      <p:sp>
        <p:nvSpPr>
          <p:cNvPr id="30" name="Tarjeta reglas"/>
          <p:cNvSpPr/>
          <p:nvPr/>
        </p:nvSpPr>
        <p:spPr>
          <a:xfrm>
            <a:off x="4663440" y="1143000"/>
            <a:ext cx="4023360" cy="2606040"/>
          </a:xfrm>
          <a:prstGeom prst="roundRect">
            <a:avLst>
              <a:gd name="adj" fmla="val 5000"/>
            </a:avLst>
          </a:prstGeom>
          <a:solidFill>
            <a:schemeClr val="bg2"/>
          </a:solidFill>
          <a:ln w="12700">
            <a:solidFill>
              <a:srgbClr val="DCE4EA"/>
            </a:solidFill>
          </a:ln>
        </p:spPr>
        <p:txBody>
          <a:bodyPr rtlCol="0" anchor="ctr"/>
          <a:lstStyle/>
          <a:p>
            <a:pPr algn="ctr"/>
          </a:p>
        </p:txBody>
      </p:sp>
      <p:sp>
        <p:nvSpPr>
          <p:cNvPr id="31" name="Título reglas"/>
          <p:cNvSpPr txBox="1"/>
          <p:nvPr/>
        </p:nvSpPr>
        <p:spPr>
          <a:xfrm>
            <a:off x="4846320" y="1280160"/>
            <a:ext cx="3657600" cy="365760"/>
          </a:xfrm>
          <a:prstGeom prst="rect">
            <a:avLst/>
          </a:prstGeom>
          <a:noFill/>
        </p:spPr>
        <p:txBody>
          <a:bodyPr wrap="square" lIns="0" rIns="0" tIns="0" bIns="0" anchor="t">
            <a:spAutoFit/>
          </a:bodyPr>
          <a:lstStyle/>
          <a:p>
            <a:pPr algn="l"/>
            <a:r>
              <a:rPr sz="1800" b="1">
                <a:solidFill>
                  <a:schemeClr val="tx2"/>
                </a:solidFill>
                <a:latin typeface="Calibri"/>
              </a:rPr>
              <a:t>CRUD con reglas de negocio</a:t>
            </a:r>
          </a:p>
        </p:txBody>
      </p:sp>
      <p:sp>
        <p:nvSpPr>
          <p:cNvPr id="32" name="Lista reglas"/>
          <p:cNvSpPr txBox="1"/>
          <p:nvPr/>
        </p:nvSpPr>
        <p:spPr>
          <a:xfrm>
            <a:off x="4846320" y="1737360"/>
            <a:ext cx="3657600" cy="1920240"/>
          </a:xfrm>
          <a:prstGeom prst="rect">
            <a:avLst/>
          </a:prstGeom>
          <a:noFill/>
        </p:spPr>
        <p:txBody>
          <a:bodyPr wrap="square" lIns="0" rIns="0" tIns="0" bIns="0" anchor="t">
            <a:spAutoFit/>
          </a:bodyPr>
          <a:lstStyle/>
          <a:p>
            <a:pPr algn="l"/>
            <a:r>
              <a:rPr sz="1400" b="0">
                <a:solidFill>
                  <a:schemeClr val="tx2"/>
                </a:solidFill>
                <a:latin typeface="Calibri"/>
              </a:rPr>
              <a:t>Sin token: 401. Operador en ruta de administrador: 403</a:t>
            </a:r>
          </a:p>
          <a:p>
            <a:pPr algn="l">
              <a:spcBef>
                <a:spcPts val="600"/>
              </a:spcBef>
            </a:pPr>
            <a:r>
              <a:rPr sz="1400" b="0">
                <a:solidFill>
                  <a:schemeClr val="tx2"/>
                </a:solidFill>
                <a:latin typeface="Calibri"/>
              </a:rPr>
              <a:t>Autorizar con el mismo usuario: 400 (RN-07)</a:t>
            </a:r>
          </a:p>
          <a:p>
            <a:pPr algn="l">
              <a:spcBef>
                <a:spcPts val="600"/>
              </a:spcBef>
            </a:pPr>
            <a:r>
              <a:rPr sz="1400" b="0">
                <a:solidFill>
                  <a:schemeClr val="tx2"/>
                </a:solidFill>
                <a:latin typeface="Calibri"/>
              </a:rPr>
              <a:t>Pago mayor al saldo: 400 (RN-09)</a:t>
            </a:r>
          </a:p>
          <a:p>
            <a:pPr algn="l">
              <a:spcBef>
                <a:spcPts val="600"/>
              </a:spcBef>
            </a:pPr>
            <a:r>
              <a:rPr sz="1400" b="0">
                <a:solidFill>
                  <a:schemeClr val="tx2"/>
                </a:solidFill>
                <a:latin typeface="Calibri"/>
              </a:rPr>
              <a:t>Un error de negocio nunca es 500 (RNF-05)</a:t>
            </a:r>
          </a:p>
        </p:txBody>
      </p:sp>
      <p:sp>
        <p:nvSpPr>
          <p:cNvPr id="33" name="Mensaje demo"/>
          <p:cNvSpPr/>
          <p:nvPr/>
        </p:nvSpPr>
        <p:spPr>
          <a:xfrm>
            <a:off x="457200" y="3931920"/>
            <a:ext cx="8229600" cy="685800"/>
          </a:xfrm>
          <a:prstGeom prst="roundRect">
            <a:avLst>
              <a:gd name="adj" fmla="val 15000"/>
            </a:avLst>
          </a:prstGeom>
          <a:solidFill>
            <a:schemeClr val="accent6"/>
          </a:solidFill>
          <a:ln>
            <a:noFill/>
          </a:ln>
        </p:spPr>
        <p:txBody>
          <a:bodyPr rtlCol="0" anchor="ctr"/>
          <a:lstStyle/>
          <a:p>
            <a:pPr algn="ctr"/>
          </a:p>
        </p:txBody>
      </p:sp>
      <p:sp>
        <p:nvSpPr>
          <p:cNvPr id="34" name="Texto demo"/>
          <p:cNvSpPr txBox="1"/>
          <p:nvPr/>
        </p:nvSpPr>
        <p:spPr>
          <a:xfrm>
            <a:off x="731520" y="3931920"/>
            <a:ext cx="7680960" cy="685800"/>
          </a:xfrm>
          <a:prstGeom prst="rect">
            <a:avLst/>
          </a:prstGeom>
          <a:noFill/>
        </p:spPr>
        <p:txBody>
          <a:bodyPr wrap="square" lIns="0" rIns="0" tIns="0" bIns="0" anchor="ctr">
            <a:spAutoFit/>
          </a:bodyPr>
          <a:lstStyle/>
          <a:p>
            <a:pPr algn="l"/>
            <a:r>
              <a:rPr sz="1600" b="0">
                <a:solidFill>
                  <a:schemeClr val="tx2"/>
                </a:solidFill>
                <a:latin typeface="Calibri"/>
              </a:rPr>
              <a:t>Primero la API documentada; después la web: crear, editar, desactivar y ver cómo responden las validaciones.</a:t>
            </a:r>
          </a:p>
        </p:txBody>
      </p:sp>
    </p:spTree>
  </p:cSld>
  <p:clrMapOvr>
    <a:masterClrMapping/>
  </p:clrMapOvr>
</p:sld>
</file>

<file path=ppt/theme/theme1.xml><?xml version="1.0" encoding="utf-8"?>
<a:theme xmlns:a="http://schemas.openxmlformats.org/drawingml/2006/main" name="GestionContratos">
  <a:themeElements>
    <a:clrScheme name="GestionContratos">
      <a:dk1>
        <a:srgbClr val="18262E"/>
      </a:dk1>
      <a:lt1>
        <a:srgbClr val="FFFFFF"/>
      </a:lt1>
      <a:dk2>
        <a:srgbClr val="1C3C4C"/>
      </a:dk2>
      <a:lt2>
        <a:srgbClr val="F3F6F8"/>
      </a:lt2>
      <a:accent1>
        <a:srgbClr val="2F6F8F"/>
      </a:accent1>
      <a:accent2>
        <a:srgbClr val="3C7494"/>
      </a:accent2>
      <a:accent3>
        <a:srgbClr val="D9822B"/>
      </a:accent3>
      <a:accent4>
        <a:srgbClr val="17673F"/>
      </a:accent4>
      <a:accent5>
        <a:srgbClr val="7FABC8"/>
      </a:accent5>
      <a:accent6>
        <a:srgbClr val="DCE9F1"/>
      </a:accent6>
      <a:hlink>
        <a:srgbClr val="2F6F8F"/>
      </a:hlink>
      <a:folHlink>
        <a:srgbClr val="7A5BA6"/>
      </a:folHlink>
    </a:clrScheme>
    <a:fontScheme name="GestionContrato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1765</Words>
  <Application>Microsoft Office PowerPoint</Application>
  <PresentationFormat>Presentación en pantalla (16:9)</PresentationFormat>
  <Paragraphs>187</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Cambria</vt:lpstr>
      <vt:lpstr>GestionContratos</vt:lpstr>
      <vt:lpstr>Presentación de PowerPoint</vt:lpstr>
      <vt:lpstr>El problema que resolvemos</vt:lpstr>
      <vt:lpstr>Cómo funciona el sistema</vt:lpstr>
      <vt:lpstr>Primero especificamos</vt:lpstr>
      <vt:lpstr>Arquitectura en capas</vt:lpstr>
      <vt:lpstr>Decisiones técnicas clave</vt:lpstr>
      <vt:lpstr>Cómo usamos la inteligencia artificial</vt:lpstr>
      <vt:lpstr>La IA también se equivoca</vt:lpstr>
      <vt:lpstr>Comprobamos que funciona</vt:lpstr>
      <vt:lpstr>Demostración del sistema</vt:lpstr>
      <vt:lpstr>Aprendizajes y mejoras pendientes</vt:lpstr>
      <vt:lpstr>Conclusiones</vt:lpstr>
    </vt:vector>
  </TitlesOfParts>
  <Company>Galaxy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GestionContratos - Presentación final</dc:title>
  <dc:subject>PptxGenJS Presentation</dc:subject>
  <dc:creator>Yuri Grandez</dc:creator>
  <cp:lastModifiedBy>Yuri Grandez Del Aguila</cp:lastModifiedBy>
  <cp:revision>3</cp:revision>
  <dcterms:created xsi:type="dcterms:W3CDTF">2026-10-25T03:25:54Z</dcterms:created>
  <dcterms:modified xsi:type="dcterms:W3CDTF">2026-10-25T03:29:20Z</dcterms:modified>
</cp:coreProperties>
</file>